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417" r:id="rId3"/>
    <p:sldId id="418" r:id="rId4"/>
    <p:sldId id="419" r:id="rId5"/>
    <p:sldId id="420" r:id="rId6"/>
    <p:sldId id="421" r:id="rId7"/>
    <p:sldId id="257" r:id="rId8"/>
    <p:sldId id="265" r:id="rId9"/>
    <p:sldId id="401" r:id="rId10"/>
    <p:sldId id="398" r:id="rId11"/>
    <p:sldId id="399" r:id="rId12"/>
    <p:sldId id="400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41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80408"/>
  </p:normalViewPr>
  <p:slideViewPr>
    <p:cSldViewPr snapToGrid="0">
      <p:cViewPr varScale="1">
        <p:scale>
          <a:sx n="51" d="100"/>
          <a:sy n="51" d="100"/>
        </p:scale>
        <p:origin x="2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DAD8E-393D-794B-ABE8-70FECBBA4111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00D7A-96C9-A840-92A9-116DC2BFFB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3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students for examples of computer vision techniques that they use in their lives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00D7A-96C9-A840-92A9-116DC2BFFB7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712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00D7A-96C9-A840-92A9-116DC2BFFB7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12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00D7A-96C9-A840-92A9-116DC2BFFB7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358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B12C-1563-6704-2C24-FC9BD69C5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2BE4B-43BB-DC56-8E8F-73A0D49F9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3C9C4-6872-3847-B2C8-29B4418C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41C2-E702-D361-F93B-3303A427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45472-94C3-EED0-C00C-CAAAB8AE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61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5AE7E-1696-97F0-5B7C-522F0C4A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6E915-D955-E408-6173-276F275ED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985A6-D65B-ED09-FF00-93B2FADB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039D8-7ADC-00E7-4397-F345098C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DC6AB-FD0F-C630-E1F9-65B20C92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37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4C33-762C-16FE-FDBD-0D31C0D4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79C8C-CA43-43F4-1FCB-84CC0F61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F3791-D4FD-78DA-AC49-0651D190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C5971-1C3E-3A3A-4A94-143FABC3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E8051-FEF3-ECAC-FF75-CA725EC3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19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C728-C0AB-4528-A045-F429B6E1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AC4A-1402-855D-1D1E-676850941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216D6-EE97-8FB7-2715-805337FB1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DC5A0-F25B-B297-386C-802A2C13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EE95E-64FB-2050-2234-39A0B36B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C26DE-3E4D-81AD-08D1-34AF2992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93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0D68-380E-9385-3D1A-0AB97E47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E7FAA-E35E-4E99-7F15-B34C6EB60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52380-D1C3-331D-7611-C14A44F1A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2A29C-1286-DE26-86C9-2E480F947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434DF-299E-7ECD-6F48-9F7144E2F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57BED-E192-F125-FBC1-DC45B5C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FB0BD-69B8-CF96-5EDF-812D21A1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86D9A-578F-71DF-2851-A6F5BD25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8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3C29-555B-D1EB-A7E8-DF1FB464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A97DA-FE97-308E-5E66-B7CB45F1C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0CD3E-B416-5DDB-6649-B7E19B3E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352BF-702B-2CE4-D235-7A1E16D8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14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73757-12ED-3520-AEB7-59C450C7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3F611-760C-4C6F-9A64-79A6D213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A04BC-80EA-C593-CAD5-7F8B4696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931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A631-5329-F75C-A524-2C4E5613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B5AA-124A-4455-A100-70E802591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E143A-F6D5-FDAB-4511-502AB5202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F47DB-E5D4-999F-AC9A-8A05A93B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CF6AD-E42A-8B27-7D69-F32909DD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D60F2-7A8B-3E61-8927-1FEC2950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38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040E-39DC-11E5-4E88-37AAD255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97A64-1505-7932-F68C-63E17618B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FED4B-7DCC-CBEA-D6B2-FE7C4A662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44891-ECB7-2550-ED52-E67BF09A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3121F-E595-0498-3177-21324AB1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9FE54-E404-3DD1-2FC7-7D3BAB07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019D-06CF-64CA-D911-775DDF43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F7A14-A8EA-55B3-AE7E-0ABC3AD02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1B3E-7F61-8D5D-9933-D68A260D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22FEF-12FC-8032-475B-11E5448F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DFDD-FA74-B2F8-1B78-82306972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62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A3F62-2B64-BD6D-79AD-898AC2FF5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DAE9B-27BC-1003-D34C-F4C1C14C0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26067-ACD5-50AD-6987-D105ED49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09B33-28FA-36CA-BE52-80AAA564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1ED3D-0A69-D449-1B3F-EB19C306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26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C7526-9CDD-C117-5B6D-5521C9CD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A8841-D542-0066-4235-15D735FE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7932-0668-3131-5156-6274A1F8C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E0BDA-D709-CD40-A98D-CA1373F9C799}" type="datetimeFigureOut">
              <a:rPr lang="en-GB" smtClean="0"/>
              <a:t>13/09/2026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1433B-77FE-8B86-AA1E-53C39B8C8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DE3B-A027-F31D-02AB-FFFD0B818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FCD57-C1BD-C24F-A173-6CEAD795A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9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1188-20E7-67D8-FD05-FBB956949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Advanced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74C94-2A22-D0AA-1881-E69F4719C9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Chathura Rajapakse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934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4A1C-47FB-54AE-037B-5EED9817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BCF9D-496E-6812-3F4B-C9BBE04DB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1559749"/>
            <a:ext cx="8764223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59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B607-CDE0-B9B5-0724-4E1270992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30" y="164708"/>
            <a:ext cx="10515600" cy="1325563"/>
          </a:xfrm>
        </p:spPr>
        <p:txBody>
          <a:bodyPr/>
          <a:lstStyle/>
          <a:p>
            <a:r>
              <a:rPr lang="en-US" dirty="0"/>
              <a:t>Recurrent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8D1EC-8F98-F4E5-D334-B953C5A72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88" y="1591670"/>
            <a:ext cx="8799484" cy="487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2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E8AE-91DE-47FC-EB8A-3E67EE14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Vanishing/Exploding Gradient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8A6FB-958D-B281-F119-5CFC782C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559" y="1821725"/>
            <a:ext cx="7380881" cy="503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3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FCAC-76D6-E036-BBA8-40E1837E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310" y="195742"/>
            <a:ext cx="10515600" cy="1325563"/>
          </a:xfrm>
        </p:spPr>
        <p:txBody>
          <a:bodyPr/>
          <a:lstStyle/>
          <a:p>
            <a:r>
              <a:rPr lang="en-US" dirty="0"/>
              <a:t>Towards LSTM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96B29-B7E0-1B0C-FB6B-67E0BA13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26" y="1325563"/>
            <a:ext cx="8008927" cy="533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3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0F56-B2CD-81C9-4346-E3AD754E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Basics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F24A3-AF4D-F0D0-45A7-BE11A0A79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35" y="1504511"/>
            <a:ext cx="9814730" cy="535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2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B3F0-1EB2-EE58-A633-640EF3DB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Computers see the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B17C-F86F-AD0B-3530-462191294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Image recognition (classification)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97D08-2B03-F430-B903-5F09DD791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019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4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90B4-5F2D-7ED5-4A15-6DAC3BF6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5707-0760-DFB9-C033-6F6989543C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Like image classification, object detection attempts to predict the contents of an image, but now with multiple objects, not just a single one</a:t>
            </a:r>
          </a:p>
          <a:p>
            <a:endParaRPr lang="en-GB" dirty="0"/>
          </a:p>
          <a:p>
            <a:r>
              <a:rPr lang="en-GB" dirty="0"/>
              <a:t>The models are trained to predict the “Bounding Boxes” of objects in the image, and apply labels for the contents of each box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020D-CB7A-E258-2F21-49BFC11F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751F2-98DF-E747-AAC6-56574367EC4F}" type="datetime1">
              <a:rPr lang="en-GB" smtClean="0"/>
              <a:t>14/09/2026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B95AA-EBD3-CB6A-4280-E607E4FA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CDA0-C547-AF4C-AB64-257DDC82B225}" type="slidenum">
              <a:rPr lang="en-GB" smtClean="0"/>
              <a:t>8</a:t>
            </a:fld>
            <a:endParaRPr lang="en-GB"/>
          </a:p>
        </p:txBody>
      </p:sp>
      <p:pic>
        <p:nvPicPr>
          <p:cNvPr id="2050" name="Picture 2" descr="image classification and object detection graphic">
            <a:extLst>
              <a:ext uri="{FF2B5EF4-FFF2-40B4-BE49-F238E27FC236}">
                <a16:creationId xmlns:a16="http://schemas.microsoft.com/office/drawing/2014/main" id="{0ED5ABE3-B2EA-C931-F824-B38BAEBD36A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2"/>
          <a:stretch/>
        </p:blipFill>
        <p:spPr bwMode="auto">
          <a:xfrm>
            <a:off x="7749173" y="2024445"/>
            <a:ext cx="3170905" cy="419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5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20B8-BD96-7856-BB30-6F552360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C051-BAF0-A651-D5DD-AA502DDFA8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Increasingly popular in the last few years, training models to create images, either from scratch or with a prompt, has many applications.</a:t>
            </a:r>
          </a:p>
          <a:p>
            <a:r>
              <a:rPr lang="en-GB" dirty="0"/>
              <a:t>Raise of Stable Diffusion has lead to an explosion of “AI Art”, but other models include VAEs and Generalised Adversarial Nets (GANs)</a:t>
            </a:r>
          </a:p>
          <a:p>
            <a:r>
              <a:rPr lang="en-GB" dirty="0"/>
              <a:t>Can be used for image restoration and scene reconstruction.</a:t>
            </a:r>
          </a:p>
        </p:txBody>
      </p:sp>
      <p:pic>
        <p:nvPicPr>
          <p:cNvPr id="8" name="Content Placeholder 7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3751F2B1-3B00-AEF4-0140-4D1DE7D81C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4809" y="2222500"/>
            <a:ext cx="4700832" cy="363855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1D33F-DB75-0CA8-E59F-5719A020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751F2-98DF-E747-AAC6-56574367EC4F}" type="datetime1">
              <a:rPr lang="en-GB" smtClean="0"/>
              <a:t>13/09/2026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92AB1-4550-B929-E4C9-5CB6C9D4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CDA0-C547-AF4C-AB64-257DDC82B22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92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3E9D-322C-09BE-66F2-A91864F1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we set the features of an image?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384B2-4680-309E-BC09-D31FF8BC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BDEE-F7D2-7049-85E7-29C02D136BBB}" type="datetime1">
              <a:rPr lang="en-GB" smtClean="0"/>
              <a:t>13/09/2026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FCE2F-91AF-8397-B7FE-DA0EDF90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CDA0-C547-AF4C-AB64-257DDC82B225}" type="slidenum">
              <a:rPr lang="en-GB" smtClean="0"/>
              <a:t>10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2F0704-E2CD-4F30-737F-7BF6457C7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95" y="1822105"/>
            <a:ext cx="8091137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37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96C102-8BF7-B5D4-C865-78152A07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computers see?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CDFB-3FC4-F195-AE51-11AFAD82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BDEE-F7D2-7049-85E7-29C02D136BBB}" type="datetime1">
              <a:rPr lang="en-GB" smtClean="0"/>
              <a:t>13/09/2026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C35CE-AD92-922F-4F22-C58483A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CDA0-C547-AF4C-AB64-257DDC82B225}" type="slidenum">
              <a:rPr lang="en-GB" smtClean="0"/>
              <a:t>11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8A9BEA-6FAB-4518-FAFF-3C4FAF99809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950" y="2222500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05876F4-DB81-22E0-C90C-5D2F419B4B1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62" y="2222500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91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96C102-8BF7-B5D4-C865-78152A07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computers see?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CDFB-3FC4-F195-AE51-11AFAD82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BDEE-F7D2-7049-85E7-29C02D136BBB}" type="datetime1">
              <a:rPr lang="en-GB" smtClean="0"/>
              <a:t>13/09/2026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C35CE-AD92-922F-4F22-C58483A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CDA0-C547-AF4C-AB64-257DDC82B225}" type="slidenum">
              <a:rPr lang="en-GB" smtClean="0"/>
              <a:t>12</a:t>
            </a:fld>
            <a:endParaRPr lang="en-GB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05876F4-DB81-22E0-C90C-5D2F419B4B1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62" y="2222500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8F88B505-FA6E-CF6A-8300-411CB3740D0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950" y="2222500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38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9F62-996E-48D5-BE5E-905CADDC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standard NNs fail on images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88A569-97FB-9B99-0F35-90FF0182F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892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>
                <a:solidFill>
                  <a:srgbClr val="0F172A"/>
                </a:solidFill>
                <a:latin typeface="Inter"/>
              </a:rPr>
              <a:t>Destroys Spatial Geometry:</a:t>
            </a:r>
            <a:r>
              <a:rPr lang="en-US" sz="3200" dirty="0">
                <a:solidFill>
                  <a:srgbClr val="334155"/>
                </a:solidFill>
                <a:latin typeface="Inter"/>
              </a:rPr>
              <a:t> Pixel neighborhood relationships are lost during 1D unrolling.</a:t>
            </a:r>
          </a:p>
          <a:p>
            <a:r>
              <a:rPr lang="en-US" sz="3200" b="1" dirty="0">
                <a:solidFill>
                  <a:srgbClr val="0F172A"/>
                </a:solidFill>
                <a:latin typeface="Inter"/>
              </a:rPr>
              <a:t>Parameter Explosion:</a:t>
            </a:r>
            <a:r>
              <a:rPr lang="en-US" sz="3200" dirty="0">
                <a:solidFill>
                  <a:srgbClr val="334155"/>
                </a:solidFill>
                <a:latin typeface="Inter"/>
              </a:rPr>
              <a:t> High-resolution inputs create millions of dense weight connections.</a:t>
            </a:r>
          </a:p>
          <a:p>
            <a:r>
              <a:rPr lang="en-US" sz="3200" b="1" dirty="0">
                <a:solidFill>
                  <a:srgbClr val="0F172A"/>
                </a:solidFill>
                <a:latin typeface="Inter"/>
              </a:rPr>
              <a:t>No Shift Invariance:</a:t>
            </a:r>
            <a:r>
              <a:rPr lang="en-US" sz="3200" dirty="0">
                <a:solidFill>
                  <a:srgbClr val="334155"/>
                </a:solidFill>
                <a:latin typeface="Inter"/>
              </a:rPr>
              <a:t> Small shifts in object location break model recognition.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D56EBE-2BCD-F398-9843-9FE8A2FC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997" y="1373231"/>
            <a:ext cx="5181261" cy="480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6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A62D-5055-AD03-16FC-8164D2EE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CNNs does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B5873-D91A-57EE-0645-677AD8A8C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2" y="1690688"/>
            <a:ext cx="10116962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28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8039-F313-1155-F49A-55479187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– Step 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E7598-8306-20C2-70F5-9CE352D2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42" y="1627598"/>
            <a:ext cx="9590434" cy="486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07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1E18-7DE8-96B7-7CD4-315B65BE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40" y="73459"/>
            <a:ext cx="10515600" cy="1325563"/>
          </a:xfrm>
        </p:spPr>
        <p:txBody>
          <a:bodyPr/>
          <a:lstStyle/>
          <a:p>
            <a:r>
              <a:rPr lang="en-US" dirty="0"/>
              <a:t>CNN – Step 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12612-9693-B4F6-38F8-779E200D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43" y="1399022"/>
            <a:ext cx="9439313" cy="53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68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1DBC4-C5AB-45BC-07BD-404AF80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– Step 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9F5DB-883A-3C6B-DBE5-21BFAB93F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49" y="1527009"/>
            <a:ext cx="9493652" cy="53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35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B49E-B6A8-D528-6E27-965FA177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35" y="82578"/>
            <a:ext cx="10515600" cy="1325563"/>
          </a:xfrm>
        </p:spPr>
        <p:txBody>
          <a:bodyPr/>
          <a:lstStyle/>
          <a:p>
            <a:r>
              <a:rPr lang="en-US" dirty="0"/>
              <a:t>CNN – Step 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F1898-7AF5-377C-1CF4-331292F5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8141"/>
            <a:ext cx="9977932" cy="544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49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AFA4-3831-1B29-8EF3-B3DA8803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61" y="137126"/>
            <a:ext cx="10515600" cy="1325563"/>
          </a:xfrm>
        </p:spPr>
        <p:txBody>
          <a:bodyPr/>
          <a:lstStyle/>
          <a:p>
            <a:r>
              <a:rPr lang="en-US" dirty="0"/>
              <a:t>Why Feature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984DD-AB25-EEA0-401F-8AB102ABD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013" y="1327130"/>
            <a:ext cx="9305944" cy="539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05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3315-7213-6440-E254-A3264029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83" y="97453"/>
            <a:ext cx="10515600" cy="1325563"/>
          </a:xfrm>
        </p:spPr>
        <p:txBody>
          <a:bodyPr/>
          <a:lstStyle/>
          <a:p>
            <a:r>
              <a:rPr lang="en-US" dirty="0"/>
              <a:t>CNN – Step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B63F3-B9EC-9BE8-524D-C8E9A6B61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68" y="1170763"/>
            <a:ext cx="9082413" cy="5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25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1C29-FB9E-38CA-9335-B9373C16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– Step 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2B1FB-1746-89A8-1DE2-F171654CC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75" y="1590805"/>
            <a:ext cx="8104850" cy="51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53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E226-5451-7FE6-FAD1-9B6CF8EE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937" y="200417"/>
            <a:ext cx="10902863" cy="1227324"/>
          </a:xfrm>
        </p:spPr>
        <p:txBody>
          <a:bodyPr/>
          <a:lstStyle/>
          <a:p>
            <a:r>
              <a:rPr lang="en-US" dirty="0"/>
              <a:t>Max pooling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DB836-6283-7494-DD4E-CB1BAD6D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410" y="1427740"/>
            <a:ext cx="9497179" cy="543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28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5473-1E79-EA0D-D3AD-EA6D6995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pooling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B21B4-F9F5-7C61-ABF1-ABBF9362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32" y="1503122"/>
            <a:ext cx="7992010" cy="525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71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7525-1EF6-9CCB-6E89-00DAA4B3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– Step 07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CA012-7363-812E-38E8-88DACE83C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8" y="1490272"/>
            <a:ext cx="8651725" cy="513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24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24FC-346D-EFD2-4CDE-4E791C11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– Step 08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66C3B-75B5-9EA8-376D-66FAD5DC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576" y="1433477"/>
            <a:ext cx="9157923" cy="540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49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D7D1-2207-C271-37DB-7E0D015A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210" y="251619"/>
            <a:ext cx="10515600" cy="1325563"/>
          </a:xfrm>
        </p:spPr>
        <p:txBody>
          <a:bodyPr/>
          <a:lstStyle/>
          <a:p>
            <a:r>
              <a:rPr lang="en-US" dirty="0"/>
              <a:t>CNN 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BB990-C767-0103-3EEA-700F52C9A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10" y="1692455"/>
            <a:ext cx="3971795" cy="4351338"/>
          </a:xfrm>
        </p:spPr>
        <p:txBody>
          <a:bodyPr/>
          <a:lstStyle/>
          <a:p>
            <a:r>
              <a:rPr lang="en-US" dirty="0"/>
              <a:t>Interpret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1CC81-182E-191A-7CD6-80BFAB94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160" y="307437"/>
            <a:ext cx="6439901" cy="624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91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4FA1-BBCD-5FC0-74EF-AD45428F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205F9-B14C-B008-C634-C9B94434C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this assignment, you will build and train a </a:t>
            </a:r>
            <a:r>
              <a:rPr lang="en-US" dirty="0" err="1"/>
              <a:t>PyTorch</a:t>
            </a:r>
            <a:r>
              <a:rPr lang="en-US" dirty="0"/>
              <a:t> U-Net autoencoder on Google </a:t>
            </a:r>
            <a:r>
              <a:rPr lang="en-US" dirty="0" err="1"/>
              <a:t>Colab</a:t>
            </a:r>
            <a:r>
              <a:rPr lang="en-US" dirty="0"/>
              <a:t> to automatically colorize grayscale images using the Lab color space. Your task is to implement a data pipeline that resizes images to $128 \times 128$ pixels, converts them from RGB to Lab space, passes the single-channel L (lightness) as input, and trains the network to predict the two-channel $a$ and $b$ color components using Mean Squared Error ($\text{MSE}$) loss. Once your model is trained for 15–20 epochs, you will apply it to a personal historical black-and-white photograph (such as one of your grandparents) by extracting its L channel, predicting its missing a and b color channels, and recombining all three back into a full RGB image. You will submit a single Notebook containing your dataset code, U-Net architecture, training metrics, and a final figure displaying the grayscale input, model prediction, and fully restored color image.</a:t>
            </a:r>
          </a:p>
        </p:txBody>
      </p:sp>
    </p:spTree>
    <p:extLst>
      <p:ext uri="{BB962C8B-B14F-4D97-AF65-F5344CB8AC3E}">
        <p14:creationId xmlns:p14="http://schemas.microsoft.com/office/powerpoint/2010/main" val="1659696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</TotalTime>
  <Words>467</Words>
  <Application>Microsoft Office PowerPoint</Application>
  <PresentationFormat>Widescreen</PresentationFormat>
  <Paragraphs>54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Inter</vt:lpstr>
      <vt:lpstr>Office Theme</vt:lpstr>
      <vt:lpstr>Advanced Neural Networks</vt:lpstr>
      <vt:lpstr>Recurrent Neural Network</vt:lpstr>
      <vt:lpstr>Recurrent Neural Network</vt:lpstr>
      <vt:lpstr>Vanishing/Exploding Gradient</vt:lpstr>
      <vt:lpstr>Towards LSTM</vt:lpstr>
      <vt:lpstr>LSTM Basics</vt:lpstr>
      <vt:lpstr>Computers see the world</vt:lpstr>
      <vt:lpstr>Object Detection</vt:lpstr>
      <vt:lpstr>Image Generation</vt:lpstr>
      <vt:lpstr>How do we set the features of an image?</vt:lpstr>
      <vt:lpstr>What do computers see?</vt:lpstr>
      <vt:lpstr>What do computers see?</vt:lpstr>
      <vt:lpstr>Why standard NNs fail on images</vt:lpstr>
      <vt:lpstr>What CNNs does</vt:lpstr>
      <vt:lpstr>CNN – Step 01</vt:lpstr>
      <vt:lpstr>CNN – Step 02</vt:lpstr>
      <vt:lpstr>CNN – Step 03</vt:lpstr>
      <vt:lpstr>CNN – Step 04</vt:lpstr>
      <vt:lpstr>Why Feature Map</vt:lpstr>
      <vt:lpstr>CNN – Step 05</vt:lpstr>
      <vt:lpstr>CNN – Step 06</vt:lpstr>
      <vt:lpstr>Max pooling</vt:lpstr>
      <vt:lpstr>Max pooling</vt:lpstr>
      <vt:lpstr>CNN – Step 07</vt:lpstr>
      <vt:lpstr>CNN – Step 08</vt:lpstr>
      <vt:lpstr>CNN Code</vt:lpstr>
      <vt:lpstr>Assignment 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Spindler</dc:creator>
  <cp:lastModifiedBy>Dr. Chathura Rajapakse</cp:lastModifiedBy>
  <cp:revision>19</cp:revision>
  <dcterms:created xsi:type="dcterms:W3CDTF">2024-08-30T09:55:45Z</dcterms:created>
  <dcterms:modified xsi:type="dcterms:W3CDTF">2026-09-14T02:18:57Z</dcterms:modified>
</cp:coreProperties>
</file>