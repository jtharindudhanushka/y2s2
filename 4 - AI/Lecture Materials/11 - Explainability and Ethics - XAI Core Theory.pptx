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7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21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F8213-16CF-44BA-B687-6AF23E9223E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F4E410-73CD-4EB8-964C-FFD647AA3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632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54B12-A99C-4C86-AE31-CE1944A3AFC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249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eur-lex.europa.eu/legal-content/EN/TXT/PDF/?uri=OJ:L_20240168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400" b="1">
                <a:solidFill>
                  <a:srgbClr val="0E7490"/>
                </a:solidFill>
              </a:defRPr>
            </a:pPr>
            <a:r>
              <a:rPr lang="en-US" sz="5000" dirty="0">
                <a:solidFill>
                  <a:schemeClr val="bg1"/>
                </a:solidFill>
              </a:rPr>
              <a:t>Explainable AI – An Introduction</a:t>
            </a:r>
            <a:endParaRPr sz="5000" dirty="0">
              <a:solidFill>
                <a:schemeClr val="bg1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1ED4E5E-A5C1-D319-C0AB-762E07BFD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9437914" cy="1752600"/>
          </a:xfrm>
        </p:spPr>
        <p:txBody>
          <a:bodyPr>
            <a:normAutofit fontScale="77500" lnSpcReduction="20000"/>
          </a:bodyPr>
          <a:lstStyle/>
          <a:p>
            <a:r>
              <a:rPr lang="en-US" sz="4100" b="1" dirty="0"/>
              <a:t>Dr. Chathura Rajapakse</a:t>
            </a:r>
          </a:p>
          <a:p>
            <a:r>
              <a:rPr lang="en-US" dirty="0"/>
              <a:t>Department of Industrial Management</a:t>
            </a:r>
          </a:p>
          <a:p>
            <a:r>
              <a:rPr lang="en-US" dirty="0"/>
              <a:t>Faculty of Science</a:t>
            </a:r>
          </a:p>
          <a:p>
            <a:r>
              <a:rPr lang="en-US" dirty="0"/>
              <a:t>University of Kelaniya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sz="4000" dirty="0"/>
              <a:t>The Black-Box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1F5F9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1400" b="1">
                <a:solidFill>
                  <a:srgbClr val="0E7490"/>
                </a:solidFill>
              </a:defRPr>
            </a:pPr>
            <a:r>
              <a:rPr lang="en-US" sz="2800" dirty="0"/>
              <a:t>Key Problem</a:t>
            </a:r>
          </a:p>
          <a:p>
            <a:pPr>
              <a:spcAft>
                <a:spcPts val="1400"/>
              </a:spcAft>
              <a:defRPr sz="1800" b="1">
                <a:solidFill>
                  <a:srgbClr val="1E293B"/>
                </a:solidFill>
              </a:defRPr>
            </a:pPr>
            <a:r>
              <a:rPr sz="2200" dirty="0"/>
              <a:t>Modern machine learning prioritizes predictive performance over transparency.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rPr sz="2200" i="1" dirty="0"/>
              <a:t>Complex algorithms achieve outstanding </a:t>
            </a:r>
            <a:r>
              <a:rPr lang="en-US" sz="2200" i="1" dirty="0"/>
              <a:t>accuracy but</a:t>
            </a:r>
            <a:r>
              <a:rPr sz="2200" i="1" dirty="0"/>
              <a:t> hide their decision logic inside millions of parameters.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1400" b="1">
                <a:solidFill>
                  <a:srgbClr val="38BDF8"/>
                </a:solidFill>
              </a:defRPr>
            </a:pPr>
            <a:r>
              <a:rPr sz="2800" dirty="0"/>
              <a:t>WHY INTERPRETABILITY</a:t>
            </a:r>
            <a:r>
              <a:rPr lang="en-US" sz="2800" dirty="0"/>
              <a:t>?</a:t>
            </a:r>
            <a:endParaRPr sz="2800" dirty="0"/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rPr sz="2000" dirty="0"/>
              <a:t>In high-stakes applications, unexplainable model failure poses critical risks:</a:t>
            </a:r>
          </a:p>
          <a:p>
            <a:pPr lvl="1">
              <a:spcAft>
                <a:spcPts val="1000"/>
              </a:spcAft>
              <a:defRPr sz="1600">
                <a:solidFill>
                  <a:srgbClr val="E2E8F0"/>
                </a:solidFill>
              </a:defRPr>
            </a:pPr>
            <a:r>
              <a:rPr b="1" dirty="0"/>
              <a:t>•  Medical Diagnosis (life safety)</a:t>
            </a:r>
          </a:p>
          <a:p>
            <a:pPr lvl="1">
              <a:spcAft>
                <a:spcPts val="1000"/>
              </a:spcAft>
              <a:defRPr sz="1600">
                <a:solidFill>
                  <a:srgbClr val="E2E8F0"/>
                </a:solidFill>
              </a:defRPr>
            </a:pPr>
            <a:r>
              <a:rPr b="1" dirty="0"/>
              <a:t>•  Credit Scoring (financial loss)</a:t>
            </a:r>
          </a:p>
          <a:p>
            <a:pPr lvl="1">
              <a:spcAft>
                <a:spcPts val="1000"/>
              </a:spcAft>
              <a:defRPr sz="1600">
                <a:solidFill>
                  <a:srgbClr val="E2E8F0"/>
                </a:solidFill>
              </a:defRPr>
            </a:pPr>
            <a:r>
              <a:rPr b="1" dirty="0"/>
              <a:t>•  Autonomous Driving (legal liability)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sz="4000" dirty="0"/>
              <a:t>Key Goals of Explainable AI (XAI)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bIns="320040" rtlCol="0" anchor="ctr"/>
          <a:lstStyle/>
          <a:p>
            <a:pPr algn="ctr">
              <a:spcAft>
                <a:spcPts val="1000"/>
              </a:spcAft>
              <a:defRPr sz="2800" b="1">
                <a:solidFill>
                  <a:srgbClr val="BAE6FD"/>
                </a:solidFill>
              </a:defRPr>
            </a:pPr>
            <a:r>
              <a:rPr dirty="0"/>
              <a:t>01</a:t>
            </a:r>
          </a:p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</a:defRPr>
            </a:pPr>
            <a:r>
              <a:rPr dirty="0"/>
              <a:t>TRUST</a:t>
            </a:r>
          </a:p>
          <a:p>
            <a:pPr>
              <a:defRPr sz="1500">
                <a:solidFill>
                  <a:srgbClr val="E2E8F0"/>
                </a:solidFill>
              </a:defRPr>
            </a:pPr>
            <a:r>
              <a:rPr sz="2200" dirty="0"/>
              <a:t>Verifying that predictions rely on legitimate domain logic rather than spurious correlations.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bIns="320040" rtlCol="0" anchor="ctr"/>
          <a:lstStyle/>
          <a:p>
            <a:pPr algn="ctr">
              <a:spcAft>
                <a:spcPts val="1000"/>
              </a:spcAft>
              <a:defRPr sz="2800" b="1">
                <a:solidFill>
                  <a:srgbClr val="38BDF8"/>
                </a:solidFill>
              </a:defRPr>
            </a:pPr>
            <a:r>
              <a:rPr dirty="0"/>
              <a:t>02</a:t>
            </a:r>
          </a:p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</a:defRPr>
            </a:pPr>
            <a:r>
              <a:rPr dirty="0"/>
              <a:t>DEBUGGING</a:t>
            </a:r>
          </a:p>
          <a:p>
            <a:pPr>
              <a:defRPr sz="1500">
                <a:solidFill>
                  <a:srgbClr val="E2E8F0"/>
                </a:solidFill>
              </a:defRPr>
            </a:pPr>
            <a:r>
              <a:rPr sz="2200" dirty="0"/>
              <a:t>Identifying where, how, and why a model makes systematic errors on edge cases.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bIns="320040" rtlCol="0" anchor="ctr"/>
          <a:lstStyle/>
          <a:p>
            <a:pPr algn="ctr">
              <a:spcAft>
                <a:spcPts val="1000"/>
              </a:spcAft>
              <a:defRPr sz="2800" b="1">
                <a:solidFill>
                  <a:srgbClr val="38BDF8"/>
                </a:solidFill>
              </a:defRPr>
            </a:pPr>
            <a:r>
              <a:rPr dirty="0"/>
              <a:t>03</a:t>
            </a:r>
          </a:p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</a:defRPr>
            </a:pPr>
            <a:r>
              <a:rPr dirty="0"/>
              <a:t>FAIRNESS &amp; AUDITING</a:t>
            </a:r>
          </a:p>
          <a:p>
            <a:pPr>
              <a:defRPr sz="1500">
                <a:solidFill>
                  <a:srgbClr val="E2E8F0"/>
                </a:solidFill>
              </a:defRPr>
            </a:pPr>
            <a:r>
              <a:rPr sz="2200" dirty="0"/>
              <a:t>Ensuring decisions do not discriminate based on protected attributes.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sz="4000" dirty="0"/>
              <a:t>The Accuracy vs. Interpretability Trade-Off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474273"/>
              </p:ext>
            </p:extLst>
          </p:nvPr>
        </p:nvGraphicFramePr>
        <p:xfrm>
          <a:off x="731520" y="1471749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2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4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1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Model Type</a:t>
                      </a:r>
                    </a:p>
                  </a:txBody>
                  <a:tcPr>
                    <a:solidFill>
                      <a:srgbClr val="0833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Examples</a:t>
                      </a:r>
                    </a:p>
                  </a:txBody>
                  <a:tcPr>
                    <a:solidFill>
                      <a:srgbClr val="0833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Interpretability</a:t>
                      </a:r>
                    </a:p>
                  </a:txBody>
                  <a:tcPr>
                    <a:solidFill>
                      <a:srgbClr val="0833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Predictive Power</a:t>
                      </a:r>
                    </a:p>
                  </a:txBody>
                  <a:tcPr>
                    <a:solidFill>
                      <a:srgbClr val="0833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rPr sz="2400" dirty="0"/>
                        <a:t>Glass-Box (Intrinsic)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rPr sz="2400" dirty="0"/>
                        <a:t>Linear Regression, Decision Trees, Logistic Regression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E293B"/>
                          </a:solidFill>
                        </a:defRPr>
                      </a:pPr>
                      <a:r>
                        <a:rPr sz="2400" dirty="0"/>
                        <a:t>Very High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E293B"/>
                          </a:solidFill>
                        </a:defRPr>
                      </a:pPr>
                      <a:r>
                        <a:rPr sz="2400" dirty="0"/>
                        <a:t>Moderate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rPr sz="2400" dirty="0"/>
                        <a:t>Ensemble Models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rPr sz="2400" dirty="0"/>
                        <a:t>Random Forest, </a:t>
                      </a:r>
                      <a:r>
                        <a:rPr sz="2400" dirty="0" err="1"/>
                        <a:t>XGBoost</a:t>
                      </a:r>
                      <a:r>
                        <a:rPr sz="2400" dirty="0"/>
                        <a:t>, </a:t>
                      </a:r>
                      <a:r>
                        <a:rPr sz="2400" dirty="0" err="1"/>
                        <a:t>LightGBM</a:t>
                      </a:r>
                      <a:endParaRPr sz="2400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E293B"/>
                          </a:solidFill>
                        </a:defRPr>
                      </a:pPr>
                      <a:r>
                        <a:rPr sz="2400" dirty="0"/>
                        <a:t>Moderate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E293B"/>
                          </a:solidFill>
                        </a:defRPr>
                      </a:pPr>
                      <a:r>
                        <a:rPr sz="2400" dirty="0"/>
                        <a:t>High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rPr sz="2400" dirty="0"/>
                        <a:t>Deep Learning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</a:defRPr>
                      </a:pPr>
                      <a:r>
                        <a:rPr sz="2400" dirty="0"/>
                        <a:t>Convolutional Nets, Transformers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E293B"/>
                          </a:solidFill>
                        </a:defRPr>
                      </a:pPr>
                      <a:r>
                        <a:rPr sz="2400" dirty="0"/>
                        <a:t>Low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E293B"/>
                          </a:solidFill>
                        </a:defRPr>
                      </a:pPr>
                      <a:r>
                        <a:rPr sz="2400" dirty="0"/>
                        <a:t>Very High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sz="4000" dirty="0"/>
              <a:t>Intrinsic Interpretability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1400" b="1">
                <a:solidFill>
                  <a:srgbClr val="0E7490"/>
                </a:solidFill>
              </a:defRPr>
            </a:pPr>
            <a:r>
              <a:rPr sz="2400" dirty="0"/>
              <a:t>LINEAR &amp; LOGISTIC REGRESSION</a:t>
            </a:r>
          </a:p>
          <a:p>
            <a:pPr>
              <a:spcAft>
                <a:spcPts val="1400"/>
              </a:spcAft>
              <a:defRPr sz="1800" b="1">
                <a:solidFill>
                  <a:srgbClr val="1E293B"/>
                </a:solidFill>
              </a:defRPr>
            </a:pPr>
            <a:r>
              <a:rPr sz="2400" dirty="0"/>
              <a:t>Direct Mathematical Transparency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rPr sz="2400" dirty="0"/>
              <a:t>Each feature coefficient directly represents the expected change in outcome per unit increase in feature value.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400"/>
              </a:spcAft>
              <a:defRPr sz="1400" b="1">
                <a:solidFill>
                  <a:srgbClr val="0E7490"/>
                </a:solidFill>
              </a:defRPr>
            </a:pPr>
            <a:r>
              <a:rPr sz="2400"/>
              <a:t>DECISION TREES</a:t>
            </a:r>
          </a:p>
          <a:p>
            <a:pPr>
              <a:spcAft>
                <a:spcPts val="1400"/>
              </a:spcAft>
              <a:defRPr sz="1800" b="1">
                <a:solidFill>
                  <a:srgbClr val="1E293B"/>
                </a:solidFill>
              </a:defRPr>
            </a:pPr>
            <a:r>
              <a:rPr sz="2400"/>
              <a:t>Explicit Human Logic Rules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rPr sz="2400"/>
              <a:t>Decision rules follow explicit IF-THEN conditional splits that map directly to human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sz="4000" dirty="0"/>
              <a:t>Scopes of Explanation: Global vs. Local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200"/>
              </a:spcAft>
              <a:defRPr sz="1400" b="1">
                <a:solidFill>
                  <a:srgbClr val="0E7490"/>
                </a:solidFill>
              </a:defRPr>
            </a:pPr>
            <a:r>
              <a:rPr sz="2400"/>
              <a:t>GLOBAL INTERPRETABILITY</a:t>
            </a:r>
          </a:p>
          <a:p>
            <a:pPr>
              <a:spcAft>
                <a:spcPts val="1400"/>
              </a:spcAft>
              <a:defRPr sz="1800" b="1">
                <a:solidFill>
                  <a:srgbClr val="1E293B"/>
                </a:solidFill>
              </a:defRPr>
            </a:pPr>
            <a:r>
              <a:rPr sz="2400"/>
              <a:t>Overall Dataset Model Logic</a:t>
            </a:r>
          </a:p>
          <a:p>
            <a:pPr>
              <a:spcAft>
                <a:spcPts val="1600"/>
              </a:spcAft>
              <a:defRPr sz="1600">
                <a:solidFill>
                  <a:srgbClr val="475569"/>
                </a:solidFill>
              </a:defRPr>
            </a:pPr>
            <a:r>
              <a:rPr sz="2400"/>
              <a:t>Understanding overall logic and behavior across the entire dataset.</a:t>
            </a:r>
          </a:p>
          <a:p>
            <a:pPr>
              <a:defRPr sz="1500" b="1">
                <a:solidFill>
                  <a:srgbClr val="0E7490"/>
                </a:solidFill>
              </a:defRPr>
            </a:pPr>
            <a:r>
              <a:rPr sz="2400"/>
              <a:t>Key Question: "Which features drive predictions overall?"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rPr sz="2400"/>
              <a:t>LOCAL INTERPRETABILITY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</a:defRPr>
            </a:pPr>
            <a:r>
              <a:rPr sz="2400"/>
              <a:t>Single Prediction Explanations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rPr sz="2400"/>
              <a:t>Explaining why the model made a specific decision for one individual data point.</a:t>
            </a:r>
          </a:p>
          <a:p>
            <a:pPr>
              <a:defRPr sz="1500" b="1">
                <a:solidFill>
                  <a:srgbClr val="38BDF8"/>
                </a:solidFill>
              </a:defRPr>
            </a:pPr>
            <a:r>
              <a:rPr sz="2400"/>
              <a:t>Key Question: "Why was this specific loan application rejected?"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sz="4000" dirty="0"/>
              <a:t>Permutation Feature Importance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200"/>
              </a:spcAft>
              <a:defRPr sz="1400" b="1">
                <a:solidFill>
                  <a:srgbClr val="0E7490"/>
                </a:solidFill>
              </a:defRPr>
            </a:pPr>
            <a:r>
              <a:rPr sz="2400"/>
              <a:t>CORE CONCEPT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rPr sz="2400"/>
              <a:t>Measures how much model performance decreases when a feature's values are randomly shuffled.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200"/>
              </a:spcAft>
              <a:defRPr sz="1400" b="1">
                <a:solidFill>
                  <a:srgbClr val="0E7490"/>
                </a:solidFill>
              </a:defRPr>
            </a:pPr>
            <a:r>
              <a:rPr sz="2400" dirty="0"/>
              <a:t>INTUITION</a:t>
            </a:r>
          </a:p>
          <a:p>
            <a:pPr>
              <a:defRPr sz="1600" b="1">
                <a:solidFill>
                  <a:srgbClr val="1E293B"/>
                </a:solidFill>
              </a:defRPr>
            </a:pPr>
            <a:r>
              <a:rPr sz="2400" dirty="0"/>
              <a:t>•  High Impact: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rPr sz="2400" dirty="0"/>
              <a:t>If shuffling breaks model accuracy, the model relied heavily on that feature.</a:t>
            </a:r>
          </a:p>
          <a:p>
            <a:pPr>
              <a:defRPr sz="1600" b="1">
                <a:solidFill>
                  <a:srgbClr val="1E293B"/>
                </a:solidFill>
              </a:defRPr>
            </a:pPr>
            <a:r>
              <a:rPr sz="2400" dirty="0"/>
              <a:t>•  Low Impact: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rPr sz="2400" dirty="0"/>
              <a:t>If performance stays unchanged, the feature was largely ignored.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sz="4000" dirty="0"/>
              <a:t>LIME: Local Interpretable Model-agnostic Explanations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200"/>
              </a:spcAft>
              <a:defRPr sz="1400" b="1">
                <a:solidFill>
                  <a:srgbClr val="0E7490"/>
                </a:solidFill>
              </a:defRPr>
            </a:pPr>
            <a:r>
              <a:rPr sz="2400"/>
              <a:t>HOW LIME WORKS</a:t>
            </a:r>
          </a:p>
          <a:p>
            <a:pPr>
              <a:defRPr sz="1700">
                <a:solidFill>
                  <a:srgbClr val="1E293B"/>
                </a:solidFill>
              </a:defRPr>
            </a:pPr>
            <a:r>
              <a:rPr sz="2400"/>
              <a:t>LIME builds a simple, interpretable model (like linear regression) that mirrors the complex model's behavior only in the immediate neighborhood of a single prediction point.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rPr sz="2400"/>
              <a:t>GEOMETRIC ANALOGY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rPr sz="2400"/>
              <a:t>Imagine a complex topological map with winding curves.</a:t>
            </a:r>
          </a:p>
          <a:p>
            <a:pPr>
              <a:defRPr sz="1600">
                <a:solidFill>
                  <a:srgbClr val="E2E8F0"/>
                </a:solidFill>
              </a:defRPr>
            </a:pPr>
            <a:r>
              <a:rPr sz="2400"/>
              <a:t>If you zoom in extremely close to one specific point, the surface looks flat. LIME draws a straight line across that local flat surface.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sz="4000" dirty="0"/>
              <a:t>SHAP: Game-Theoretic Interpretability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200"/>
              </a:spcAft>
              <a:defRPr sz="1400" b="1">
                <a:solidFill>
                  <a:srgbClr val="0E7490"/>
                </a:solidFill>
              </a:defRPr>
            </a:pPr>
            <a:r>
              <a:rPr sz="2400"/>
              <a:t>SHAP CONCEPT</a:t>
            </a:r>
          </a:p>
          <a:p>
            <a:pPr>
              <a:defRPr sz="1800" b="1">
                <a:solidFill>
                  <a:srgbClr val="1E293B"/>
                </a:solidFill>
              </a:defRPr>
            </a:pPr>
            <a:r>
              <a:rPr sz="2400"/>
              <a:t>SHAP adapts Shapley Values from cooperative game theory to measure feature contribution.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200"/>
              </a:spcAft>
              <a:defRPr sz="1400" b="1">
                <a:solidFill>
                  <a:srgbClr val="0E7490"/>
                </a:solidFill>
              </a:defRPr>
            </a:pPr>
            <a:r>
              <a:rPr sz="2400" dirty="0"/>
              <a:t>GAME THEORY ANALOGY</a:t>
            </a:r>
          </a:p>
          <a:p>
            <a:pPr>
              <a:spcAft>
                <a:spcPts val="600"/>
              </a:spcAft>
              <a:defRPr sz="1600" b="1">
                <a:solidFill>
                  <a:srgbClr val="1E293B"/>
                </a:solidFill>
              </a:defRPr>
            </a:pPr>
            <a:r>
              <a:rPr sz="2400" dirty="0"/>
              <a:t>•  Prediction = Winning Team Cash Prize</a:t>
            </a:r>
          </a:p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</a:defRPr>
            </a:pPr>
            <a:r>
              <a:rPr sz="2400" dirty="0"/>
              <a:t>•  Features = Individual Team Players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rPr sz="2400" dirty="0"/>
              <a:t>SHAP calculates the exact reward each player deserves by testing all possible sub-coalitions of players with and without that feature.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rPr sz="4000" dirty="0"/>
              <a:t>SHAP: Key Axiomatic Properties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0E7490"/>
                </a:solidFill>
              </a:defRPr>
            </a:pPr>
            <a:r>
              <a:rPr sz="2400" dirty="0"/>
              <a:t>1. CONSISTENCY</a:t>
            </a:r>
          </a:p>
          <a:p>
            <a:pPr>
              <a:defRPr sz="1700">
                <a:solidFill>
                  <a:srgbClr val="1E293B"/>
                </a:solidFill>
              </a:defRPr>
            </a:pPr>
            <a:r>
              <a:rPr sz="2400" dirty="0"/>
              <a:t>If a model changes so that a feature's contribution increases or stays the same, its SHAP value will not decrease.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bIns="36576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0E7490"/>
                </a:solidFill>
              </a:defRPr>
            </a:pPr>
            <a:r>
              <a:rPr sz="2400"/>
              <a:t>2. ADDITIVITY</a:t>
            </a:r>
          </a:p>
          <a:p>
            <a:pPr>
              <a:defRPr sz="1700">
                <a:solidFill>
                  <a:srgbClr val="1E293B"/>
                </a:solidFill>
              </a:defRPr>
            </a:pPr>
            <a:r>
              <a:rPr sz="2400"/>
              <a:t>The sum of feature contributions equals the difference between the actual prediction and the average baseline prediction.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D326D-FC14-F527-1F8F-32762459D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0853057" cy="114300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Ethical foundations of (Gen)AI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44719F-25D4-6822-7718-FD15D09EF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34672"/>
            <a:ext cx="12192000" cy="447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127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6CCB8-32CC-BF24-61C2-460128BF0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059886" cy="1143000"/>
          </a:xfrm>
        </p:spPr>
        <p:txBody>
          <a:bodyPr/>
          <a:lstStyle/>
          <a:p>
            <a:pPr algn="l"/>
            <a:r>
              <a:rPr lang="en-US" b="1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7041C-C9E3-745C-172F-7EFBDC134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059886" cy="4525963"/>
          </a:xfrm>
        </p:spPr>
        <p:txBody>
          <a:bodyPr/>
          <a:lstStyle/>
          <a:p>
            <a:r>
              <a:rPr lang="en-US" b="1" dirty="0"/>
              <a:t>Refer: </a:t>
            </a:r>
            <a:r>
              <a:rPr lang="en-US" dirty="0">
                <a:hlinkClick r:id="rId2"/>
              </a:rPr>
              <a:t>https://eur-lex.europa.eu/legal-content/EN/TXT/PDF/?uri=OJ:L_202401689</a:t>
            </a:r>
            <a:endParaRPr lang="en-US" dirty="0"/>
          </a:p>
          <a:p>
            <a:r>
              <a:rPr lang="en-US" b="1" dirty="0"/>
              <a:t>Task:</a:t>
            </a:r>
            <a:r>
              <a:rPr lang="en-US" dirty="0"/>
              <a:t> Prepare a 5-page report on the following</a:t>
            </a:r>
          </a:p>
          <a:p>
            <a:pPr marL="1314450" lvl="2" indent="-514350">
              <a:buFont typeface="+mj-lt"/>
              <a:buAutoNum type="arabicPeriod"/>
            </a:pPr>
            <a:r>
              <a:rPr lang="en-US" dirty="0"/>
              <a:t>Key concerns raised</a:t>
            </a:r>
          </a:p>
          <a:p>
            <a:pPr marL="1314450" lvl="2" indent="-514350">
              <a:buFont typeface="+mj-lt"/>
              <a:buAutoNum type="arabicPeriod"/>
            </a:pPr>
            <a:r>
              <a:rPr lang="en-US" dirty="0"/>
              <a:t>How the concerns are addressed</a:t>
            </a:r>
          </a:p>
          <a:p>
            <a:pPr marL="1314450" lvl="2" indent="-514350">
              <a:buFont typeface="+mj-lt"/>
              <a:buAutoNum type="arabicPeriod"/>
            </a:pPr>
            <a:r>
              <a:rPr lang="en-US" dirty="0"/>
              <a:t>What additional guardrails/regulations will be required and why.</a:t>
            </a:r>
          </a:p>
          <a:p>
            <a:pPr marL="1314450" lvl="2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593</Words>
  <Application>Microsoft Office PowerPoint</Application>
  <PresentationFormat>Widescreen</PresentationFormat>
  <Paragraphs>91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Ethical foundations of (Gen)AI</vt:lpstr>
      <vt:lpstr>Assignment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Dr. Chathura Rajapakse</cp:lastModifiedBy>
  <cp:revision>10</cp:revision>
  <dcterms:created xsi:type="dcterms:W3CDTF">2013-01-27T09:14:16Z</dcterms:created>
  <dcterms:modified xsi:type="dcterms:W3CDTF">2026-09-28T02:43:13Z</dcterms:modified>
  <cp:category/>
</cp:coreProperties>
</file>