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95" r:id="rId21"/>
    <p:sldId id="296" r:id="rId22"/>
    <p:sldId id="297" r:id="rId23"/>
    <p:sldId id="298" r:id="rId24"/>
    <p:sldId id="286" r:id="rId25"/>
    <p:sldId id="299" r:id="rId26"/>
    <p:sldId id="300" r:id="rId27"/>
    <p:sldId id="301" r:id="rId28"/>
    <p:sldId id="308" r:id="rId29"/>
    <p:sldId id="309" r:id="rId30"/>
    <p:sldId id="30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3A121-020A-4C9E-AC3A-180D7A2606C3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F4E2A-BE2B-4100-9CB9-831BB2712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6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A21425-3DEB-44E9-BF5F-C844F3C3F0BB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116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3B0DD3-64AE-47CD-9EE1-93A274D99CED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2875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06019F-02DA-470A-BBC6-452787AC1ACC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553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57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74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1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7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65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11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3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86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31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1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77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91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60F8FD7C-BE28-42DE-96E0-309A2D534A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533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A565C-5E5D-4E27-9DFC-0C7A1C4170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5D013-DD13-4E19-8151-FFCC7816B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6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Meta Heuristic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10296"/>
            <a:ext cx="9144000" cy="1247503"/>
          </a:xfrm>
        </p:spPr>
        <p:txBody>
          <a:bodyPr>
            <a:noAutofit/>
          </a:bodyPr>
          <a:lstStyle/>
          <a:p>
            <a:r>
              <a:rPr lang="en-US" sz="2000" b="1" dirty="0"/>
              <a:t>Chathura Rajapakse </a:t>
            </a:r>
            <a:r>
              <a:rPr lang="en-US" sz="2000" b="1" dirty="0" err="1"/>
              <a:t>Dr.Eng</a:t>
            </a:r>
            <a:r>
              <a:rPr lang="en-US" sz="2000" b="1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Department of Industrial Management</a:t>
            </a:r>
          </a:p>
          <a:p>
            <a:r>
              <a:rPr lang="en-US" sz="1600" dirty="0"/>
              <a:t>Faculty of Science</a:t>
            </a:r>
          </a:p>
          <a:p>
            <a:r>
              <a:rPr lang="en-US" sz="1600" dirty="0"/>
              <a:t>University of Kelaniya</a:t>
            </a:r>
          </a:p>
        </p:txBody>
      </p:sp>
    </p:spTree>
    <p:extLst>
      <p:ext uri="{BB962C8B-B14F-4D97-AF65-F5344CB8AC3E}">
        <p14:creationId xmlns:p14="http://schemas.microsoft.com/office/powerpoint/2010/main" val="3736594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Optimization problems can be approximated to a mathematical function called objective function</a:t>
            </a:r>
          </a:p>
          <a:p>
            <a:r>
              <a:rPr lang="en-US" dirty="0"/>
              <a:t>Ex.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897" y="3124915"/>
            <a:ext cx="7907325" cy="318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0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formulation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1827439"/>
            <a:ext cx="96393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formulation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84" y="1690687"/>
            <a:ext cx="10145622" cy="450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1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(Hill climbing)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12" y="1853157"/>
            <a:ext cx="9631176" cy="390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7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(hill climbing)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22" y="1878193"/>
            <a:ext cx="99441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4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(hill climbing)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8631"/>
            <a:ext cx="10515600" cy="450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52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heuristic optimization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183" y="1690688"/>
            <a:ext cx="9579428" cy="442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8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heuristic optimization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023" y="1808524"/>
            <a:ext cx="9313954" cy="450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05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heuristic optimization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01434" cy="448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0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2" y="0"/>
            <a:ext cx="10515600" cy="992777"/>
          </a:xfrm>
        </p:spPr>
        <p:txBody>
          <a:bodyPr/>
          <a:lstStyle/>
          <a:p>
            <a:r>
              <a:rPr lang="en-US" dirty="0"/>
              <a:t>Scope of meta-heuristics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6" y="1084897"/>
            <a:ext cx="103632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63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67" y="877660"/>
            <a:ext cx="10321059" cy="523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08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838200"/>
            <a:ext cx="996315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64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547" y="1022167"/>
            <a:ext cx="9664064" cy="495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09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84" y="919569"/>
            <a:ext cx="10471435" cy="516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45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79" y="832212"/>
            <a:ext cx="10224951" cy="551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36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13" y="930048"/>
            <a:ext cx="10039535" cy="526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97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09" y="694916"/>
            <a:ext cx="10732499" cy="534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62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03" y="862556"/>
            <a:ext cx="9907497" cy="551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68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Termination of a GA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8457" y="1600200"/>
            <a:ext cx="10881360" cy="4953000"/>
          </a:xfrm>
        </p:spPr>
        <p:txBody>
          <a:bodyPr>
            <a:normAutofit/>
          </a:bodyPr>
          <a:lstStyle/>
          <a:p>
            <a:r>
              <a:rPr lang="en-US" altLang="en-US" sz="2720" dirty="0"/>
              <a:t>The generational process is repeated until a termination condition has been reached. </a:t>
            </a:r>
          </a:p>
          <a:p>
            <a:r>
              <a:rPr lang="en-US" altLang="en-US" sz="2720" dirty="0"/>
              <a:t>Common terminating conditions are:</a:t>
            </a:r>
          </a:p>
          <a:p>
            <a:pPr lvl="1"/>
            <a:r>
              <a:rPr lang="en-US" altLang="en-US" sz="2320" dirty="0"/>
              <a:t>A solution is found that satisfies minimum criteria </a:t>
            </a:r>
          </a:p>
          <a:p>
            <a:pPr lvl="1"/>
            <a:r>
              <a:rPr lang="en-US" altLang="en-US" sz="2320" dirty="0"/>
              <a:t>Fixed number of generations reached </a:t>
            </a:r>
          </a:p>
          <a:p>
            <a:pPr lvl="1"/>
            <a:r>
              <a:rPr lang="en-US" altLang="en-US" sz="2320" dirty="0"/>
              <a:t>Allocated budget (computation time/money) reached </a:t>
            </a:r>
          </a:p>
          <a:p>
            <a:pPr lvl="1"/>
            <a:r>
              <a:rPr lang="en-US" altLang="en-US" sz="2320" dirty="0"/>
              <a:t>The highest ranking solution's fitness is reaching or has reached a plateau such that successive iterations no longer produce better results </a:t>
            </a:r>
          </a:p>
          <a:p>
            <a:pPr lvl="1"/>
            <a:r>
              <a:rPr lang="en-US" altLang="en-US" sz="2320" dirty="0"/>
              <a:t>Manual inspection </a:t>
            </a:r>
          </a:p>
          <a:p>
            <a:pPr lvl="1"/>
            <a:r>
              <a:rPr lang="en-US" altLang="en-US" sz="2320" dirty="0"/>
              <a:t>Any Combinations of the above</a:t>
            </a:r>
          </a:p>
        </p:txBody>
      </p:sp>
    </p:spTree>
    <p:extLst>
      <p:ext uri="{BB962C8B-B14F-4D97-AF65-F5344CB8AC3E}">
        <p14:creationId xmlns:p14="http://schemas.microsoft.com/office/powerpoint/2010/main" val="271395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 need to find the </a:t>
            </a:r>
            <a:r>
              <a:rPr lang="en-US"/>
              <a:t>maximum x</a:t>
            </a:r>
            <a:r>
              <a:rPr lang="en-US" baseline="30000"/>
              <a:t>2</a:t>
            </a:r>
            <a:r>
              <a:rPr lang="en-US"/>
              <a:t> </a:t>
            </a:r>
            <a:r>
              <a:rPr lang="en-US" dirty="0"/>
              <a:t>given 0 &lt;= </a:t>
            </a:r>
            <a:r>
              <a:rPr lang="en-US"/>
              <a:t>x &lt; </a:t>
            </a:r>
            <a:r>
              <a:rPr lang="en-US" dirty="0"/>
              <a:t>32.</a:t>
            </a:r>
          </a:p>
          <a:p>
            <a:pPr lvl="1"/>
            <a:r>
              <a:rPr lang="en-US" dirty="0"/>
              <a:t>Write the objective function</a:t>
            </a:r>
          </a:p>
          <a:p>
            <a:pPr lvl="1"/>
            <a:r>
              <a:rPr lang="en-US" dirty="0"/>
              <a:t>Generate four phenotypes</a:t>
            </a:r>
          </a:p>
          <a:p>
            <a:pPr lvl="1"/>
            <a:r>
              <a:rPr lang="en-US" dirty="0"/>
              <a:t>Complete one iteration by hand</a:t>
            </a:r>
          </a:p>
        </p:txBody>
      </p:sp>
    </p:spTree>
    <p:extLst>
      <p:ext uri="{BB962C8B-B14F-4D97-AF65-F5344CB8AC3E}">
        <p14:creationId xmlns:p14="http://schemas.microsoft.com/office/powerpoint/2010/main" val="4231442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87" name="Rectangle 147"/>
          <p:cNvSpPr>
            <a:spLocks noGrp="1" noChangeArrowheads="1"/>
          </p:cNvSpPr>
          <p:nvPr>
            <p:ph type="title"/>
          </p:nvPr>
        </p:nvSpPr>
        <p:spPr>
          <a:xfrm>
            <a:off x="1981200" y="277813"/>
            <a:ext cx="9052560" cy="1143000"/>
          </a:xfrm>
        </p:spPr>
        <p:txBody>
          <a:bodyPr/>
          <a:lstStyle/>
          <a:p>
            <a:r>
              <a:rPr lang="en-US" altLang="en-US" dirty="0"/>
              <a:t>Exercise 01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229600" cy="4530725"/>
          </a:xfrm>
        </p:spPr>
        <p:txBody>
          <a:bodyPr/>
          <a:lstStyle/>
          <a:p>
            <a:r>
              <a:rPr lang="en-US" altLang="en-US" dirty="0"/>
              <a:t>f(x) = {MAX(x</a:t>
            </a:r>
            <a:r>
              <a:rPr lang="en-US" altLang="en-US" baseline="30000" dirty="0"/>
              <a:t>2</a:t>
            </a:r>
            <a:r>
              <a:rPr lang="en-US" altLang="en-US" dirty="0"/>
              <a:t>): 0 &lt; x &lt; 32 }</a:t>
            </a:r>
          </a:p>
          <a:p>
            <a:r>
              <a:rPr lang="en-US" altLang="en-US" dirty="0"/>
              <a:t>Encode Solution:  Just use 5 bits (1 or 0).</a:t>
            </a:r>
          </a:p>
          <a:p>
            <a:r>
              <a:rPr lang="en-US" altLang="en-US" dirty="0"/>
              <a:t>Generate initial population.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Evaluate each solution against objective.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112830" name="Group 190"/>
          <p:cNvGraphicFramePr>
            <a:graphicFrameLocks noGrp="1"/>
          </p:cNvGraphicFramePr>
          <p:nvPr>
            <p:ph sz="quarter" idx="3"/>
          </p:nvPr>
        </p:nvGraphicFramePr>
        <p:xfrm>
          <a:off x="4114800" y="5257800"/>
          <a:ext cx="3657600" cy="1371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76128332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6870055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3437913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90751916"/>
                    </a:ext>
                  </a:extLst>
                </a:gridCol>
              </a:tblGrid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Sol.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String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Fitness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% of 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51342"/>
                  </a:ext>
                </a:extLst>
              </a:tr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223374"/>
                  </a:ext>
                </a:extLst>
              </a:tr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49.2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92144"/>
                  </a:ext>
                </a:extLst>
              </a:tr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58489"/>
                  </a:ext>
                </a:extLst>
              </a:tr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64470"/>
                  </a:ext>
                </a:extLst>
              </a:tr>
            </a:tbl>
          </a:graphicData>
        </a:graphic>
      </p:graphicFrame>
      <p:graphicFrame>
        <p:nvGraphicFramePr>
          <p:cNvPr id="112792" name="Group 152"/>
          <p:cNvGraphicFramePr>
            <a:graphicFrameLocks noGrp="1"/>
          </p:cNvGraphicFramePr>
          <p:nvPr>
            <p:ph sz="quarter" idx="2"/>
          </p:nvPr>
        </p:nvGraphicFramePr>
        <p:xfrm>
          <a:off x="4419601" y="3276600"/>
          <a:ext cx="2209800" cy="11430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95553994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178719421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380390800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1684650984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3607909409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964158362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305432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685354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017708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21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469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Exercise 01 </a:t>
            </a:r>
            <a:r>
              <a:rPr lang="en-US" altLang="en-US" dirty="0" err="1"/>
              <a:t>contd</a:t>
            </a:r>
            <a:r>
              <a:rPr lang="en-US" altLang="en-US" dirty="0"/>
              <a:t>’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Create next generation of solutions</a:t>
            </a:r>
          </a:p>
          <a:p>
            <a:pPr lvl="1"/>
            <a:r>
              <a:rPr lang="en-US" altLang="en-US" dirty="0"/>
              <a:t>Probability of “being a parent” depends on the fitness.</a:t>
            </a:r>
          </a:p>
          <a:p>
            <a:r>
              <a:rPr lang="en-US" altLang="en-US" dirty="0"/>
              <a:t>Ways for parents to create next generation</a:t>
            </a:r>
          </a:p>
          <a:p>
            <a:pPr lvl="1"/>
            <a:r>
              <a:rPr lang="en-US" altLang="en-US" dirty="0"/>
              <a:t>Reproduction</a:t>
            </a:r>
          </a:p>
          <a:p>
            <a:pPr lvl="2"/>
            <a:r>
              <a:rPr lang="en-US" altLang="en-US" dirty="0"/>
              <a:t>Use a string again unmodified.</a:t>
            </a:r>
          </a:p>
          <a:p>
            <a:pPr lvl="1"/>
            <a:r>
              <a:rPr lang="en-US" altLang="en-US" dirty="0"/>
              <a:t>Crossover</a:t>
            </a:r>
          </a:p>
          <a:p>
            <a:pPr lvl="2"/>
            <a:r>
              <a:rPr lang="en-US" altLang="en-US" dirty="0"/>
              <a:t>Cut and paste portions of one string to another.</a:t>
            </a:r>
          </a:p>
          <a:p>
            <a:pPr lvl="1"/>
            <a:r>
              <a:rPr lang="en-US" altLang="en-US" dirty="0"/>
              <a:t>Mutation</a:t>
            </a:r>
          </a:p>
          <a:p>
            <a:pPr lvl="2"/>
            <a:r>
              <a:rPr lang="en-US" altLang="en-US" dirty="0"/>
              <a:t>Randomly flip a bit.</a:t>
            </a:r>
          </a:p>
          <a:p>
            <a:pPr lvl="1"/>
            <a:r>
              <a:rPr lang="en-US" altLang="en-US" dirty="0"/>
              <a:t>COMBINATION of all of the above.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6874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Traveling Salesman Problem with 7 cities</a:t>
            </a:r>
          </a:p>
          <a:p>
            <a:pPr lvl="1"/>
            <a:r>
              <a:rPr lang="en-US" dirty="0"/>
              <a:t>Formulate a chromosome</a:t>
            </a:r>
          </a:p>
          <a:p>
            <a:pPr lvl="1"/>
            <a:r>
              <a:rPr lang="en-US" dirty="0"/>
              <a:t>Hand-execute one iteration for 10 number of chromosomes</a:t>
            </a:r>
          </a:p>
          <a:p>
            <a:r>
              <a:rPr lang="en-US" dirty="0"/>
              <a:t>What problems did you encounter?</a:t>
            </a:r>
          </a:p>
          <a:p>
            <a:r>
              <a:rPr lang="en-US" dirty="0"/>
              <a:t>How do you think you can solve them?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330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Keys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3552"/>
          </a:xfrm>
        </p:spPr>
        <p:txBody>
          <a:bodyPr>
            <a:normAutofit/>
          </a:bodyPr>
          <a:lstStyle/>
          <a:p>
            <a:r>
              <a:rPr lang="en-US" sz="3200" dirty="0"/>
              <a:t>Consider a TSP example with 5 cities</a:t>
            </a:r>
          </a:p>
          <a:p>
            <a:pPr lvl="1"/>
            <a:r>
              <a:rPr lang="en-US" sz="2800" dirty="0"/>
              <a:t>How to represent a solution?</a:t>
            </a:r>
          </a:p>
          <a:p>
            <a:pPr lvl="2"/>
            <a:r>
              <a:rPr lang="en-US" sz="2400" dirty="0"/>
              <a:t>(4 2 1 5 3)</a:t>
            </a:r>
          </a:p>
          <a:p>
            <a:pPr lvl="2"/>
            <a:r>
              <a:rPr lang="en-US" sz="2400" dirty="0"/>
              <a:t>Path: 3 -&gt; 2 -&gt; 5 -&gt; 1 -&gt; 4</a:t>
            </a:r>
          </a:p>
          <a:p>
            <a:pPr lvl="1"/>
            <a:r>
              <a:rPr lang="en-US" sz="2800" dirty="0"/>
              <a:t>Using one-point crossover is difficult</a:t>
            </a:r>
          </a:p>
          <a:p>
            <a:pPr lvl="2"/>
            <a:r>
              <a:rPr lang="en-US" sz="2400" dirty="0"/>
              <a:t>Ex:</a:t>
            </a:r>
          </a:p>
          <a:p>
            <a:pPr lvl="3"/>
            <a:r>
              <a:rPr lang="en-US" sz="2000" dirty="0"/>
              <a:t>Parents: (1 4 3 2 5), (2 4 5 3 1)</a:t>
            </a:r>
          </a:p>
          <a:p>
            <a:pPr lvl="3"/>
            <a:r>
              <a:rPr lang="en-US" sz="2000" dirty="0"/>
              <a:t>Children: (1 4 3 </a:t>
            </a:r>
            <a:r>
              <a:rPr lang="en-US" sz="2000" dirty="0">
                <a:solidFill>
                  <a:srgbClr val="FF0000"/>
                </a:solidFill>
              </a:rPr>
              <a:t>3 1</a:t>
            </a:r>
            <a:r>
              <a:rPr lang="en-US" sz="2000" dirty="0"/>
              <a:t>), (</a:t>
            </a:r>
            <a:r>
              <a:rPr lang="en-US" sz="2000" dirty="0">
                <a:solidFill>
                  <a:srgbClr val="FF0000"/>
                </a:solidFill>
              </a:rPr>
              <a:t>2 4 5 </a:t>
            </a:r>
            <a:r>
              <a:rPr lang="en-US" sz="2000" dirty="0"/>
              <a:t>1 4)</a:t>
            </a:r>
          </a:p>
          <a:p>
            <a:pPr lvl="2"/>
            <a:r>
              <a:rPr lang="en-US" sz="2400" dirty="0"/>
              <a:t>Random Key method: An alternative</a:t>
            </a:r>
          </a:p>
        </p:txBody>
      </p:sp>
    </p:spTree>
    <p:extLst>
      <p:ext uri="{BB962C8B-B14F-4D97-AF65-F5344CB8AC3E}">
        <p14:creationId xmlns:p14="http://schemas.microsoft.com/office/powerpoint/2010/main" val="2382082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key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3080"/>
            <a:ext cx="10765768" cy="4479271"/>
          </a:xfrm>
        </p:spPr>
        <p:txBody>
          <a:bodyPr>
            <a:normAutofit/>
          </a:bodyPr>
          <a:lstStyle/>
          <a:p>
            <a:r>
              <a:rPr lang="en-US" dirty="0"/>
              <a:t>Assign a random number drawn uniformly from (0, 1)</a:t>
            </a:r>
          </a:p>
          <a:p>
            <a:pPr lvl="1"/>
            <a:r>
              <a:rPr lang="en-US" dirty="0"/>
              <a:t>Decode in ascending order (could use descending as well)</a:t>
            </a:r>
          </a:p>
          <a:p>
            <a:pPr lvl="1"/>
            <a:r>
              <a:rPr lang="en-US" dirty="0"/>
              <a:t>Example: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Path: 2 -&gt; 3 -&gt; 1 -&gt; 4 -&gt; 5</a:t>
            </a:r>
          </a:p>
          <a:p>
            <a:pPr lvl="1"/>
            <a:r>
              <a:rPr lang="en-US" dirty="0"/>
              <a:t>Crossover operator:</a:t>
            </a:r>
          </a:p>
          <a:p>
            <a:pPr lvl="2"/>
            <a:r>
              <a:rPr lang="en-US" dirty="0"/>
              <a:t>Different methods could be used</a:t>
            </a:r>
          </a:p>
          <a:p>
            <a:pPr lvl="2"/>
            <a:r>
              <a:rPr lang="en-US" dirty="0"/>
              <a:t>Ex. Parameterized uniform crossover:</a:t>
            </a:r>
          </a:p>
          <a:p>
            <a:pPr lvl="3"/>
            <a:r>
              <a:rPr lang="en-US" dirty="0"/>
              <a:t>Select two parents randomly inheriting each gene from parent 1 with probability p and from parent 2 with probability 1 – p</a:t>
            </a:r>
          </a:p>
          <a:p>
            <a:pPr marL="548640" lvl="1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 descr="Screen Shot 2015-11-02 at 1.47.5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507" y="3038990"/>
            <a:ext cx="6403274" cy="694889"/>
          </a:xfrm>
          <a:prstGeom prst="rect">
            <a:avLst/>
          </a:prstGeom>
        </p:spPr>
      </p:pic>
      <p:pic>
        <p:nvPicPr>
          <p:cNvPr id="5" name="Picture 4" descr="Screen Shot 2015-11-02 at 2.27.5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745" y="4349709"/>
            <a:ext cx="396240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11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key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2186"/>
            <a:ext cx="5892495" cy="4332750"/>
          </a:xfrm>
        </p:spPr>
        <p:txBody>
          <a:bodyPr>
            <a:normAutofit/>
          </a:bodyPr>
          <a:lstStyle/>
          <a:p>
            <a:r>
              <a:rPr lang="en-US" sz="3200" dirty="0"/>
              <a:t>Mutation operator</a:t>
            </a:r>
          </a:p>
          <a:p>
            <a:pPr lvl="1"/>
            <a:r>
              <a:rPr lang="en-US" sz="2800" dirty="0"/>
              <a:t>Replace the worst set with a newly created set of candidates</a:t>
            </a:r>
          </a:p>
          <a:p>
            <a:pPr lvl="2"/>
            <a:r>
              <a:rPr lang="en-US" sz="2400" dirty="0"/>
              <a:t>Randomly generate a new set of individuals – random key method is used</a:t>
            </a:r>
          </a:p>
          <a:p>
            <a:pPr lvl="2"/>
            <a:r>
              <a:rPr lang="en-US" sz="2400" dirty="0"/>
              <a:t>Avoids pre-mature convergence</a:t>
            </a:r>
          </a:p>
          <a:p>
            <a:pPr lvl="2"/>
            <a:r>
              <a:rPr lang="en-US" sz="2400" dirty="0"/>
              <a:t>Also called immigration</a:t>
            </a:r>
          </a:p>
          <a:p>
            <a:pPr lvl="2"/>
            <a:endParaRPr lang="en-US" sz="2400" dirty="0"/>
          </a:p>
        </p:txBody>
      </p:sp>
      <p:pic>
        <p:nvPicPr>
          <p:cNvPr id="4" name="Picture 3" descr="Screen Shot 2015-11-02 at 2.40.3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89" y="2484258"/>
            <a:ext cx="4537811" cy="230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53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01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9008" y="2129245"/>
            <a:ext cx="9460493" cy="397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64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02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211" y="2194560"/>
            <a:ext cx="10870692" cy="288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35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Multi-objective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Involves more than one objective function</a:t>
            </a:r>
          </a:p>
          <a:p>
            <a:r>
              <a:rPr lang="en-US" dirty="0"/>
              <a:t>Ex: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it possible to solve this using GA? Give it a try.</a:t>
            </a:r>
          </a:p>
          <a:p>
            <a:pPr lvl="1"/>
            <a:endParaRPr lang="en-US" dirty="0"/>
          </a:p>
        </p:txBody>
      </p:sp>
      <p:pic>
        <p:nvPicPr>
          <p:cNvPr id="4" name="Picture 3" descr="Screen Shot 2015-10-23 at 12.37.2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911" y="2937514"/>
            <a:ext cx="7265778" cy="161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3013</TotalTime>
  <Words>572</Words>
  <Application>Microsoft Office PowerPoint</Application>
  <PresentationFormat>Widescreen</PresentationFormat>
  <Paragraphs>142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Wingdings</vt:lpstr>
      <vt:lpstr>Office Theme</vt:lpstr>
      <vt:lpstr>Meta Heuristic Optimization</vt:lpstr>
      <vt:lpstr>Objective Function</vt:lpstr>
      <vt:lpstr>Mathematical formulation</vt:lpstr>
      <vt:lpstr>Mathematical formulation</vt:lpstr>
      <vt:lpstr>Gradient descent (Hill climbing)</vt:lpstr>
      <vt:lpstr>Gradient descent (hill climbing)</vt:lpstr>
      <vt:lpstr>Gradient descent (hill climbing)</vt:lpstr>
      <vt:lpstr>Meta heuristic optimization</vt:lpstr>
      <vt:lpstr>Meta heuristic optimization</vt:lpstr>
      <vt:lpstr>Meta heuristic optimization</vt:lpstr>
      <vt:lpstr>Scope of meta-heuristics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Termination of a GA</vt:lpstr>
      <vt:lpstr>Exercise 01</vt:lpstr>
      <vt:lpstr>Exercise 01</vt:lpstr>
      <vt:lpstr>Exercise 01 contd’</vt:lpstr>
      <vt:lpstr>Exercise 02</vt:lpstr>
      <vt:lpstr>Random Keys Algorithm</vt:lpstr>
      <vt:lpstr>Random key method</vt:lpstr>
      <vt:lpstr>Random key method</vt:lpstr>
      <vt:lpstr>Exercise 01</vt:lpstr>
      <vt:lpstr>Exercise 02</vt:lpstr>
      <vt:lpstr>Multi-objective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Chathura Rajapaksha</dc:creator>
  <cp:lastModifiedBy>Chathura Rajapakse</cp:lastModifiedBy>
  <cp:revision>51</cp:revision>
  <dcterms:created xsi:type="dcterms:W3CDTF">2019-01-03T05:47:39Z</dcterms:created>
  <dcterms:modified xsi:type="dcterms:W3CDTF">2022-10-02T02:01:15Z</dcterms:modified>
</cp:coreProperties>
</file>