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Shape 1"/>
          <p:cNvSpPr/>
          <p:nvPr/>
        </p:nvSpPr>
        <p:spPr>
          <a:xfrm>
            <a:off x="7857439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</p:sp>
      <p:sp>
        <p:nvSpPr>
          <p:cNvPr id="4" name="Shape 2"/>
          <p:cNvSpPr/>
          <p:nvPr/>
        </p:nvSpPr>
        <p:spPr>
          <a:xfrm>
            <a:off x="7985455" y="0"/>
            <a:ext cx="128016" cy="6858000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 |  UNIVERSITY OF KELANIYA</a:t>
            </a:r>
            <a:endParaRPr lang="en-US" sz="1050" dirty="0"/>
          </a:p>
        </p:txBody>
      </p:sp>
      <p:sp>
        <p:nvSpPr>
          <p:cNvPr id="7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148840"/>
            <a:ext cx="70408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Presentation Title Goes Here</a:t>
            </a:r>
            <a:endParaRPr lang="en-US" sz="3800" dirty="0"/>
          </a:p>
        </p:txBody>
      </p:sp>
      <p:sp>
        <p:nvSpPr>
          <p:cNvPr id="8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course / module name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4892040"/>
            <a:ext cx="3657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</a:t>
            </a:r>
            <a:endParaRPr lang="en-US" sz="1500" dirty="0"/>
          </a:p>
        </p:txBody>
      </p:sp>
      <p:sp>
        <p:nvSpPr>
          <p:cNvPr id="11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Staff ID: 0000000</a:t>
            </a:r>
            <a:endParaRPr lang="en-US" sz="1250" dirty="0"/>
          </a:p>
        </p:txBody>
      </p:sp>
      <p:sp>
        <p:nvSpPr>
          <p:cNvPr id="12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Month Day, Year</a:t>
            </a:r>
            <a:endParaRPr lang="en-US" sz="1250" dirty="0"/>
          </a:p>
        </p:txBody>
      </p:sp>
      <p:pic>
        <p:nvPicPr>
          <p:cNvPr id="13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75" y="2331720"/>
            <a:ext cx="2286000" cy="23795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SECTION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B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1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body text or bullet points.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WO_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6199632" y="1417320"/>
            <a:ext cx="0" cy="3566160"/>
          </a:xfrm>
          <a:prstGeom prst="line">
            <a:avLst/>
          </a:prstGeom>
          <a:noFill/>
          <a:ln w="12700">
            <a:solidFill>
              <a:srgbClr val="DADADA"/>
            </a:solidFill>
            <a:prstDash val="solid"/>
          </a:ln>
        </p:spPr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 content goes here.</a:t>
            </a:r>
            <a:endParaRPr lang="en-US" sz="145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 content goes here.</a:t>
            </a:r>
            <a:endParaRPr lang="en-US" sz="1450" dirty="0"/>
          </a:p>
        </p:txBody>
      </p:sp>
      <p:sp>
        <p:nvSpPr>
          <p:cNvPr id="10" name="Shape 3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6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IMAGE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solidFill>
            <a:srgbClr val="F4F8F6"/>
          </a:solidFill>
          <a:ln w="12700">
            <a:solidFill>
              <a:srgbClr val="D7E8E2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Replace this panel with your image</a:t>
            </a:r>
            <a:endParaRPr lang="en-US" sz="11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text, analysis, or explanation accompanying the image.</a:t>
            </a:r>
            <a:endParaRPr lang="en-US" sz="1550" dirty="0"/>
          </a:p>
        </p:txBody>
      </p:sp>
      <p:sp>
        <p:nvSpPr>
          <p:cNvPr id="8" name="Shape 3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4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Replace with your data table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CONCLU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key conclusions, implications, or recommendations.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0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75908" y="6291072"/>
            <a:ext cx="5615788" cy="0"/>
          </a:xfrm>
          <a:prstGeom prst="line">
            <a:avLst/>
          </a:prstGeom>
          <a:noFill/>
          <a:ln w="17780">
            <a:solidFill>
              <a:srgbClr val="50B5A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5908" y="6341364"/>
            <a:ext cx="5615788" cy="0"/>
          </a:xfrm>
          <a:prstGeom prst="line">
            <a:avLst/>
          </a:prstGeom>
          <a:noFill/>
          <a:ln w="17780">
            <a:solidFill>
              <a:srgbClr val="66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75908" y="6391656"/>
            <a:ext cx="5615788" cy="0"/>
          </a:xfrm>
          <a:prstGeom prst="line">
            <a:avLst/>
          </a:prstGeom>
          <a:noFill/>
          <a:ln w="17780">
            <a:solidFill>
              <a:srgbClr val="F6DD26"/>
            </a:solidFill>
            <a:prstDash val="solid"/>
          </a:ln>
        </p:spPr>
      </p:sp>
      <p:pic>
        <p:nvPicPr>
          <p:cNvPr id="12" name="Image 0" descr="/home/claude/pptx_build/image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0" y="6236208"/>
            <a:ext cx="368954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_THANKYOU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91440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0256"/>
            <a:ext cx="12191695" cy="91440"/>
          </a:xfrm>
          <a:prstGeom prst="rect">
            <a:avLst/>
          </a:prstGeom>
          <a:solidFill>
            <a:srgbClr val="F6DD26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ts val="2200"/>
              </a:lnSpc>
              <a:buNone/>
              <a:def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name@university.edu  |  Department of Industrial Management</a:t>
            </a:r>
            <a:endParaRPr lang="en-US" sz="1400" dirty="0"/>
          </a:p>
        </p:txBody>
      </p:sp>
      <p:pic>
        <p:nvPicPr>
          <p:cNvPr id="7" name="Image 0" descr="/home/claude/pptx_build/images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4892040"/>
            <a:ext cx="1188720" cy="123734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en-US" sz="4000" dirty="0">
                <a:latin typeface="+mn-lt"/>
                <a:cs typeface="Times New Roman" panose="02020603050405020304" pitchFamily="18" charset="0"/>
              </a:rPr>
              <a:t>INTE 22283 – Mobile Application Development</a:t>
            </a:r>
            <a:endParaRPr lang="en-US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Introduction to Mobile Computing and Mobile Networks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 smtClean="0">
                <a:latin typeface="+mn-lt"/>
                <a:cs typeface="Times New Roman" panose="02020603050405020304" pitchFamily="18" charset="0"/>
              </a:rPr>
              <a:t>Sammani Maddumahewage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dirty="0" smtClean="0">
                <a:latin typeface="+mn-lt"/>
                <a:cs typeface="Times New Roman" panose="02020603050405020304" pitchFamily="18" charset="0"/>
              </a:rPr>
              <a:t>Lecturer (Probationary)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50" dirty="0" smtClean="0">
                <a:latin typeface="+mn-lt"/>
                <a:cs typeface="Times New Roman" panose="02020603050405020304" pitchFamily="18" charset="0"/>
              </a:rPr>
              <a:t>BSc (Hons) in Information Technology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FE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Content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goes 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goes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Two-Column Content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in column one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in column one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in column one</a:t>
            </a:r>
            <a:endParaRPr lang="en-US" sz="1450" dirty="0"/>
          </a:p>
        </p:txBody>
      </p:sp>
      <p:sp>
        <p:nvSpPr>
          <p:cNvPr id="6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in column two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 in column two</a:t>
            </a:r>
            <a:endParaRPr lang="en-US" sz="14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in column two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 + Text Slide</a:t>
            </a:r>
            <a:endParaRPr lang="en-US" sz="2800" dirty="0"/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Replace this panel with your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image illustrates</a:t>
            </a:r>
            <a:endParaRPr lang="en-US" sz="15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visual to your key argument</a:t>
            </a:r>
            <a:endParaRPr lang="en-US" sz="15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data or context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/ Data Slide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Replace with your data table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1417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main finding or argument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practical implication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limitations or areas for future work</a:t>
            </a:r>
            <a:endParaRPr lang="en-US" sz="16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closing recommendation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 xml:space="preserve">Thank </a:t>
            </a:r>
            <a:r>
              <a:rPr lang="en-US" sz="6000" b="1" dirty="0" smtClean="0">
                <a:solidFill>
                  <a:srgbClr val="FFFFFF"/>
                </a:solidFill>
              </a:rPr>
              <a:t>You !</a:t>
            </a:r>
            <a:endParaRPr lang="en-US" sz="6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F5F0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800" dirty="0">
                <a:solidFill>
                  <a:srgbClr val="CFEDE3"/>
                </a:solidFill>
              </a:rPr>
              <a:t xml:space="preserve">Email: </a:t>
            </a:r>
            <a:r>
              <a:rPr lang="en-US" sz="1800" dirty="0" smtClean="0"/>
              <a:t>Sammani@kln.ac.lk</a:t>
            </a:r>
            <a:r>
              <a:rPr lang="en-US" sz="1800" dirty="0" smtClean="0">
                <a:solidFill>
                  <a:srgbClr val="CFEDE3"/>
                </a:solidFill>
              </a:rPr>
              <a:t xml:space="preserve">   </a:t>
            </a:r>
            <a:r>
              <a:rPr lang="en-US" sz="1800" dirty="0">
                <a:solidFill>
                  <a:srgbClr val="CFEDE3"/>
                </a:solidFill>
              </a:rPr>
              <a:t>|   Department of Industrial Management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r>
              <a:rPr lang="en-US" sz="3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 22283 – Mobile Application Development</a:t>
            </a:r>
          </a:p>
        </p:txBody>
      </p:sp>
      <p:sp>
        <p:nvSpPr>
          <p:cNvPr id="3" name="Text 5"/>
          <p:cNvSpPr>
            <a:spLocks noGrp="1"/>
          </p:cNvSpPr>
          <p:nvPr>
            <p:ph type="body" idx="106" hasCustomPrompt="1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Mobile Development Platforms</a:t>
            </a:r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 smtClean="0">
                <a:latin typeface="+mn-lt"/>
                <a:cs typeface="Times New Roman" panose="02020603050405020304" pitchFamily="18" charset="0"/>
              </a:rPr>
              <a:t>Sammani Maddumahewage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dirty="0" smtClean="0">
                <a:latin typeface="+mn-lt"/>
                <a:cs typeface="Times New Roman" panose="02020603050405020304" pitchFamily="18" charset="0"/>
              </a:rPr>
              <a:t>Lecturer (Probationary)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50" dirty="0" smtClean="0">
                <a:latin typeface="+mn-lt"/>
                <a:cs typeface="Times New Roman" panose="02020603050405020304" pitchFamily="18" charset="0"/>
              </a:rPr>
              <a:t>BSc (Hons) in Information Technology</a:t>
            </a:r>
            <a:endParaRPr lang="en-US" sz="125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Learning Outcomes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native, hybrid, and cross-platform development approaches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advantages and limitations of each development approach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popular native development tools (Android Studio, Xcode)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cross-platform frameworks (Flutter, React Native)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performance, cost, time-to-market, and maintainability across platforms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decision framework for selecting a platform based on project requirements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development environment for a chosen platform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 simple “Hello World” application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Recap and Framing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two weeks: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covered mobile networks and mobile operating system architecture — the foundation every app runs on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address the practical question every project starts with: which development approach should we actually use to build the app?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not obvious: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“best” approach — the right choice depends on performance needs, budget, timeline, and team skills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Approaches to Building Mobile Apps</a:t>
            </a:r>
          </a:p>
        </p:txBody>
      </p:sp>
      <p:sp>
        <p:nvSpPr>
          <p:cNvPr id="3" name="Text 3"/>
          <p:cNvSpPr>
            <a:spLocks noGrp="1"/>
          </p:cNvSpPr>
          <p:nvPr>
            <p:ph type="body" idx="104" hasCustomPrompt="1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Native, hybrid, and cross-platform approaches differ in how code is written and executed on the device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13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each platform's own language and SDK (Kotlin/Java for Android, Swift for iOS)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(HTML/CSS/JS) wrapped in a native container and rendered through a WebView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codebase compiled or rendered into native UI components on each platform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platfor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 Development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Definition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Apps built specifically for one platform using that platform's official language, SDK, and tools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Advantages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Best possible performance; full access to all platform APIs and hardware features on day one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Limitations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Requires separate codebases (and often separate teams) for Android and iOS, increasing cost and time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Typical use case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Apps with demanding performance needs: games, AR/VR, or apps requiring deep hardware integration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Development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Definition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web application (built with standard web technologies) packaged inside a native shell using a WebView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Advantages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Single codebase across platforms; reuses existing web development skills and code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Limitations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Performance and UI feel are constrained by the WebView; limited access to some native features without plugins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Typical use case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Content-driven apps, internal business tools, or MVPs where speed of development matters more than peak performance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Cross-Platform Development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Definition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single codebase, written in one framework, that compiles to (or renders as) native UI components on each platform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Advantages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Near-native performance and look-and-feel, while sharing most business logic and UI code across platforms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Limitations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Occasional need for platform-specific code for cutting-edge native features; an additional abstraction layer to learn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Typical use case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Most commercial apps today — a strong balance of cost, speed, and quality (e.g., built with Flutter or React Native)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 Development Tools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(for Android)</a:t>
            </a:r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(for iOS)</a:t>
            </a:r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IntelliJ IDEA platform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(preferred) and Java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editor, emulator, profiler, Gradle build system</a:t>
            </a:r>
          </a:p>
        </p:txBody>
      </p:sp>
      <p:sp>
        <p:nvSpPr>
          <p:cNvPr id="6" name="Text 3"/>
          <p:cNvSpPr>
            <a:spLocks noGrp="1"/>
          </p:cNvSpPr>
          <p:nvPr>
            <p:ph type="body" idx="107" hasCustomPrompt="1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exclusively for macOS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(preferred) and Objective-C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Builder, Simulator, Instruments profiler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Cross-Platform Frameworks: Flutter and React Native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(Google):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Dart language; renders its own UI widgets directly to the screen rather than using native OS components, giving highly consistent visuals across platforms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(Meta):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JavaScript/TypeScript with React; renders using actual native UI components, giving a more platform-authentic feel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principle: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let developers write most application logic once and deploy to Android and iOS, with optional platform-specific code where needed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return to these in depth: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covers hybrid and cross-platform frameworks hands-on, including setting up a real Flutter or React Native project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Comparing the Three Approaches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No single approach wins on every dimension — the right choice depends on project priorities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690000"/>
          <a:ext cx="11277295" cy="2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7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Cross-Platform</a:t>
                      </a:r>
                    </a:p>
                  </a:txBody>
                  <a:tcPr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Near-native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Development cost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Highest (2x teams)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Time-to-market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Fastest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Maintainability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Two codebases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One codebase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One codebase</a:t>
                      </a:r>
                    </a:p>
                  </a:txBody>
                  <a:tcPr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Access to new OS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Immediate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Delayed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Often delayed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Reading the Comparison Correctly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winner: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approach makes a deliberate trade-off between performance, cost, speed, and long-term maintainability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cost tension: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maximizes performance and platform access at the highest cost; hybrid minimizes cost at some performance expense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as a middle ground: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like Flutter and React Native increasingly close the performance gap with native, which is why they dominate new app development today</a:t>
            </a:r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compounds over time: 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codebase becomes more valuable the longer an app is actively developed and maintained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Decision Framework for Platform Selection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1. What does the app need to do?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Heavy graphics, AR, or deep hardware access push toward native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2. What is the budget and timeline?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Tight budgets and fast deadlines favor hybrid or cross-platform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3. What skills does the team already have?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Web developers may ship faster with hybrid; JS/React teams may prefer React Native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4. How long will the app be maintained?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Long-lived apps benefit more from a single, maintainable cross-platform codebase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5. Does the app need day-one access to the newest OS features?</a:t>
            </a:r>
          </a:p>
          <a:p>
            <a:pPr marL="685800" indent="-228600" algn="l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If yes, native is safest; cross-platform frameworks sometimes lag behind new OS releases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Worked Example: A Mobile Game Studio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frame-rate 3D graphics, deep access to GPU and sensor APIs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need is extremely high (favors native); budget allows separate platform teams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development — or a specialized game engine (Unity/Unreal) that compiles natively — is the right choice here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Worked Example: A Startup's MVP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both Android and iOS within 8 weeks, with a 2-person development team and a limited budget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and cost are the dominant constraints; the app's needs are largely standard UI and API calls, not specialized hardware access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(Flutter or React Native) is the strongest fit — one codebase, fast iteration, near-native quality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Worked Example: An Internal Company Tool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internal app for employees to submit expense reports; performance is not a major concern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performance requirements, small user base, and a team that already builds the company's web portal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development lets the team reuse existing web code and skills, minimizing cost for a low-stakes internal tool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Configuring a Development Environment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platform approach based on the decision framework (this module focuses primarily on native Android with Android Studio)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IDE (Android Studio) and accept required SDK licenses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 Android Virtual Device (AVD) or connect a physical device with USB debugging enabled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environment by creating a new project from a template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Your First App: “Hello World”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Android Studio's “Empty Activity” template, which generates a minimal working app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MainActivity: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file contains the onCreate() method where the app's first screen is set up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activity_main.xml: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layout file defines the UI — by default, a single TextView displaying “Hello World!”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to the emulator or a connected device to see the running app for the first time</a:t>
            </a:r>
          </a:p>
          <a:p>
            <a:pPr marL="342900" indent="-342900" algn="l"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demonstrates: </a:t>
            </a: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minimal app already uses the Activity lifecycle, layout system, and build process introduced in previous weeks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hybrid, and cross-platform are three distinct approaches with different performance, cost, and maintainability trade-offs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development (Android Studio, Xcode) offers the best performance and platform access but the highest cost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frameworks like Flutter and React Native offer a strong balance and now dominate new app development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selection should follow a deliberate decision framework based on requirements, budget, timeline, and team skills</a:t>
            </a:r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development environment and a successfully built “Hello World” app are the practical foundation for everything that follows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answered a foundational practical question: how should a team actually build a mobile app? We examined native, hybrid, and cross-platform approaches, comparing their performance, cost, time-to-market, and maintainability trade-offs.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applied a decision framework to real-world scenarios — a game studio, a startup MVP, and an internal tool — each landing on a different, well-justified platform choice.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working development environment and a first running app in place, next week we move from platform choice to internal application architecture.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Discussion Questions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building a banking app, which approach would you choose and why? Which decision-framework factors matter most for this case?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cross-platform frameworks have grown so much in popularity over the last decade, relative to native and hybrid approaches?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a scenario where starting with hybrid development and later migrating to native (or cross-platform) might make sense as a business strategy?</a:t>
            </a:r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risks does a team take on by choosing a cross-platform framework, given that new OS features sometimes arrive on native platforms first?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!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Sammani@kln.ac.lk   |   Department of Industrial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225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INTE 22283 – Mobile Application Development</vt:lpstr>
      <vt:lpstr>Section Title</vt:lpstr>
      <vt:lpstr>Standard Content Slide</vt:lpstr>
      <vt:lpstr>Two-Column Content Slide</vt:lpstr>
      <vt:lpstr>Image + Text Slide</vt:lpstr>
      <vt:lpstr>Table / Data Slide</vt:lpstr>
      <vt:lpstr>Key Takeaways</vt:lpstr>
      <vt:lpstr>Thank You !</vt:lpstr>
    </vt:vector>
  </TitlesOfParts>
  <Company>Department of Industrial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 Academic Presentation Template</dc:title>
  <dc:subject>PptxGenJS Presentation</dc:subject>
  <dc:creator>Department of Industrial Management</dc:creator>
  <cp:lastModifiedBy>DIM</cp:lastModifiedBy>
  <cp:revision>9</cp:revision>
  <dcterms:created xsi:type="dcterms:W3CDTF">2026-06-20T14:42:21Z</dcterms:created>
  <dcterms:modified xsi:type="dcterms:W3CDTF">2026-06-20T16:40:16Z</dcterms:modified>
</cp:coreProperties>
</file>