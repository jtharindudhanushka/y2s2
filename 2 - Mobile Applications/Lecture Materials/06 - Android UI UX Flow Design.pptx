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8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982712" y="0"/>
            <a:ext cx="4206240" cy="6858000"/>
          </a:xfrm>
          <a:prstGeom prst="rect">
            <a:avLst/>
          </a:prstGeom>
          <a:solidFill>
            <a:srgbClr val="2D6B66"/>
          </a:solidFill>
          <a:ln/>
        </p:spPr>
        <p:txBody>
          <a:bodyPr/>
          <a:lstStyle/>
          <a:p>
            <a:endParaRPr lang="en-US"/>
          </a:p>
        </p:txBody>
      </p:sp>
      <p:sp>
        <p:nvSpPr>
          <p:cNvPr id="3" name="Shape 1"/>
          <p:cNvSpPr/>
          <p:nvPr/>
        </p:nvSpPr>
        <p:spPr>
          <a:xfrm>
            <a:off x="7854696" y="0"/>
            <a:ext cx="128016" cy="6858000"/>
          </a:xfrm>
          <a:prstGeom prst="rect">
            <a:avLst/>
          </a:prstGeom>
          <a:solidFill>
            <a:srgbClr val="F6DD26"/>
          </a:solidFill>
          <a:ln/>
        </p:spPr>
        <p:txBody>
          <a:bodyPr/>
          <a:lstStyle/>
          <a:p>
            <a:endParaRPr lang="en-US"/>
          </a:p>
        </p:txBody>
      </p:sp>
      <p:sp>
        <p:nvSpPr>
          <p:cNvPr id="4" name="Shape 2"/>
          <p:cNvSpPr/>
          <p:nvPr/>
        </p:nvSpPr>
        <p:spPr>
          <a:xfrm>
            <a:off x="7982712" y="0"/>
            <a:ext cx="18288" cy="6858000"/>
          </a:xfrm>
          <a:prstGeom prst="rect">
            <a:avLst/>
          </a:prstGeom>
          <a:solidFill>
            <a:srgbClr val="660000"/>
          </a:solidFill>
          <a:ln/>
        </p:spPr>
        <p:txBody>
          <a:bodyPr/>
          <a:lstStyle/>
          <a:p>
            <a:endParaRPr lang="en-US"/>
          </a:p>
        </p:txBody>
      </p:sp>
      <p:sp>
        <p:nvSpPr>
          <p:cNvPr id="5" name="Text 3"/>
          <p:cNvSpPr/>
          <p:nvPr/>
        </p:nvSpPr>
        <p:spPr>
          <a:xfrm>
            <a:off x="457200" y="502920"/>
            <a:ext cx="6949440" cy="365760"/>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DEPARTMENT OF INDUSTRIAL MANAGEMENT</a:t>
            </a:r>
            <a:endParaRPr lang="en-US" sz="1300" dirty="0"/>
          </a:p>
        </p:txBody>
      </p:sp>
      <p:sp>
        <p:nvSpPr>
          <p:cNvPr id="6" name="Text 4"/>
          <p:cNvSpPr/>
          <p:nvPr/>
        </p:nvSpPr>
        <p:spPr>
          <a:xfrm>
            <a:off x="457200" y="868680"/>
            <a:ext cx="6949440" cy="274320"/>
          </a:xfrm>
          <a:prstGeom prst="rect">
            <a:avLst/>
          </a:prstGeom>
          <a:noFill/>
          <a:ln/>
        </p:spPr>
        <p:txBody>
          <a:bodyPr wrap="square" lIns="0" tIns="0" rIns="0" bIns="0" rtlCol="0" anchor="ctr"/>
          <a:lstStyle/>
          <a:p>
            <a:pPr marL="0" indent="0">
              <a:buNone/>
            </a:pPr>
            <a:r>
              <a:rPr lang="en-US" sz="1200" dirty="0">
                <a:solidFill>
                  <a:srgbClr val="595959"/>
                </a:solidFill>
                <a:latin typeface="Calibri" pitchFamily="34" charset="0"/>
                <a:ea typeface="Calibri" pitchFamily="34" charset="-122"/>
                <a:cs typeface="Calibri" pitchFamily="34" charset="-120"/>
              </a:rPr>
              <a:t>FACULTY OF SCIENCE  |  UNIVERSITY OF KELANIYA</a:t>
            </a:r>
            <a:endParaRPr lang="en-US" sz="1200" dirty="0"/>
          </a:p>
        </p:txBody>
      </p:sp>
      <p:sp>
        <p:nvSpPr>
          <p:cNvPr id="7" name="Text 5"/>
          <p:cNvSpPr/>
          <p:nvPr/>
        </p:nvSpPr>
        <p:spPr>
          <a:xfrm>
            <a:off x="457200" y="1874520"/>
            <a:ext cx="7040880" cy="1554480"/>
          </a:xfrm>
          <a:prstGeom prst="rect">
            <a:avLst/>
          </a:prstGeom>
          <a:noFill/>
          <a:ln/>
        </p:spPr>
        <p:txBody>
          <a:bodyPr wrap="square" lIns="0" tIns="0" rIns="0" bIns="0" rtlCol="0" anchor="ctr"/>
          <a:lstStyle/>
          <a:p>
            <a:pPr marL="0" indent="0">
              <a:lnSpc>
                <a:spcPts val="4000"/>
              </a:lnSpc>
              <a:buNone/>
            </a:pPr>
            <a:r>
              <a:rPr lang="en-US" sz="3400" b="1" dirty="0">
                <a:solidFill>
                  <a:srgbClr val="262626"/>
                </a:solidFill>
                <a:latin typeface="Calibri Light" pitchFamily="34" charset="0"/>
                <a:ea typeface="Calibri Light" pitchFamily="34" charset="-122"/>
                <a:cs typeface="Calibri Light" pitchFamily="34" charset="-120"/>
              </a:rPr>
              <a:t>Android Fundamentals: UI/UX Flow Design</a:t>
            </a:r>
            <a:endParaRPr lang="en-US" sz="3400" dirty="0"/>
          </a:p>
        </p:txBody>
      </p:sp>
      <p:sp>
        <p:nvSpPr>
          <p:cNvPr id="8" name="Text 6"/>
          <p:cNvSpPr/>
          <p:nvPr/>
        </p:nvSpPr>
        <p:spPr>
          <a:xfrm>
            <a:off x="457200" y="3611880"/>
            <a:ext cx="6766560" cy="457200"/>
          </a:xfrm>
          <a:prstGeom prst="rect">
            <a:avLst/>
          </a:prstGeom>
          <a:noFill/>
          <a:ln/>
        </p:spPr>
        <p:txBody>
          <a:bodyPr wrap="square" lIns="0" tIns="0" rIns="0" bIns="0" rtlCol="0" anchor="ctr"/>
          <a:lstStyle/>
          <a:p>
            <a:pPr marL="0" indent="0">
              <a:buNone/>
            </a:pPr>
            <a:r>
              <a:rPr lang="en-US" sz="1800" dirty="0">
                <a:solidFill>
                  <a:srgbClr val="2D6B66"/>
                </a:solidFill>
                <a:latin typeface="Calibri" pitchFamily="34" charset="0"/>
                <a:ea typeface="Calibri" pitchFamily="34" charset="-122"/>
                <a:cs typeface="Calibri" pitchFamily="34" charset="-120"/>
              </a:rPr>
              <a:t>Wireframing, Prototyping, and Usability Heuristics for Small Screens</a:t>
            </a:r>
            <a:endParaRPr lang="en-US" sz="1800" dirty="0"/>
          </a:p>
        </p:txBody>
      </p:sp>
      <p:sp>
        <p:nvSpPr>
          <p:cNvPr id="9" name="Text 7"/>
          <p:cNvSpPr/>
          <p:nvPr/>
        </p:nvSpPr>
        <p:spPr>
          <a:xfrm>
            <a:off x="457200" y="4251960"/>
            <a:ext cx="6766560" cy="365760"/>
          </a:xfrm>
          <a:prstGeom prst="rect">
            <a:avLst/>
          </a:prstGeom>
          <a:noFill/>
          <a:ln/>
        </p:spPr>
        <p:txBody>
          <a:bodyPr wrap="square" lIns="0" tIns="0" rIns="0" bIns="0" rtlCol="0" anchor="ctr"/>
          <a:lstStyle/>
          <a:p>
            <a:pPr marL="0" indent="0">
              <a:buNone/>
            </a:pPr>
            <a:r>
              <a:rPr lang="en-US" sz="1400" dirty="0">
                <a:solidFill>
                  <a:srgbClr val="595959"/>
                </a:solidFill>
                <a:latin typeface="Calibri" pitchFamily="34" charset="0"/>
                <a:ea typeface="Calibri" pitchFamily="34" charset="-122"/>
                <a:cs typeface="Calibri" pitchFamily="34" charset="-120"/>
              </a:rPr>
              <a:t>Mobile Applications Development (INTE 22283)</a:t>
            </a:r>
            <a:endParaRPr lang="en-US" sz="1400" dirty="0"/>
          </a:p>
        </p:txBody>
      </p:sp>
      <p:sp>
        <p:nvSpPr>
          <p:cNvPr id="10" name="Text 8"/>
          <p:cNvSpPr/>
          <p:nvPr/>
        </p:nvSpPr>
        <p:spPr>
          <a:xfrm>
            <a:off x="457200" y="5989320"/>
            <a:ext cx="7040880" cy="365760"/>
          </a:xfrm>
          <a:prstGeom prst="rect">
            <a:avLst/>
          </a:prstGeom>
          <a:noFill/>
          <a:ln/>
        </p:spPr>
        <p:txBody>
          <a:bodyPr wrap="square" lIns="0" tIns="0" rIns="0" bIns="0" rtlCol="0" anchor="ctr"/>
          <a:lstStyle/>
          <a:p>
            <a:pPr marL="0" indent="0">
              <a:buNone/>
            </a:pPr>
            <a:r>
              <a:rPr lang="en-US" sz="1200" dirty="0">
                <a:solidFill>
                  <a:srgbClr val="595959"/>
                </a:solidFill>
                <a:latin typeface="Calibri" pitchFamily="34" charset="0"/>
                <a:ea typeface="Calibri" pitchFamily="34" charset="-122"/>
                <a:cs typeface="Calibri" pitchFamily="34" charset="-120"/>
              </a:rPr>
              <a:t>Sammani Maddumahewage   ·   Lecturer (Probationary)   ·   BSc (Hons) in Information Technology</a:t>
            </a:r>
            <a:endParaRPr lang="en-US" sz="1200" dirty="0"/>
          </a:p>
        </p:txBody>
      </p:sp>
      <p:pic>
        <p:nvPicPr>
          <p:cNvPr id="11" name="Image 0" descr="/home/claude/assets/logo_full.png"/>
          <p:cNvPicPr>
            <a:picLocks noChangeAspect="1"/>
          </p:cNvPicPr>
          <p:nvPr/>
        </p:nvPicPr>
        <p:blipFill>
          <a:blip r:embed="rId3"/>
          <a:stretch>
            <a:fillRect/>
          </a:stretch>
        </p:blipFill>
        <p:spPr>
          <a:xfrm>
            <a:off x="9326880" y="2743200"/>
            <a:ext cx="1417320" cy="1463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Contents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2 / 13</a:t>
            </a:r>
            <a:endParaRPr lang="en-US" sz="1300" dirty="0"/>
          </a:p>
        </p:txBody>
      </p:sp>
      <p:sp>
        <p:nvSpPr>
          <p:cNvPr id="8" name="Shape 5"/>
          <p:cNvSpPr/>
          <p:nvPr/>
        </p:nvSpPr>
        <p:spPr>
          <a:xfrm>
            <a:off x="548640" y="1554480"/>
            <a:ext cx="384048" cy="384048"/>
          </a:xfrm>
          <a:prstGeom prst="ellipse">
            <a:avLst/>
          </a:prstGeom>
          <a:solidFill>
            <a:srgbClr val="2D6B66"/>
          </a:solidFill>
          <a:ln/>
        </p:spPr>
        <p:txBody>
          <a:bodyPr/>
          <a:lstStyle/>
          <a:p>
            <a:endParaRPr lang="en-US"/>
          </a:p>
        </p:txBody>
      </p:sp>
      <p:sp>
        <p:nvSpPr>
          <p:cNvPr id="9" name="Text 6"/>
          <p:cNvSpPr/>
          <p:nvPr/>
        </p:nvSpPr>
        <p:spPr>
          <a:xfrm>
            <a:off x="548640" y="15544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p:nvPr/>
        </p:nvSpPr>
        <p:spPr>
          <a:xfrm>
            <a:off x="1115568" y="152704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Practical Activity 1: Identifying User Interface Issues</a:t>
            </a:r>
            <a:endParaRPr lang="en-US" sz="1700" dirty="0"/>
          </a:p>
        </p:txBody>
      </p:sp>
      <p:sp>
        <p:nvSpPr>
          <p:cNvPr id="11" name="Shape 8"/>
          <p:cNvSpPr/>
          <p:nvPr/>
        </p:nvSpPr>
        <p:spPr>
          <a:xfrm>
            <a:off x="548640" y="2423160"/>
            <a:ext cx="384048" cy="384048"/>
          </a:xfrm>
          <a:prstGeom prst="ellipse">
            <a:avLst/>
          </a:prstGeom>
          <a:solidFill>
            <a:srgbClr val="2D6B66"/>
          </a:solidFill>
          <a:ln/>
        </p:spPr>
        <p:txBody>
          <a:bodyPr/>
          <a:lstStyle/>
          <a:p>
            <a:endParaRPr lang="en-US"/>
          </a:p>
        </p:txBody>
      </p:sp>
      <p:sp>
        <p:nvSpPr>
          <p:cNvPr id="12" name="Text 9"/>
          <p:cNvSpPr/>
          <p:nvPr/>
        </p:nvSpPr>
        <p:spPr>
          <a:xfrm>
            <a:off x="548640" y="24231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1115568" y="239572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The User Interface Design Process</a:t>
            </a:r>
            <a:endParaRPr lang="en-US" sz="1700" dirty="0"/>
          </a:p>
        </p:txBody>
      </p:sp>
      <p:sp>
        <p:nvSpPr>
          <p:cNvPr id="14" name="Shape 11"/>
          <p:cNvSpPr/>
          <p:nvPr/>
        </p:nvSpPr>
        <p:spPr>
          <a:xfrm>
            <a:off x="548640" y="3291840"/>
            <a:ext cx="384048" cy="384048"/>
          </a:xfrm>
          <a:prstGeom prst="ellipse">
            <a:avLst/>
          </a:prstGeom>
          <a:solidFill>
            <a:srgbClr val="2D6B66"/>
          </a:solidFill>
          <a:ln/>
        </p:spPr>
        <p:txBody>
          <a:bodyPr/>
          <a:lstStyle/>
          <a:p>
            <a:endParaRPr lang="en-US"/>
          </a:p>
        </p:txBody>
      </p:sp>
      <p:sp>
        <p:nvSpPr>
          <p:cNvPr id="15" name="Text 12"/>
          <p:cNvSpPr/>
          <p:nvPr/>
        </p:nvSpPr>
        <p:spPr>
          <a:xfrm>
            <a:off x="548640" y="32918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115568" y="326440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Wireframing</a:t>
            </a:r>
            <a:endParaRPr lang="en-US" sz="1700" dirty="0"/>
          </a:p>
        </p:txBody>
      </p:sp>
      <p:sp>
        <p:nvSpPr>
          <p:cNvPr id="17" name="Shape 14"/>
          <p:cNvSpPr/>
          <p:nvPr/>
        </p:nvSpPr>
        <p:spPr>
          <a:xfrm>
            <a:off x="548640" y="4160520"/>
            <a:ext cx="384048" cy="384048"/>
          </a:xfrm>
          <a:prstGeom prst="ellipse">
            <a:avLst/>
          </a:prstGeom>
          <a:solidFill>
            <a:srgbClr val="2D6B66"/>
          </a:solidFill>
          <a:ln/>
        </p:spPr>
        <p:txBody>
          <a:bodyPr/>
          <a:lstStyle/>
          <a:p>
            <a:endParaRPr lang="en-US"/>
          </a:p>
        </p:txBody>
      </p:sp>
      <p:sp>
        <p:nvSpPr>
          <p:cNvPr id="18" name="Text 15"/>
          <p:cNvSpPr/>
          <p:nvPr/>
        </p:nvSpPr>
        <p:spPr>
          <a:xfrm>
            <a:off x="54864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p:nvPr/>
        </p:nvSpPr>
        <p:spPr>
          <a:xfrm>
            <a:off x="1115568" y="413308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Prototyping</a:t>
            </a:r>
            <a:endParaRPr lang="en-US" sz="1700" dirty="0"/>
          </a:p>
        </p:txBody>
      </p:sp>
      <p:sp>
        <p:nvSpPr>
          <p:cNvPr id="20" name="Shape 17"/>
          <p:cNvSpPr/>
          <p:nvPr/>
        </p:nvSpPr>
        <p:spPr>
          <a:xfrm>
            <a:off x="548640" y="5029200"/>
            <a:ext cx="384048" cy="384048"/>
          </a:xfrm>
          <a:prstGeom prst="ellipse">
            <a:avLst/>
          </a:prstGeom>
          <a:solidFill>
            <a:srgbClr val="2D6B66"/>
          </a:solidFill>
          <a:ln/>
        </p:spPr>
        <p:txBody>
          <a:bodyPr/>
          <a:lstStyle/>
          <a:p>
            <a:endParaRPr lang="en-US"/>
          </a:p>
        </p:txBody>
      </p:sp>
      <p:sp>
        <p:nvSpPr>
          <p:cNvPr id="21" name="Text 18"/>
          <p:cNvSpPr/>
          <p:nvPr/>
        </p:nvSpPr>
        <p:spPr>
          <a:xfrm>
            <a:off x="54864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19"/>
          <p:cNvSpPr/>
          <p:nvPr/>
        </p:nvSpPr>
        <p:spPr>
          <a:xfrm>
            <a:off x="1115568" y="500176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Layout and Interaction Principles</a:t>
            </a:r>
            <a:endParaRPr lang="en-US" sz="1700" dirty="0"/>
          </a:p>
        </p:txBody>
      </p:sp>
      <p:sp>
        <p:nvSpPr>
          <p:cNvPr id="23" name="Shape 20"/>
          <p:cNvSpPr/>
          <p:nvPr/>
        </p:nvSpPr>
        <p:spPr>
          <a:xfrm>
            <a:off x="6309360" y="1554480"/>
            <a:ext cx="384048" cy="384048"/>
          </a:xfrm>
          <a:prstGeom prst="ellipse">
            <a:avLst/>
          </a:prstGeom>
          <a:solidFill>
            <a:srgbClr val="2D6B66"/>
          </a:solidFill>
          <a:ln/>
        </p:spPr>
        <p:txBody>
          <a:bodyPr/>
          <a:lstStyle/>
          <a:p>
            <a:endParaRPr lang="en-US"/>
          </a:p>
        </p:txBody>
      </p:sp>
      <p:sp>
        <p:nvSpPr>
          <p:cNvPr id="24" name="Text 21"/>
          <p:cNvSpPr/>
          <p:nvPr/>
        </p:nvSpPr>
        <p:spPr>
          <a:xfrm>
            <a:off x="6309360" y="15544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5" name="Text 22"/>
          <p:cNvSpPr/>
          <p:nvPr/>
        </p:nvSpPr>
        <p:spPr>
          <a:xfrm>
            <a:off x="6876288" y="152704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Usability Heuristics</a:t>
            </a:r>
            <a:endParaRPr lang="en-US" sz="1700" dirty="0"/>
          </a:p>
        </p:txBody>
      </p:sp>
      <p:sp>
        <p:nvSpPr>
          <p:cNvPr id="26" name="Shape 23"/>
          <p:cNvSpPr/>
          <p:nvPr/>
        </p:nvSpPr>
        <p:spPr>
          <a:xfrm>
            <a:off x="6309360" y="2423160"/>
            <a:ext cx="384048" cy="384048"/>
          </a:xfrm>
          <a:prstGeom prst="ellipse">
            <a:avLst/>
          </a:prstGeom>
          <a:solidFill>
            <a:srgbClr val="2D6B66"/>
          </a:solidFill>
          <a:ln/>
        </p:spPr>
        <p:txBody>
          <a:bodyPr/>
          <a:lstStyle/>
          <a:p>
            <a:endParaRPr lang="en-US"/>
          </a:p>
        </p:txBody>
      </p:sp>
      <p:sp>
        <p:nvSpPr>
          <p:cNvPr id="27" name="Text 24"/>
          <p:cNvSpPr/>
          <p:nvPr/>
        </p:nvSpPr>
        <p:spPr>
          <a:xfrm>
            <a:off x="6309360" y="24231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8" name="Text 25"/>
          <p:cNvSpPr/>
          <p:nvPr/>
        </p:nvSpPr>
        <p:spPr>
          <a:xfrm>
            <a:off x="6876288" y="239572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Design Considerations for Small Screens</a:t>
            </a:r>
            <a:endParaRPr lang="en-US" sz="1700" dirty="0"/>
          </a:p>
        </p:txBody>
      </p:sp>
      <p:sp>
        <p:nvSpPr>
          <p:cNvPr id="29" name="Shape 26"/>
          <p:cNvSpPr/>
          <p:nvPr/>
        </p:nvSpPr>
        <p:spPr>
          <a:xfrm>
            <a:off x="6309360" y="3291840"/>
            <a:ext cx="384048" cy="384048"/>
          </a:xfrm>
          <a:prstGeom prst="ellipse">
            <a:avLst/>
          </a:prstGeom>
          <a:solidFill>
            <a:srgbClr val="2D6B66"/>
          </a:solidFill>
          <a:ln/>
        </p:spPr>
        <p:txBody>
          <a:bodyPr/>
          <a:lstStyle/>
          <a:p>
            <a:endParaRPr lang="en-US"/>
          </a:p>
        </p:txBody>
      </p:sp>
      <p:sp>
        <p:nvSpPr>
          <p:cNvPr id="30" name="Text 27"/>
          <p:cNvSpPr/>
          <p:nvPr/>
        </p:nvSpPr>
        <p:spPr>
          <a:xfrm>
            <a:off x="6309360" y="32918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1" name="Text 28"/>
          <p:cNvSpPr/>
          <p:nvPr/>
        </p:nvSpPr>
        <p:spPr>
          <a:xfrm>
            <a:off x="6876288" y="326440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Practical Activity 2: Figma to Android Implementation</a:t>
            </a:r>
            <a:endParaRPr lang="en-US" sz="1700" dirty="0"/>
          </a:p>
        </p:txBody>
      </p:sp>
      <p:sp>
        <p:nvSpPr>
          <p:cNvPr id="32" name="Shape 29"/>
          <p:cNvSpPr/>
          <p:nvPr/>
        </p:nvSpPr>
        <p:spPr>
          <a:xfrm>
            <a:off x="6309360" y="4160520"/>
            <a:ext cx="384048" cy="384048"/>
          </a:xfrm>
          <a:prstGeom prst="ellipse">
            <a:avLst/>
          </a:prstGeom>
          <a:solidFill>
            <a:srgbClr val="2D6B66"/>
          </a:solidFill>
          <a:ln/>
        </p:spPr>
        <p:txBody>
          <a:bodyPr/>
          <a:lstStyle/>
          <a:p>
            <a:endParaRPr lang="en-US"/>
          </a:p>
        </p:txBody>
      </p:sp>
      <p:sp>
        <p:nvSpPr>
          <p:cNvPr id="33" name="Text 30"/>
          <p:cNvSpPr/>
          <p:nvPr/>
        </p:nvSpPr>
        <p:spPr>
          <a:xfrm>
            <a:off x="6309360" y="4160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4" name="Text 31"/>
          <p:cNvSpPr/>
          <p:nvPr/>
        </p:nvSpPr>
        <p:spPr>
          <a:xfrm>
            <a:off x="6876288" y="413308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Summary</a:t>
            </a:r>
            <a:endParaRPr lang="en-US" sz="1700" dirty="0"/>
          </a:p>
        </p:txBody>
      </p:sp>
      <p:sp>
        <p:nvSpPr>
          <p:cNvPr id="35" name="Shape 32"/>
          <p:cNvSpPr/>
          <p:nvPr/>
        </p:nvSpPr>
        <p:spPr>
          <a:xfrm>
            <a:off x="6309360" y="5029200"/>
            <a:ext cx="384048" cy="384048"/>
          </a:xfrm>
          <a:prstGeom prst="ellipse">
            <a:avLst/>
          </a:prstGeom>
          <a:solidFill>
            <a:srgbClr val="2D6B66"/>
          </a:solidFill>
          <a:ln/>
        </p:spPr>
        <p:txBody>
          <a:bodyPr/>
          <a:lstStyle/>
          <a:p>
            <a:endParaRPr lang="en-US"/>
          </a:p>
        </p:txBody>
      </p:sp>
      <p:sp>
        <p:nvSpPr>
          <p:cNvPr id="36" name="Text 33"/>
          <p:cNvSpPr/>
          <p:nvPr/>
        </p:nvSpPr>
        <p:spPr>
          <a:xfrm>
            <a:off x="630936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37" name="Text 34"/>
          <p:cNvSpPr/>
          <p:nvPr/>
        </p:nvSpPr>
        <p:spPr>
          <a:xfrm>
            <a:off x="6876288" y="5001768"/>
            <a:ext cx="4828032" cy="365760"/>
          </a:xfrm>
          <a:prstGeom prst="rect">
            <a:avLst/>
          </a:prstGeom>
          <a:noFill/>
          <a:ln/>
        </p:spPr>
        <p:txBody>
          <a:bodyPr wrap="square" lIns="0" tIns="0" rIns="0" bIns="0" rtlCol="0" anchor="t"/>
          <a:lstStyle/>
          <a:p>
            <a:pPr marL="0" indent="0">
              <a:buNone/>
            </a:pPr>
            <a:r>
              <a:rPr lang="en-US" sz="1700" dirty="0">
                <a:solidFill>
                  <a:srgbClr val="262626"/>
                </a:solidFill>
                <a:latin typeface="Calibri" pitchFamily="34" charset="0"/>
                <a:ea typeface="Calibri" pitchFamily="34" charset="-122"/>
                <a:cs typeface="Calibri" pitchFamily="34" charset="-120"/>
              </a:rPr>
              <a:t>Submission Guidelines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Practical Activity 1: Interface Issues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3 / 13</a:t>
            </a:r>
            <a:endParaRPr lang="en-US" sz="1300" dirty="0"/>
          </a:p>
        </p:txBody>
      </p:sp>
      <p:sp>
        <p:nvSpPr>
          <p:cNvPr id="8" name="Text 5"/>
          <p:cNvSpPr/>
          <p:nvPr/>
        </p:nvSpPr>
        <p:spPr>
          <a:xfrm>
            <a:off x="457200" y="1325880"/>
            <a:ext cx="11247120" cy="914400"/>
          </a:xfrm>
          <a:prstGeom prst="rect">
            <a:avLst/>
          </a:prstGeom>
          <a:noFill/>
          <a:ln/>
        </p:spPr>
        <p:txBody>
          <a:bodyPr wrap="square" lIns="0" tIns="0" rIns="0" bIns="0" rtlCol="0" anchor="t"/>
          <a:lstStyle/>
          <a:p>
            <a:pPr marL="0" indent="0">
              <a:lnSpc>
                <a:spcPts val="2100"/>
              </a:lnSpc>
              <a:buNone/>
            </a:pPr>
            <a:r>
              <a:rPr lang="en-US" sz="1600" dirty="0">
                <a:solidFill>
                  <a:srgbClr val="262626"/>
                </a:solidFill>
                <a:latin typeface="Calibri" pitchFamily="34" charset="0"/>
                <a:ea typeface="Calibri" pitchFamily="34" charset="-122"/>
                <a:cs typeface="Calibri" pitchFamily="34" charset="-120"/>
              </a:rPr>
              <a:t>The three screens below belong to QuickCart, a simple shopping app used as a case study throughout this lesson. Examine each screen and identify the usability issues you observe. This activity is completed individually before the discussion. In Practical Activity 2, you will redesign and rebuild these same screens.</a:t>
            </a:r>
            <a:endParaRPr lang="en-US" sz="1600" dirty="0"/>
          </a:p>
        </p:txBody>
      </p:sp>
      <p:sp>
        <p:nvSpPr>
          <p:cNvPr id="9" name="Shape 6"/>
          <p:cNvSpPr/>
          <p:nvPr/>
        </p:nvSpPr>
        <p:spPr>
          <a:xfrm>
            <a:off x="1089508" y="2377440"/>
            <a:ext cx="3063240" cy="3429000"/>
          </a:xfrm>
          <a:prstGeom prst="roundRect">
            <a:avLst>
              <a:gd name="adj" fmla="val 4179"/>
            </a:avLst>
          </a:prstGeom>
          <a:solidFill>
            <a:srgbClr val="FFFFFF"/>
          </a:solidFill>
          <a:ln w="28575">
            <a:solidFill>
              <a:srgbClr val="262626"/>
            </a:solidFill>
            <a:prstDash val="solid"/>
          </a:ln>
        </p:spPr>
        <p:txBody>
          <a:bodyPr/>
          <a:lstStyle/>
          <a:p>
            <a:endParaRPr lang="en-US"/>
          </a:p>
        </p:txBody>
      </p:sp>
      <p:sp>
        <p:nvSpPr>
          <p:cNvPr id="10" name="Text 7"/>
          <p:cNvSpPr/>
          <p:nvPr/>
        </p:nvSpPr>
        <p:spPr>
          <a:xfrm>
            <a:off x="1089508" y="5879592"/>
            <a:ext cx="3063240" cy="32004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Screen A — Checkout</a:t>
            </a:r>
            <a:endParaRPr lang="en-US" sz="1500" dirty="0"/>
          </a:p>
        </p:txBody>
      </p:sp>
      <p:sp>
        <p:nvSpPr>
          <p:cNvPr id="11" name="Shape 8"/>
          <p:cNvSpPr/>
          <p:nvPr/>
        </p:nvSpPr>
        <p:spPr>
          <a:xfrm>
            <a:off x="1235812" y="2542032"/>
            <a:ext cx="2770632" cy="365760"/>
          </a:xfrm>
          <a:prstGeom prst="rect">
            <a:avLst/>
          </a:prstGeom>
          <a:solidFill>
            <a:srgbClr val="2D6B66"/>
          </a:solidFill>
          <a:ln/>
        </p:spPr>
        <p:txBody>
          <a:bodyPr/>
          <a:lstStyle/>
          <a:p>
            <a:endParaRPr lang="en-US"/>
          </a:p>
        </p:txBody>
      </p:sp>
      <p:sp>
        <p:nvSpPr>
          <p:cNvPr id="12" name="Text 9"/>
          <p:cNvSpPr/>
          <p:nvPr/>
        </p:nvSpPr>
        <p:spPr>
          <a:xfrm>
            <a:off x="1235812" y="2542032"/>
            <a:ext cx="2770632"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Checkout</a:t>
            </a:r>
            <a:endParaRPr lang="en-US" sz="1300" dirty="0"/>
          </a:p>
        </p:txBody>
      </p:sp>
      <p:sp>
        <p:nvSpPr>
          <p:cNvPr id="13" name="Shape 10"/>
          <p:cNvSpPr/>
          <p:nvPr/>
        </p:nvSpPr>
        <p:spPr>
          <a:xfrm>
            <a:off x="1235812" y="3429000"/>
            <a:ext cx="2606040" cy="146304"/>
          </a:xfrm>
          <a:prstGeom prst="rect">
            <a:avLst/>
          </a:prstGeom>
          <a:solidFill>
            <a:srgbClr val="C9C9C9"/>
          </a:solidFill>
          <a:ln/>
        </p:spPr>
        <p:txBody>
          <a:bodyPr/>
          <a:lstStyle/>
          <a:p>
            <a:endParaRPr lang="en-US"/>
          </a:p>
        </p:txBody>
      </p:sp>
      <p:sp>
        <p:nvSpPr>
          <p:cNvPr id="14" name="Shape 11"/>
          <p:cNvSpPr/>
          <p:nvPr/>
        </p:nvSpPr>
        <p:spPr>
          <a:xfrm>
            <a:off x="1235812" y="3685032"/>
            <a:ext cx="2606040" cy="146304"/>
          </a:xfrm>
          <a:prstGeom prst="rect">
            <a:avLst/>
          </a:prstGeom>
          <a:solidFill>
            <a:srgbClr val="C9C9C9"/>
          </a:solidFill>
          <a:ln/>
        </p:spPr>
        <p:txBody>
          <a:bodyPr/>
          <a:lstStyle/>
          <a:p>
            <a:endParaRPr lang="en-US"/>
          </a:p>
        </p:txBody>
      </p:sp>
      <p:sp>
        <p:nvSpPr>
          <p:cNvPr id="15" name="Shape 12"/>
          <p:cNvSpPr/>
          <p:nvPr/>
        </p:nvSpPr>
        <p:spPr>
          <a:xfrm>
            <a:off x="1235812" y="3941064"/>
            <a:ext cx="1188720" cy="146304"/>
          </a:xfrm>
          <a:prstGeom prst="rect">
            <a:avLst/>
          </a:prstGeom>
          <a:solidFill>
            <a:srgbClr val="C9C9C9"/>
          </a:solidFill>
          <a:ln/>
        </p:spPr>
        <p:txBody>
          <a:bodyPr/>
          <a:lstStyle/>
          <a:p>
            <a:endParaRPr lang="en-US"/>
          </a:p>
        </p:txBody>
      </p:sp>
      <p:sp>
        <p:nvSpPr>
          <p:cNvPr id="16" name="Shape 13"/>
          <p:cNvSpPr/>
          <p:nvPr/>
        </p:nvSpPr>
        <p:spPr>
          <a:xfrm>
            <a:off x="1235812" y="4343400"/>
            <a:ext cx="256032" cy="256032"/>
          </a:xfrm>
          <a:prstGeom prst="ellipse">
            <a:avLst/>
          </a:prstGeom>
          <a:solidFill>
            <a:srgbClr val="FFFFFF"/>
          </a:solidFill>
          <a:ln w="12700">
            <a:solidFill>
              <a:srgbClr val="262626"/>
            </a:solidFill>
            <a:prstDash val="solid"/>
          </a:ln>
        </p:spPr>
        <p:txBody>
          <a:bodyPr/>
          <a:lstStyle/>
          <a:p>
            <a:endParaRPr lang="en-US"/>
          </a:p>
        </p:txBody>
      </p:sp>
      <p:sp>
        <p:nvSpPr>
          <p:cNvPr id="17" name="Text 14"/>
          <p:cNvSpPr/>
          <p:nvPr/>
        </p:nvSpPr>
        <p:spPr>
          <a:xfrm>
            <a:off x="1235812" y="4315968"/>
            <a:ext cx="256032" cy="256032"/>
          </a:xfrm>
          <a:prstGeom prst="rect">
            <a:avLst/>
          </a:prstGeom>
          <a:noFill/>
          <a:ln/>
        </p:spPr>
        <p:txBody>
          <a:bodyPr wrap="square" lIns="0" tIns="0" rIns="0" bIns="0" rtlCol="0" anchor="ctr"/>
          <a:lstStyle/>
          <a:p>
            <a:pPr marL="0" indent="0" algn="ctr">
              <a:buNone/>
            </a:pPr>
            <a:r>
              <a:rPr lang="en-US" sz="1200" dirty="0">
                <a:solidFill>
                  <a:srgbClr val="262626"/>
                </a:solidFill>
                <a:latin typeface="Calibri" pitchFamily="34" charset="0"/>
                <a:ea typeface="Calibri" pitchFamily="34" charset="-122"/>
                <a:cs typeface="Calibri" pitchFamily="34" charset="-120"/>
              </a:rPr>
              <a:t>-</a:t>
            </a:r>
            <a:endParaRPr lang="en-US" sz="1200" dirty="0"/>
          </a:p>
        </p:txBody>
      </p:sp>
      <p:sp>
        <p:nvSpPr>
          <p:cNvPr id="18" name="Shape 15"/>
          <p:cNvSpPr/>
          <p:nvPr/>
        </p:nvSpPr>
        <p:spPr>
          <a:xfrm>
            <a:off x="1510132" y="4343400"/>
            <a:ext cx="256032" cy="256032"/>
          </a:xfrm>
          <a:prstGeom prst="ellipse">
            <a:avLst/>
          </a:prstGeom>
          <a:solidFill>
            <a:srgbClr val="FFFFFF"/>
          </a:solidFill>
          <a:ln w="12700">
            <a:solidFill>
              <a:srgbClr val="262626"/>
            </a:solidFill>
            <a:prstDash val="solid"/>
          </a:ln>
        </p:spPr>
        <p:txBody>
          <a:bodyPr/>
          <a:lstStyle/>
          <a:p>
            <a:endParaRPr lang="en-US"/>
          </a:p>
        </p:txBody>
      </p:sp>
      <p:sp>
        <p:nvSpPr>
          <p:cNvPr id="19" name="Text 16"/>
          <p:cNvSpPr/>
          <p:nvPr/>
        </p:nvSpPr>
        <p:spPr>
          <a:xfrm>
            <a:off x="1510132" y="4315968"/>
            <a:ext cx="256032" cy="256032"/>
          </a:xfrm>
          <a:prstGeom prst="rect">
            <a:avLst/>
          </a:prstGeom>
          <a:noFill/>
          <a:ln/>
        </p:spPr>
        <p:txBody>
          <a:bodyPr wrap="square" lIns="0" tIns="0" rIns="0" bIns="0" rtlCol="0" anchor="ctr"/>
          <a:lstStyle/>
          <a:p>
            <a:pPr marL="0" indent="0" algn="ctr">
              <a:buNone/>
            </a:pPr>
            <a:r>
              <a:rPr lang="en-US" sz="1200" dirty="0">
                <a:solidFill>
                  <a:srgbClr val="262626"/>
                </a:solidFill>
                <a:latin typeface="Calibri" pitchFamily="34" charset="0"/>
                <a:ea typeface="Calibri" pitchFamily="34" charset="-122"/>
                <a:cs typeface="Calibri" pitchFamily="34" charset="-120"/>
              </a:rPr>
              <a:t>+</a:t>
            </a:r>
            <a:endParaRPr lang="en-US" sz="1200" dirty="0"/>
          </a:p>
        </p:txBody>
      </p:sp>
      <p:sp>
        <p:nvSpPr>
          <p:cNvPr id="20" name="Shape 17"/>
          <p:cNvSpPr/>
          <p:nvPr/>
        </p:nvSpPr>
        <p:spPr>
          <a:xfrm>
            <a:off x="2918308" y="2999232"/>
            <a:ext cx="1005840" cy="347472"/>
          </a:xfrm>
          <a:prstGeom prst="roundRect">
            <a:avLst>
              <a:gd name="adj" fmla="val 15789"/>
            </a:avLst>
          </a:prstGeom>
          <a:solidFill>
            <a:srgbClr val="CFEDE3"/>
          </a:solidFill>
          <a:ln w="15875">
            <a:solidFill>
              <a:srgbClr val="2D6B66"/>
            </a:solidFill>
            <a:prstDash val="solid"/>
          </a:ln>
        </p:spPr>
        <p:txBody>
          <a:bodyPr/>
          <a:lstStyle/>
          <a:p>
            <a:endParaRPr lang="en-US"/>
          </a:p>
        </p:txBody>
      </p:sp>
      <p:sp>
        <p:nvSpPr>
          <p:cNvPr id="21" name="Text 18"/>
          <p:cNvSpPr/>
          <p:nvPr/>
        </p:nvSpPr>
        <p:spPr>
          <a:xfrm>
            <a:off x="2918308" y="2999232"/>
            <a:ext cx="1005840" cy="347472"/>
          </a:xfrm>
          <a:prstGeom prst="rect">
            <a:avLst/>
          </a:prstGeom>
          <a:noFill/>
          <a:ln/>
        </p:spPr>
        <p:txBody>
          <a:bodyPr wrap="square" lIns="0" tIns="0" rIns="0" bIns="0" rtlCol="0" anchor="ctr"/>
          <a:lstStyle/>
          <a:p>
            <a:pPr marL="0" indent="0" algn="ctr">
              <a:buNone/>
            </a:pPr>
            <a:r>
              <a:rPr lang="en-US" sz="1050" b="1" dirty="0">
                <a:solidFill>
                  <a:srgbClr val="2D6B66"/>
                </a:solidFill>
                <a:latin typeface="Calibri" pitchFamily="34" charset="0"/>
                <a:ea typeface="Calibri" pitchFamily="34" charset="-122"/>
                <a:cs typeface="Calibri" pitchFamily="34" charset="-120"/>
              </a:rPr>
              <a:t>Pay Now</a:t>
            </a:r>
            <a:endParaRPr lang="en-US" sz="1050" dirty="0"/>
          </a:p>
        </p:txBody>
      </p:sp>
      <p:sp>
        <p:nvSpPr>
          <p:cNvPr id="22" name="Shape 19"/>
          <p:cNvSpPr/>
          <p:nvPr/>
        </p:nvSpPr>
        <p:spPr>
          <a:xfrm>
            <a:off x="4564228" y="2377440"/>
            <a:ext cx="3063240" cy="3429000"/>
          </a:xfrm>
          <a:prstGeom prst="roundRect">
            <a:avLst>
              <a:gd name="adj" fmla="val 4179"/>
            </a:avLst>
          </a:prstGeom>
          <a:solidFill>
            <a:srgbClr val="FFFFFF"/>
          </a:solidFill>
          <a:ln w="28575">
            <a:solidFill>
              <a:srgbClr val="262626"/>
            </a:solidFill>
            <a:prstDash val="solid"/>
          </a:ln>
        </p:spPr>
        <p:txBody>
          <a:bodyPr/>
          <a:lstStyle/>
          <a:p>
            <a:endParaRPr lang="en-US"/>
          </a:p>
        </p:txBody>
      </p:sp>
      <p:sp>
        <p:nvSpPr>
          <p:cNvPr id="23" name="Text 20"/>
          <p:cNvSpPr/>
          <p:nvPr/>
        </p:nvSpPr>
        <p:spPr>
          <a:xfrm>
            <a:off x="4564228" y="5879592"/>
            <a:ext cx="3063240" cy="32004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Screen B — Settings</a:t>
            </a:r>
            <a:endParaRPr lang="en-US" sz="1500" dirty="0"/>
          </a:p>
        </p:txBody>
      </p:sp>
      <p:sp>
        <p:nvSpPr>
          <p:cNvPr id="24" name="Shape 21"/>
          <p:cNvSpPr/>
          <p:nvPr/>
        </p:nvSpPr>
        <p:spPr>
          <a:xfrm>
            <a:off x="4710532" y="2542032"/>
            <a:ext cx="2770632" cy="365760"/>
          </a:xfrm>
          <a:prstGeom prst="rect">
            <a:avLst/>
          </a:prstGeom>
          <a:solidFill>
            <a:srgbClr val="2D6B66"/>
          </a:solidFill>
          <a:ln/>
        </p:spPr>
        <p:txBody>
          <a:bodyPr/>
          <a:lstStyle/>
          <a:p>
            <a:endParaRPr lang="en-US"/>
          </a:p>
        </p:txBody>
      </p:sp>
      <p:sp>
        <p:nvSpPr>
          <p:cNvPr id="25" name="Text 22"/>
          <p:cNvSpPr/>
          <p:nvPr/>
        </p:nvSpPr>
        <p:spPr>
          <a:xfrm>
            <a:off x="4710532" y="2542032"/>
            <a:ext cx="2770632"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Settings</a:t>
            </a:r>
            <a:endParaRPr lang="en-US" sz="1300" dirty="0"/>
          </a:p>
        </p:txBody>
      </p:sp>
      <p:sp>
        <p:nvSpPr>
          <p:cNvPr id="26" name="Shape 23"/>
          <p:cNvSpPr/>
          <p:nvPr/>
        </p:nvSpPr>
        <p:spPr>
          <a:xfrm>
            <a:off x="4710532" y="2999232"/>
            <a:ext cx="201168" cy="201168"/>
          </a:xfrm>
          <a:prstGeom prst="rect">
            <a:avLst/>
          </a:prstGeom>
          <a:solidFill>
            <a:srgbClr val="50B5AD"/>
          </a:solidFill>
          <a:ln/>
        </p:spPr>
        <p:txBody>
          <a:bodyPr/>
          <a:lstStyle/>
          <a:p>
            <a:endParaRPr lang="en-US"/>
          </a:p>
        </p:txBody>
      </p:sp>
      <p:sp>
        <p:nvSpPr>
          <p:cNvPr id="27" name="Text 24"/>
          <p:cNvSpPr/>
          <p:nvPr/>
        </p:nvSpPr>
        <p:spPr>
          <a:xfrm>
            <a:off x="5003140" y="2971800"/>
            <a:ext cx="2459736"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Account</a:t>
            </a:r>
            <a:endParaRPr lang="en-US" sz="1100" dirty="0"/>
          </a:p>
        </p:txBody>
      </p:sp>
      <p:sp>
        <p:nvSpPr>
          <p:cNvPr id="28" name="Shape 25"/>
          <p:cNvSpPr/>
          <p:nvPr/>
        </p:nvSpPr>
        <p:spPr>
          <a:xfrm>
            <a:off x="4856836" y="3383280"/>
            <a:ext cx="201168" cy="201168"/>
          </a:xfrm>
          <a:prstGeom prst="rect">
            <a:avLst/>
          </a:prstGeom>
          <a:solidFill>
            <a:srgbClr val="50B5AD"/>
          </a:solidFill>
          <a:ln/>
        </p:spPr>
        <p:txBody>
          <a:bodyPr/>
          <a:lstStyle/>
          <a:p>
            <a:endParaRPr lang="en-US"/>
          </a:p>
        </p:txBody>
      </p:sp>
      <p:sp>
        <p:nvSpPr>
          <p:cNvPr id="29" name="Text 26"/>
          <p:cNvSpPr/>
          <p:nvPr/>
        </p:nvSpPr>
        <p:spPr>
          <a:xfrm>
            <a:off x="5149444" y="3355848"/>
            <a:ext cx="2313432"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Notifications</a:t>
            </a:r>
            <a:endParaRPr lang="en-US" sz="1100" dirty="0"/>
          </a:p>
        </p:txBody>
      </p:sp>
      <p:sp>
        <p:nvSpPr>
          <p:cNvPr id="30" name="Shape 27"/>
          <p:cNvSpPr/>
          <p:nvPr/>
        </p:nvSpPr>
        <p:spPr>
          <a:xfrm>
            <a:off x="4710532" y="3767328"/>
            <a:ext cx="201168" cy="201168"/>
          </a:xfrm>
          <a:prstGeom prst="rect">
            <a:avLst/>
          </a:prstGeom>
          <a:solidFill>
            <a:srgbClr val="50B5AD"/>
          </a:solidFill>
          <a:ln/>
        </p:spPr>
        <p:txBody>
          <a:bodyPr/>
          <a:lstStyle/>
          <a:p>
            <a:endParaRPr lang="en-US"/>
          </a:p>
        </p:txBody>
      </p:sp>
      <p:sp>
        <p:nvSpPr>
          <p:cNvPr id="31" name="Text 28"/>
          <p:cNvSpPr/>
          <p:nvPr/>
        </p:nvSpPr>
        <p:spPr>
          <a:xfrm>
            <a:off x="5003140" y="3739896"/>
            <a:ext cx="2459736"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Privacy</a:t>
            </a:r>
            <a:endParaRPr lang="en-US" sz="1100" dirty="0"/>
          </a:p>
        </p:txBody>
      </p:sp>
      <p:sp>
        <p:nvSpPr>
          <p:cNvPr id="32" name="Shape 29"/>
          <p:cNvSpPr/>
          <p:nvPr/>
        </p:nvSpPr>
        <p:spPr>
          <a:xfrm>
            <a:off x="4710532" y="4151376"/>
            <a:ext cx="201168" cy="201168"/>
          </a:xfrm>
          <a:prstGeom prst="rect">
            <a:avLst/>
          </a:prstGeom>
          <a:solidFill>
            <a:srgbClr val="50B5AD"/>
          </a:solidFill>
          <a:ln/>
        </p:spPr>
        <p:txBody>
          <a:bodyPr/>
          <a:lstStyle/>
          <a:p>
            <a:endParaRPr lang="en-US"/>
          </a:p>
        </p:txBody>
      </p:sp>
      <p:sp>
        <p:nvSpPr>
          <p:cNvPr id="33" name="Text 30"/>
          <p:cNvSpPr/>
          <p:nvPr/>
        </p:nvSpPr>
        <p:spPr>
          <a:xfrm>
            <a:off x="5003140" y="4123944"/>
            <a:ext cx="2459736"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Storage</a:t>
            </a:r>
            <a:endParaRPr lang="en-US" sz="1100" dirty="0"/>
          </a:p>
        </p:txBody>
      </p:sp>
      <p:sp>
        <p:nvSpPr>
          <p:cNvPr id="34" name="Shape 31"/>
          <p:cNvSpPr/>
          <p:nvPr/>
        </p:nvSpPr>
        <p:spPr>
          <a:xfrm>
            <a:off x="4856836" y="4535424"/>
            <a:ext cx="201168" cy="201168"/>
          </a:xfrm>
          <a:prstGeom prst="rect">
            <a:avLst/>
          </a:prstGeom>
          <a:solidFill>
            <a:srgbClr val="50B5AD"/>
          </a:solidFill>
          <a:ln/>
        </p:spPr>
        <p:txBody>
          <a:bodyPr/>
          <a:lstStyle/>
          <a:p>
            <a:endParaRPr lang="en-US"/>
          </a:p>
        </p:txBody>
      </p:sp>
      <p:sp>
        <p:nvSpPr>
          <p:cNvPr id="35" name="Text 32"/>
          <p:cNvSpPr/>
          <p:nvPr/>
        </p:nvSpPr>
        <p:spPr>
          <a:xfrm>
            <a:off x="5149444" y="4507992"/>
            <a:ext cx="2313432"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Language</a:t>
            </a:r>
            <a:endParaRPr lang="en-US" sz="1100" dirty="0"/>
          </a:p>
        </p:txBody>
      </p:sp>
      <p:sp>
        <p:nvSpPr>
          <p:cNvPr id="36" name="Shape 33"/>
          <p:cNvSpPr/>
          <p:nvPr/>
        </p:nvSpPr>
        <p:spPr>
          <a:xfrm>
            <a:off x="4710532" y="4919472"/>
            <a:ext cx="201168" cy="201168"/>
          </a:xfrm>
          <a:prstGeom prst="rect">
            <a:avLst/>
          </a:prstGeom>
          <a:solidFill>
            <a:srgbClr val="50B5AD"/>
          </a:solidFill>
          <a:ln/>
        </p:spPr>
        <p:txBody>
          <a:bodyPr/>
          <a:lstStyle/>
          <a:p>
            <a:endParaRPr lang="en-US"/>
          </a:p>
        </p:txBody>
      </p:sp>
      <p:sp>
        <p:nvSpPr>
          <p:cNvPr id="37" name="Text 34"/>
          <p:cNvSpPr/>
          <p:nvPr/>
        </p:nvSpPr>
        <p:spPr>
          <a:xfrm>
            <a:off x="5003140" y="4892040"/>
            <a:ext cx="2459736"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About</a:t>
            </a:r>
            <a:endParaRPr lang="en-US" sz="1100" dirty="0"/>
          </a:p>
        </p:txBody>
      </p:sp>
      <p:sp>
        <p:nvSpPr>
          <p:cNvPr id="38" name="Shape 35"/>
          <p:cNvSpPr/>
          <p:nvPr/>
        </p:nvSpPr>
        <p:spPr>
          <a:xfrm>
            <a:off x="4710532" y="5303520"/>
            <a:ext cx="201168" cy="201168"/>
          </a:xfrm>
          <a:prstGeom prst="rect">
            <a:avLst/>
          </a:prstGeom>
          <a:solidFill>
            <a:srgbClr val="50B5AD"/>
          </a:solidFill>
          <a:ln/>
        </p:spPr>
        <p:txBody>
          <a:bodyPr/>
          <a:lstStyle/>
          <a:p>
            <a:endParaRPr lang="en-US"/>
          </a:p>
        </p:txBody>
      </p:sp>
      <p:sp>
        <p:nvSpPr>
          <p:cNvPr id="39" name="Text 36"/>
          <p:cNvSpPr/>
          <p:nvPr/>
        </p:nvSpPr>
        <p:spPr>
          <a:xfrm>
            <a:off x="5003140" y="5276088"/>
            <a:ext cx="2459736" cy="256032"/>
          </a:xfrm>
          <a:prstGeom prst="rect">
            <a:avLst/>
          </a:prstGeom>
          <a:noFill/>
          <a:ln/>
        </p:spPr>
        <p:txBody>
          <a:bodyPr wrap="square" lIns="0" tIns="0" rIns="0" bIns="0" rtlCol="0" anchor="ctr"/>
          <a:lstStyle/>
          <a:p>
            <a:pPr marL="0" indent="0">
              <a:buNone/>
            </a:pPr>
            <a:r>
              <a:rPr lang="en-US" sz="1100" dirty="0">
                <a:solidFill>
                  <a:srgbClr val="262626"/>
                </a:solidFill>
                <a:latin typeface="Calibri" pitchFamily="34" charset="0"/>
                <a:ea typeface="Calibri" pitchFamily="34" charset="-122"/>
                <a:cs typeface="Calibri" pitchFamily="34" charset="-120"/>
              </a:rPr>
              <a:t>Help</a:t>
            </a:r>
            <a:endParaRPr lang="en-US" sz="1100" dirty="0"/>
          </a:p>
        </p:txBody>
      </p:sp>
      <p:sp>
        <p:nvSpPr>
          <p:cNvPr id="40" name="Shape 37"/>
          <p:cNvSpPr/>
          <p:nvPr/>
        </p:nvSpPr>
        <p:spPr>
          <a:xfrm>
            <a:off x="8038948" y="2377440"/>
            <a:ext cx="3063240" cy="3429000"/>
          </a:xfrm>
          <a:prstGeom prst="roundRect">
            <a:avLst>
              <a:gd name="adj" fmla="val 4179"/>
            </a:avLst>
          </a:prstGeom>
          <a:solidFill>
            <a:srgbClr val="FFFFFF"/>
          </a:solidFill>
          <a:ln w="28575">
            <a:solidFill>
              <a:srgbClr val="262626"/>
            </a:solidFill>
            <a:prstDash val="solid"/>
          </a:ln>
        </p:spPr>
        <p:txBody>
          <a:bodyPr/>
          <a:lstStyle/>
          <a:p>
            <a:endParaRPr lang="en-US"/>
          </a:p>
        </p:txBody>
      </p:sp>
      <p:sp>
        <p:nvSpPr>
          <p:cNvPr id="41" name="Text 38"/>
          <p:cNvSpPr/>
          <p:nvPr/>
        </p:nvSpPr>
        <p:spPr>
          <a:xfrm>
            <a:off x="8038948" y="5879592"/>
            <a:ext cx="3063240" cy="32004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Screen C — Sign Up</a:t>
            </a:r>
            <a:endParaRPr lang="en-US" sz="1500" dirty="0"/>
          </a:p>
        </p:txBody>
      </p:sp>
      <p:sp>
        <p:nvSpPr>
          <p:cNvPr id="42" name="Shape 39"/>
          <p:cNvSpPr/>
          <p:nvPr/>
        </p:nvSpPr>
        <p:spPr>
          <a:xfrm>
            <a:off x="8185252" y="2542032"/>
            <a:ext cx="2770632" cy="365760"/>
          </a:xfrm>
          <a:prstGeom prst="rect">
            <a:avLst/>
          </a:prstGeom>
          <a:solidFill>
            <a:srgbClr val="2D6B66"/>
          </a:solidFill>
          <a:ln/>
        </p:spPr>
        <p:txBody>
          <a:bodyPr/>
          <a:lstStyle/>
          <a:p>
            <a:endParaRPr lang="en-US"/>
          </a:p>
        </p:txBody>
      </p:sp>
      <p:sp>
        <p:nvSpPr>
          <p:cNvPr id="43" name="Text 40"/>
          <p:cNvSpPr/>
          <p:nvPr/>
        </p:nvSpPr>
        <p:spPr>
          <a:xfrm>
            <a:off x="8185252" y="2542032"/>
            <a:ext cx="2770632" cy="3657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Sign Up</a:t>
            </a:r>
            <a:endParaRPr lang="en-US" sz="1300" dirty="0"/>
          </a:p>
        </p:txBody>
      </p:sp>
      <p:sp>
        <p:nvSpPr>
          <p:cNvPr id="44" name="Shape 41"/>
          <p:cNvSpPr/>
          <p:nvPr/>
        </p:nvSpPr>
        <p:spPr>
          <a:xfrm>
            <a:off x="8185252" y="3035808"/>
            <a:ext cx="2770632" cy="347472"/>
          </a:xfrm>
          <a:prstGeom prst="rect">
            <a:avLst/>
          </a:prstGeom>
          <a:solidFill>
            <a:srgbClr val="FFFFFF"/>
          </a:solidFill>
          <a:ln w="12700">
            <a:solidFill>
              <a:srgbClr val="595959"/>
            </a:solidFill>
            <a:prstDash val="solid"/>
          </a:ln>
        </p:spPr>
        <p:txBody>
          <a:bodyPr/>
          <a:lstStyle/>
          <a:p>
            <a:endParaRPr lang="en-US"/>
          </a:p>
        </p:txBody>
      </p:sp>
      <p:sp>
        <p:nvSpPr>
          <p:cNvPr id="45" name="Text 42"/>
          <p:cNvSpPr/>
          <p:nvPr/>
        </p:nvSpPr>
        <p:spPr>
          <a:xfrm>
            <a:off x="8276692" y="3035808"/>
            <a:ext cx="2606040" cy="347472"/>
          </a:xfrm>
          <a:prstGeom prst="rect">
            <a:avLst/>
          </a:prstGeom>
          <a:noFill/>
          <a:ln/>
        </p:spPr>
        <p:txBody>
          <a:bodyPr wrap="square" lIns="0" tIns="0" rIns="0" bIns="0" rtlCol="0" anchor="ctr"/>
          <a:lstStyle/>
          <a:p>
            <a:pPr marL="0" indent="0">
              <a:buNone/>
            </a:pPr>
            <a:r>
              <a:rPr lang="en-US" sz="1050" dirty="0">
                <a:solidFill>
                  <a:srgbClr val="595959"/>
                </a:solidFill>
                <a:latin typeface="Calibri" pitchFamily="34" charset="0"/>
                <a:ea typeface="Calibri" pitchFamily="34" charset="-122"/>
                <a:cs typeface="Calibri" pitchFamily="34" charset="-120"/>
              </a:rPr>
              <a:t>Name</a:t>
            </a:r>
            <a:endParaRPr lang="en-US" sz="1050" dirty="0"/>
          </a:p>
        </p:txBody>
      </p:sp>
      <p:sp>
        <p:nvSpPr>
          <p:cNvPr id="46" name="Shape 43"/>
          <p:cNvSpPr/>
          <p:nvPr/>
        </p:nvSpPr>
        <p:spPr>
          <a:xfrm>
            <a:off x="8185252" y="3538728"/>
            <a:ext cx="2770632" cy="347472"/>
          </a:xfrm>
          <a:prstGeom prst="rect">
            <a:avLst/>
          </a:prstGeom>
          <a:solidFill>
            <a:srgbClr val="FFFFFF"/>
          </a:solidFill>
          <a:ln w="12700">
            <a:solidFill>
              <a:srgbClr val="595959"/>
            </a:solidFill>
            <a:prstDash val="solid"/>
          </a:ln>
        </p:spPr>
        <p:txBody>
          <a:bodyPr/>
          <a:lstStyle/>
          <a:p>
            <a:endParaRPr lang="en-US"/>
          </a:p>
        </p:txBody>
      </p:sp>
      <p:sp>
        <p:nvSpPr>
          <p:cNvPr id="47" name="Text 44"/>
          <p:cNvSpPr/>
          <p:nvPr/>
        </p:nvSpPr>
        <p:spPr>
          <a:xfrm>
            <a:off x="8276692" y="3538728"/>
            <a:ext cx="2606040" cy="347472"/>
          </a:xfrm>
          <a:prstGeom prst="rect">
            <a:avLst/>
          </a:prstGeom>
          <a:noFill/>
          <a:ln/>
        </p:spPr>
        <p:txBody>
          <a:bodyPr wrap="square" lIns="0" tIns="0" rIns="0" bIns="0" rtlCol="0" anchor="ctr"/>
          <a:lstStyle/>
          <a:p>
            <a:pPr marL="0" indent="0">
              <a:buNone/>
            </a:pPr>
            <a:r>
              <a:rPr lang="en-US" sz="1050" dirty="0">
                <a:solidFill>
                  <a:srgbClr val="595959"/>
                </a:solidFill>
                <a:latin typeface="Calibri" pitchFamily="34" charset="0"/>
                <a:ea typeface="Calibri" pitchFamily="34" charset="-122"/>
                <a:cs typeface="Calibri" pitchFamily="34" charset="-120"/>
              </a:rPr>
              <a:t>Email</a:t>
            </a:r>
            <a:endParaRPr lang="en-US" sz="1050" dirty="0"/>
          </a:p>
        </p:txBody>
      </p:sp>
      <p:sp>
        <p:nvSpPr>
          <p:cNvPr id="48" name="Shape 45"/>
          <p:cNvSpPr/>
          <p:nvPr/>
        </p:nvSpPr>
        <p:spPr>
          <a:xfrm>
            <a:off x="8185252" y="4041648"/>
            <a:ext cx="2770632" cy="347472"/>
          </a:xfrm>
          <a:prstGeom prst="rect">
            <a:avLst/>
          </a:prstGeom>
          <a:solidFill>
            <a:srgbClr val="FFFFFF"/>
          </a:solidFill>
          <a:ln w="12700">
            <a:solidFill>
              <a:srgbClr val="595959"/>
            </a:solidFill>
            <a:prstDash val="solid"/>
          </a:ln>
        </p:spPr>
        <p:txBody>
          <a:bodyPr/>
          <a:lstStyle/>
          <a:p>
            <a:endParaRPr lang="en-US"/>
          </a:p>
        </p:txBody>
      </p:sp>
      <p:sp>
        <p:nvSpPr>
          <p:cNvPr id="49" name="Text 46"/>
          <p:cNvSpPr/>
          <p:nvPr/>
        </p:nvSpPr>
        <p:spPr>
          <a:xfrm>
            <a:off x="8276692" y="4041648"/>
            <a:ext cx="2606040" cy="347472"/>
          </a:xfrm>
          <a:prstGeom prst="rect">
            <a:avLst/>
          </a:prstGeom>
          <a:noFill/>
          <a:ln/>
        </p:spPr>
        <p:txBody>
          <a:bodyPr wrap="square" lIns="0" tIns="0" rIns="0" bIns="0" rtlCol="0" anchor="ctr"/>
          <a:lstStyle/>
          <a:p>
            <a:pPr marL="0" indent="0">
              <a:buNone/>
            </a:pPr>
            <a:r>
              <a:rPr lang="en-US" sz="1050" dirty="0">
                <a:solidFill>
                  <a:srgbClr val="595959"/>
                </a:solidFill>
                <a:latin typeface="Calibri" pitchFamily="34" charset="0"/>
                <a:ea typeface="Calibri" pitchFamily="34" charset="-122"/>
                <a:cs typeface="Calibri" pitchFamily="34" charset="-120"/>
              </a:rPr>
              <a:t>Password</a:t>
            </a:r>
            <a:endParaRPr lang="en-US" sz="1050" dirty="0"/>
          </a:p>
        </p:txBody>
      </p:sp>
      <p:sp>
        <p:nvSpPr>
          <p:cNvPr id="50" name="Shape 47"/>
          <p:cNvSpPr/>
          <p:nvPr/>
        </p:nvSpPr>
        <p:spPr>
          <a:xfrm>
            <a:off x="8185252" y="4663440"/>
            <a:ext cx="2770632" cy="384048"/>
          </a:xfrm>
          <a:prstGeom prst="roundRect">
            <a:avLst>
              <a:gd name="adj" fmla="val 11905"/>
            </a:avLst>
          </a:prstGeom>
          <a:solidFill>
            <a:srgbClr val="CFEDE3"/>
          </a:solidFill>
          <a:ln w="15875">
            <a:solidFill>
              <a:srgbClr val="2D6B66"/>
            </a:solidFill>
            <a:prstDash val="solid"/>
          </a:ln>
        </p:spPr>
        <p:txBody>
          <a:bodyPr/>
          <a:lstStyle/>
          <a:p>
            <a:endParaRPr lang="en-US"/>
          </a:p>
        </p:txBody>
      </p:sp>
      <p:sp>
        <p:nvSpPr>
          <p:cNvPr id="51" name="Text 48"/>
          <p:cNvSpPr/>
          <p:nvPr/>
        </p:nvSpPr>
        <p:spPr>
          <a:xfrm>
            <a:off x="8185252" y="4663440"/>
            <a:ext cx="2770632" cy="384048"/>
          </a:xfrm>
          <a:prstGeom prst="rect">
            <a:avLst/>
          </a:prstGeom>
          <a:noFill/>
          <a:ln/>
        </p:spPr>
        <p:txBody>
          <a:bodyPr wrap="square" lIns="0" tIns="0" rIns="0" bIns="0" rtlCol="0" anchor="ctr"/>
          <a:lstStyle/>
          <a:p>
            <a:pPr marL="0" indent="0" algn="ctr">
              <a:buNone/>
            </a:pPr>
            <a:r>
              <a:rPr lang="en-US" sz="1100" b="1" dirty="0">
                <a:solidFill>
                  <a:srgbClr val="2D6B66"/>
                </a:solidFill>
                <a:latin typeface="Calibri" pitchFamily="34" charset="0"/>
                <a:ea typeface="Calibri" pitchFamily="34" charset="-122"/>
                <a:cs typeface="Calibri" pitchFamily="34" charset="-120"/>
              </a:rPr>
              <a:t>Create Account</a:t>
            </a:r>
            <a:endParaRPr lang="en-US" sz="1100" dirty="0"/>
          </a:p>
        </p:txBody>
      </p:sp>
      <p:sp>
        <p:nvSpPr>
          <p:cNvPr id="52" name="Text 49"/>
          <p:cNvSpPr/>
          <p:nvPr/>
        </p:nvSpPr>
        <p:spPr>
          <a:xfrm>
            <a:off x="8185252" y="5257800"/>
            <a:ext cx="2770632" cy="274320"/>
          </a:xfrm>
          <a:prstGeom prst="rect">
            <a:avLst/>
          </a:prstGeom>
          <a:noFill/>
          <a:ln/>
        </p:spPr>
        <p:txBody>
          <a:bodyPr wrap="square" lIns="0" tIns="0" rIns="0" bIns="0" rtlCol="0" anchor="ctr"/>
          <a:lstStyle/>
          <a:p>
            <a:pPr marL="0" indent="0">
              <a:buNone/>
            </a:pPr>
            <a:r>
              <a:rPr lang="en-US" sz="1200" b="1" dirty="0">
                <a:solidFill>
                  <a:srgbClr val="660000"/>
                </a:solidFill>
                <a:latin typeface="Calibri" pitchFamily="34" charset="0"/>
                <a:ea typeface="Calibri" pitchFamily="34" charset="-122"/>
                <a:cs typeface="Calibri" pitchFamily="34" charset="-120"/>
              </a:rPr>
              <a:t>Error!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The User Interface Design Process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4 / 13</a:t>
            </a:r>
            <a:endParaRPr lang="en-US" sz="1300" dirty="0"/>
          </a:p>
        </p:txBody>
      </p:sp>
      <p:sp>
        <p:nvSpPr>
          <p:cNvPr id="8" name="Text 5"/>
          <p:cNvSpPr/>
          <p:nvPr/>
        </p:nvSpPr>
        <p:spPr>
          <a:xfrm>
            <a:off x="457200" y="1371600"/>
            <a:ext cx="11247120" cy="640080"/>
          </a:xfrm>
          <a:prstGeom prst="rect">
            <a:avLst/>
          </a:prstGeom>
          <a:noFill/>
          <a:ln/>
        </p:spPr>
        <p:txBody>
          <a:bodyPr wrap="square" lIns="0" tIns="0" rIns="0" bIns="0" rtlCol="0" anchor="t"/>
          <a:lstStyle/>
          <a:p>
            <a:pPr marL="0" indent="0">
              <a:lnSpc>
                <a:spcPts val="2200"/>
              </a:lnSpc>
              <a:buNone/>
            </a:pPr>
            <a:r>
              <a:rPr lang="en-US" sz="1700" dirty="0">
                <a:solidFill>
                  <a:srgbClr val="262626"/>
                </a:solidFill>
                <a:latin typeface="Calibri" pitchFamily="34" charset="0"/>
                <a:ea typeface="Calibri" pitchFamily="34" charset="-122"/>
                <a:cs typeface="Calibri" pitchFamily="34" charset="-120"/>
              </a:rPr>
              <a:t>The design of an application flow is carried out in three stages, shown below. Earlier stages are revisited as required based on feedback from later stages.</a:t>
            </a:r>
            <a:endParaRPr lang="en-US" sz="1700" dirty="0"/>
          </a:p>
        </p:txBody>
      </p:sp>
      <p:sp>
        <p:nvSpPr>
          <p:cNvPr id="9" name="Shape 6"/>
          <p:cNvSpPr/>
          <p:nvPr/>
        </p:nvSpPr>
        <p:spPr>
          <a:xfrm>
            <a:off x="883768" y="2514600"/>
            <a:ext cx="3017520" cy="1737360"/>
          </a:xfrm>
          <a:prstGeom prst="roundRect">
            <a:avLst>
              <a:gd name="adj" fmla="val 2632"/>
            </a:avLst>
          </a:prstGeom>
          <a:solidFill>
            <a:srgbClr val="FFFFFF"/>
          </a:solidFill>
          <a:ln w="25400">
            <a:solidFill>
              <a:srgbClr val="2D6B66"/>
            </a:solidFill>
            <a:prstDash val="solid"/>
          </a:ln>
        </p:spPr>
        <p:txBody>
          <a:bodyPr/>
          <a:lstStyle/>
          <a:p>
            <a:endParaRPr lang="en-US"/>
          </a:p>
        </p:txBody>
      </p:sp>
      <p:sp>
        <p:nvSpPr>
          <p:cNvPr id="10" name="Text 7"/>
          <p:cNvSpPr/>
          <p:nvPr/>
        </p:nvSpPr>
        <p:spPr>
          <a:xfrm>
            <a:off x="1066648" y="2651760"/>
            <a:ext cx="548640" cy="457200"/>
          </a:xfrm>
          <a:prstGeom prst="rect">
            <a:avLst/>
          </a:prstGeom>
          <a:noFill/>
          <a:ln/>
        </p:spPr>
        <p:txBody>
          <a:bodyPr wrap="square" lIns="0" tIns="0" rIns="0" bIns="0" rtlCol="0" anchor="ctr"/>
          <a:lstStyle/>
          <a:p>
            <a:pPr marL="0" indent="0">
              <a:buNone/>
            </a:pPr>
            <a:r>
              <a:rPr lang="en-US" sz="2000" b="1" dirty="0">
                <a:solidFill>
                  <a:srgbClr val="2D6B66"/>
                </a:solidFill>
                <a:latin typeface="Calibri" pitchFamily="34" charset="0"/>
                <a:ea typeface="Calibri" pitchFamily="34" charset="-122"/>
                <a:cs typeface="Calibri" pitchFamily="34" charset="-120"/>
              </a:rPr>
              <a:t>1</a:t>
            </a:r>
            <a:endParaRPr lang="en-US" sz="2000" dirty="0"/>
          </a:p>
        </p:txBody>
      </p:sp>
      <p:sp>
        <p:nvSpPr>
          <p:cNvPr id="11" name="Text 8"/>
          <p:cNvSpPr/>
          <p:nvPr/>
        </p:nvSpPr>
        <p:spPr>
          <a:xfrm>
            <a:off x="1066648" y="3063240"/>
            <a:ext cx="2651760" cy="457200"/>
          </a:xfrm>
          <a:prstGeom prst="rect">
            <a:avLst/>
          </a:prstGeom>
          <a:noFill/>
          <a:ln/>
        </p:spPr>
        <p:txBody>
          <a:bodyPr wrap="square" lIns="0" tIns="0" rIns="0" bIns="0" rtlCol="0" anchor="ctr"/>
          <a:lstStyle/>
          <a:p>
            <a:pPr marL="0" indent="0">
              <a:buNone/>
            </a:pPr>
            <a:r>
              <a:rPr lang="en-US" sz="2200" b="1" dirty="0">
                <a:solidFill>
                  <a:srgbClr val="262626"/>
                </a:solidFill>
                <a:latin typeface="Calibri Light" pitchFamily="34" charset="0"/>
                <a:ea typeface="Calibri Light" pitchFamily="34" charset="-122"/>
                <a:cs typeface="Calibri Light" pitchFamily="34" charset="-120"/>
              </a:rPr>
              <a:t>Wireframe</a:t>
            </a:r>
            <a:endParaRPr lang="en-US" sz="2200" dirty="0"/>
          </a:p>
        </p:txBody>
      </p:sp>
      <p:sp>
        <p:nvSpPr>
          <p:cNvPr id="12" name="Text 9"/>
          <p:cNvSpPr/>
          <p:nvPr/>
        </p:nvSpPr>
        <p:spPr>
          <a:xfrm>
            <a:off x="1066648" y="3566160"/>
            <a:ext cx="2651760" cy="594360"/>
          </a:xfrm>
          <a:prstGeom prst="rect">
            <a:avLst/>
          </a:prstGeom>
          <a:noFill/>
          <a:ln/>
        </p:spPr>
        <p:txBody>
          <a:bodyPr wrap="square" lIns="0" tIns="0" rIns="0" bIns="0" rtlCol="0" anchor="ctr"/>
          <a:lstStyle/>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Sketch structure and</a:t>
            </a:r>
            <a:endParaRPr lang="en-US" sz="1600" dirty="0"/>
          </a:p>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content placement</a:t>
            </a:r>
            <a:endParaRPr lang="en-US" sz="1600" dirty="0"/>
          </a:p>
        </p:txBody>
      </p:sp>
      <p:sp>
        <p:nvSpPr>
          <p:cNvPr id="13" name="Text 10"/>
          <p:cNvSpPr/>
          <p:nvPr/>
        </p:nvSpPr>
        <p:spPr>
          <a:xfrm>
            <a:off x="3901288" y="3017520"/>
            <a:ext cx="685800" cy="731520"/>
          </a:xfrm>
          <a:prstGeom prst="rect">
            <a:avLst/>
          </a:prstGeom>
          <a:noFill/>
          <a:ln/>
        </p:spPr>
        <p:txBody>
          <a:bodyPr wrap="square" lIns="0" tIns="0" rIns="0" bIns="0" rtlCol="0" anchor="ctr"/>
          <a:lstStyle/>
          <a:p>
            <a:pPr marL="0" indent="0" algn="ctr">
              <a:buNone/>
            </a:pPr>
            <a:r>
              <a:rPr lang="en-US" sz="2800" dirty="0">
                <a:solidFill>
                  <a:srgbClr val="595959"/>
                </a:solidFill>
                <a:latin typeface="Calibri" pitchFamily="34" charset="0"/>
                <a:ea typeface="Calibri" pitchFamily="34" charset="-122"/>
                <a:cs typeface="Calibri" pitchFamily="34" charset="-120"/>
              </a:rPr>
              <a:t>→</a:t>
            </a:r>
            <a:endParaRPr lang="en-US" sz="2800" dirty="0"/>
          </a:p>
        </p:txBody>
      </p:sp>
      <p:sp>
        <p:nvSpPr>
          <p:cNvPr id="14" name="Shape 11"/>
          <p:cNvSpPr/>
          <p:nvPr/>
        </p:nvSpPr>
        <p:spPr>
          <a:xfrm>
            <a:off x="4587088" y="2514600"/>
            <a:ext cx="3017520" cy="1737360"/>
          </a:xfrm>
          <a:prstGeom prst="roundRect">
            <a:avLst>
              <a:gd name="adj" fmla="val 2632"/>
            </a:avLst>
          </a:prstGeom>
          <a:solidFill>
            <a:srgbClr val="FFFFFF"/>
          </a:solidFill>
          <a:ln w="25400">
            <a:solidFill>
              <a:srgbClr val="50B5AD"/>
            </a:solidFill>
            <a:prstDash val="solid"/>
          </a:ln>
        </p:spPr>
        <p:txBody>
          <a:bodyPr/>
          <a:lstStyle/>
          <a:p>
            <a:endParaRPr lang="en-US"/>
          </a:p>
        </p:txBody>
      </p:sp>
      <p:sp>
        <p:nvSpPr>
          <p:cNvPr id="15" name="Text 12"/>
          <p:cNvSpPr/>
          <p:nvPr/>
        </p:nvSpPr>
        <p:spPr>
          <a:xfrm>
            <a:off x="4769968" y="2651760"/>
            <a:ext cx="548640" cy="457200"/>
          </a:xfrm>
          <a:prstGeom prst="rect">
            <a:avLst/>
          </a:prstGeom>
          <a:noFill/>
          <a:ln/>
        </p:spPr>
        <p:txBody>
          <a:bodyPr wrap="square" lIns="0" tIns="0" rIns="0" bIns="0" rtlCol="0" anchor="ctr"/>
          <a:lstStyle/>
          <a:p>
            <a:pPr marL="0" indent="0">
              <a:buNone/>
            </a:pPr>
            <a:r>
              <a:rPr lang="en-US" sz="2000" b="1" dirty="0">
                <a:solidFill>
                  <a:srgbClr val="50B5AD"/>
                </a:solidFill>
                <a:latin typeface="Calibri" pitchFamily="34" charset="0"/>
                <a:ea typeface="Calibri" pitchFamily="34" charset="-122"/>
                <a:cs typeface="Calibri" pitchFamily="34" charset="-120"/>
              </a:rPr>
              <a:t>2</a:t>
            </a:r>
            <a:endParaRPr lang="en-US" sz="2000" dirty="0"/>
          </a:p>
        </p:txBody>
      </p:sp>
      <p:sp>
        <p:nvSpPr>
          <p:cNvPr id="16" name="Text 13"/>
          <p:cNvSpPr/>
          <p:nvPr/>
        </p:nvSpPr>
        <p:spPr>
          <a:xfrm>
            <a:off x="4769968" y="3063240"/>
            <a:ext cx="2651760" cy="457200"/>
          </a:xfrm>
          <a:prstGeom prst="rect">
            <a:avLst/>
          </a:prstGeom>
          <a:noFill/>
          <a:ln/>
        </p:spPr>
        <p:txBody>
          <a:bodyPr wrap="square" lIns="0" tIns="0" rIns="0" bIns="0" rtlCol="0" anchor="ctr"/>
          <a:lstStyle/>
          <a:p>
            <a:pPr marL="0" indent="0">
              <a:buNone/>
            </a:pPr>
            <a:r>
              <a:rPr lang="en-US" sz="2200" b="1" dirty="0">
                <a:solidFill>
                  <a:srgbClr val="262626"/>
                </a:solidFill>
                <a:latin typeface="Calibri Light" pitchFamily="34" charset="0"/>
                <a:ea typeface="Calibri Light" pitchFamily="34" charset="-122"/>
                <a:cs typeface="Calibri Light" pitchFamily="34" charset="-120"/>
              </a:rPr>
              <a:t>Prototype</a:t>
            </a:r>
            <a:endParaRPr lang="en-US" sz="2200" dirty="0"/>
          </a:p>
        </p:txBody>
      </p:sp>
      <p:sp>
        <p:nvSpPr>
          <p:cNvPr id="17" name="Text 14"/>
          <p:cNvSpPr/>
          <p:nvPr/>
        </p:nvSpPr>
        <p:spPr>
          <a:xfrm>
            <a:off x="4769968" y="3566160"/>
            <a:ext cx="2651760" cy="594360"/>
          </a:xfrm>
          <a:prstGeom prst="rect">
            <a:avLst/>
          </a:prstGeom>
          <a:noFill/>
          <a:ln/>
        </p:spPr>
        <p:txBody>
          <a:bodyPr wrap="square" lIns="0" tIns="0" rIns="0" bIns="0" rtlCol="0" anchor="ctr"/>
          <a:lstStyle/>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Connect screens to</a:t>
            </a:r>
            <a:endParaRPr lang="en-US" sz="1600" dirty="0"/>
          </a:p>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simulate the flow</a:t>
            </a:r>
            <a:endParaRPr lang="en-US" sz="1600" dirty="0"/>
          </a:p>
        </p:txBody>
      </p:sp>
      <p:sp>
        <p:nvSpPr>
          <p:cNvPr id="18" name="Text 15"/>
          <p:cNvSpPr/>
          <p:nvPr/>
        </p:nvSpPr>
        <p:spPr>
          <a:xfrm>
            <a:off x="7604608" y="3017520"/>
            <a:ext cx="685800" cy="731520"/>
          </a:xfrm>
          <a:prstGeom prst="rect">
            <a:avLst/>
          </a:prstGeom>
          <a:noFill/>
          <a:ln/>
        </p:spPr>
        <p:txBody>
          <a:bodyPr wrap="square" lIns="0" tIns="0" rIns="0" bIns="0" rtlCol="0" anchor="ctr"/>
          <a:lstStyle/>
          <a:p>
            <a:pPr marL="0" indent="0" algn="ctr">
              <a:buNone/>
            </a:pPr>
            <a:r>
              <a:rPr lang="en-US" sz="2800" dirty="0">
                <a:solidFill>
                  <a:srgbClr val="595959"/>
                </a:solidFill>
                <a:latin typeface="Calibri" pitchFamily="34" charset="0"/>
                <a:ea typeface="Calibri" pitchFamily="34" charset="-122"/>
                <a:cs typeface="Calibri" pitchFamily="34" charset="-120"/>
              </a:rPr>
              <a:t>→</a:t>
            </a:r>
            <a:endParaRPr lang="en-US" sz="2800" dirty="0"/>
          </a:p>
        </p:txBody>
      </p:sp>
      <p:sp>
        <p:nvSpPr>
          <p:cNvPr id="19" name="Shape 16"/>
          <p:cNvSpPr/>
          <p:nvPr/>
        </p:nvSpPr>
        <p:spPr>
          <a:xfrm>
            <a:off x="8290408" y="2514600"/>
            <a:ext cx="3017520" cy="1737360"/>
          </a:xfrm>
          <a:prstGeom prst="roundRect">
            <a:avLst>
              <a:gd name="adj" fmla="val 2632"/>
            </a:avLst>
          </a:prstGeom>
          <a:solidFill>
            <a:srgbClr val="FFFFFF"/>
          </a:solidFill>
          <a:ln w="25400">
            <a:solidFill>
              <a:srgbClr val="660000"/>
            </a:solidFill>
            <a:prstDash val="solid"/>
          </a:ln>
        </p:spPr>
        <p:txBody>
          <a:bodyPr/>
          <a:lstStyle/>
          <a:p>
            <a:endParaRPr lang="en-US"/>
          </a:p>
        </p:txBody>
      </p:sp>
      <p:sp>
        <p:nvSpPr>
          <p:cNvPr id="20" name="Text 17"/>
          <p:cNvSpPr/>
          <p:nvPr/>
        </p:nvSpPr>
        <p:spPr>
          <a:xfrm>
            <a:off x="8473288" y="2651760"/>
            <a:ext cx="548640" cy="457200"/>
          </a:xfrm>
          <a:prstGeom prst="rect">
            <a:avLst/>
          </a:prstGeom>
          <a:noFill/>
          <a:ln/>
        </p:spPr>
        <p:txBody>
          <a:bodyPr wrap="square" lIns="0" tIns="0" rIns="0" bIns="0" rtlCol="0" anchor="ctr"/>
          <a:lstStyle/>
          <a:p>
            <a:pPr marL="0" indent="0">
              <a:buNone/>
            </a:pPr>
            <a:r>
              <a:rPr lang="en-US" sz="2000" b="1" dirty="0">
                <a:solidFill>
                  <a:srgbClr val="660000"/>
                </a:solidFill>
                <a:latin typeface="Calibri" pitchFamily="34" charset="0"/>
                <a:ea typeface="Calibri" pitchFamily="34" charset="-122"/>
                <a:cs typeface="Calibri" pitchFamily="34" charset="-120"/>
              </a:rPr>
              <a:t>3</a:t>
            </a:r>
            <a:endParaRPr lang="en-US" sz="2000" dirty="0"/>
          </a:p>
        </p:txBody>
      </p:sp>
      <p:sp>
        <p:nvSpPr>
          <p:cNvPr id="21" name="Text 18"/>
          <p:cNvSpPr/>
          <p:nvPr/>
        </p:nvSpPr>
        <p:spPr>
          <a:xfrm>
            <a:off x="8473288" y="3063240"/>
            <a:ext cx="2651760" cy="457200"/>
          </a:xfrm>
          <a:prstGeom prst="rect">
            <a:avLst/>
          </a:prstGeom>
          <a:noFill/>
          <a:ln/>
        </p:spPr>
        <p:txBody>
          <a:bodyPr wrap="square" lIns="0" tIns="0" rIns="0" bIns="0" rtlCol="0" anchor="ctr"/>
          <a:lstStyle/>
          <a:p>
            <a:pPr marL="0" indent="0">
              <a:buNone/>
            </a:pPr>
            <a:r>
              <a:rPr lang="en-US" sz="2200" b="1" dirty="0">
                <a:solidFill>
                  <a:srgbClr val="262626"/>
                </a:solidFill>
                <a:latin typeface="Calibri Light" pitchFamily="34" charset="0"/>
                <a:ea typeface="Calibri Light" pitchFamily="34" charset="-122"/>
                <a:cs typeface="Calibri Light" pitchFamily="34" charset="-120"/>
              </a:rPr>
              <a:t>Usability Test</a:t>
            </a:r>
            <a:endParaRPr lang="en-US" sz="2200" dirty="0"/>
          </a:p>
        </p:txBody>
      </p:sp>
      <p:sp>
        <p:nvSpPr>
          <p:cNvPr id="22" name="Text 19"/>
          <p:cNvSpPr/>
          <p:nvPr/>
        </p:nvSpPr>
        <p:spPr>
          <a:xfrm>
            <a:off x="8473288" y="3566160"/>
            <a:ext cx="2651760" cy="594360"/>
          </a:xfrm>
          <a:prstGeom prst="rect">
            <a:avLst/>
          </a:prstGeom>
          <a:noFill/>
          <a:ln/>
        </p:spPr>
        <p:txBody>
          <a:bodyPr wrap="square" lIns="0" tIns="0" rIns="0" bIns="0" rtlCol="0" anchor="ctr"/>
          <a:lstStyle/>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Observe users completing</a:t>
            </a:r>
            <a:endParaRPr lang="en-US" sz="1600" dirty="0"/>
          </a:p>
          <a:p>
            <a:pPr marL="0" indent="0">
              <a:lnSpc>
                <a:spcPts val="2000"/>
              </a:lnSpc>
              <a:buNone/>
            </a:pPr>
            <a:r>
              <a:rPr lang="en-US" sz="1600" dirty="0">
                <a:solidFill>
                  <a:srgbClr val="595959"/>
                </a:solidFill>
                <a:latin typeface="Calibri" pitchFamily="34" charset="0"/>
                <a:ea typeface="Calibri" pitchFamily="34" charset="-122"/>
                <a:cs typeface="Calibri" pitchFamily="34" charset="-120"/>
              </a:rPr>
              <a:t>tasks with the design</a:t>
            </a:r>
            <a:endParaRPr lang="en-US" sz="1600" dirty="0"/>
          </a:p>
        </p:txBody>
      </p:sp>
      <p:sp>
        <p:nvSpPr>
          <p:cNvPr id="23" name="Text 20"/>
          <p:cNvSpPr/>
          <p:nvPr/>
        </p:nvSpPr>
        <p:spPr>
          <a:xfrm>
            <a:off x="457200" y="5486400"/>
            <a:ext cx="11274552" cy="548640"/>
          </a:xfrm>
          <a:prstGeom prst="rect">
            <a:avLst/>
          </a:prstGeom>
          <a:noFill/>
          <a:ln/>
        </p:spPr>
        <p:txBody>
          <a:bodyPr wrap="square" lIns="0" tIns="0" rIns="0" bIns="0" rtlCol="0" anchor="ctr"/>
          <a:lstStyle/>
          <a:p>
            <a:pPr marL="0" indent="0" algn="ctr">
              <a:lnSpc>
                <a:spcPts val="2100"/>
              </a:lnSpc>
              <a:buNone/>
            </a:pPr>
            <a:r>
              <a:rPr lang="en-US" sz="1700" dirty="0">
                <a:solidFill>
                  <a:srgbClr val="262626"/>
                </a:solidFill>
                <a:latin typeface="Calibri" pitchFamily="34" charset="0"/>
                <a:ea typeface="Calibri" pitchFamily="34" charset="-122"/>
                <a:cs typeface="Calibri" pitchFamily="34" charset="-120"/>
              </a:rPr>
              <a:t>Identifying a design problem at the wireframe stage is significantly less costly than identifying it after implementation.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Wireframing</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5 / 13</a:t>
            </a:r>
            <a:endParaRPr lang="en-US" sz="1300" dirty="0"/>
          </a:p>
        </p:txBody>
      </p:sp>
      <p:sp>
        <p:nvSpPr>
          <p:cNvPr id="8" name="Text 5"/>
          <p:cNvSpPr/>
          <p:nvPr/>
        </p:nvSpPr>
        <p:spPr>
          <a:xfrm>
            <a:off x="457200" y="1417320"/>
            <a:ext cx="6309360" cy="1005840"/>
          </a:xfrm>
          <a:prstGeom prst="rect">
            <a:avLst/>
          </a:prstGeom>
          <a:noFill/>
          <a:ln/>
        </p:spPr>
        <p:txBody>
          <a:bodyPr wrap="square" lIns="0" tIns="0" rIns="0" bIns="0" rtlCol="0" anchor="t"/>
          <a:lstStyle/>
          <a:p>
            <a:pPr marL="0" indent="0">
              <a:lnSpc>
                <a:spcPts val="2500"/>
              </a:lnSpc>
              <a:buNone/>
            </a:pPr>
            <a:r>
              <a:rPr lang="en-US" sz="1900" dirty="0">
                <a:solidFill>
                  <a:srgbClr val="262626"/>
                </a:solidFill>
                <a:latin typeface="Calibri" pitchFamily="34" charset="0"/>
                <a:ea typeface="Calibri" pitchFamily="34" charset="-122"/>
                <a:cs typeface="Calibri" pitchFamily="34" charset="-120"/>
              </a:rPr>
              <a:t>A wireframe is a low-fidelity, grayscale layout that shows structure and content placement, without colors, fonts, or icons.</a:t>
            </a:r>
            <a:endParaRPr lang="en-US" sz="1900" dirty="0"/>
          </a:p>
        </p:txBody>
      </p:sp>
      <p:sp>
        <p:nvSpPr>
          <p:cNvPr id="9" name="Text 6"/>
          <p:cNvSpPr/>
          <p:nvPr/>
        </p:nvSpPr>
        <p:spPr>
          <a:xfrm>
            <a:off x="457200" y="2560320"/>
            <a:ext cx="6309360" cy="36576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Purpose of wireframing:</a:t>
            </a:r>
            <a:endParaRPr lang="en-US" sz="1800" dirty="0"/>
          </a:p>
        </p:txBody>
      </p:sp>
      <p:sp>
        <p:nvSpPr>
          <p:cNvPr id="10" name="Text 7"/>
          <p:cNvSpPr/>
          <p:nvPr/>
        </p:nvSpPr>
        <p:spPr>
          <a:xfrm>
            <a:off x="548640" y="3017520"/>
            <a:ext cx="6126480" cy="2194560"/>
          </a:xfrm>
          <a:prstGeom prst="rect">
            <a:avLst/>
          </a:prstGeom>
          <a:noFill/>
          <a:ln/>
        </p:spPr>
        <p:txBody>
          <a:bodyPr wrap="square" rtlCol="0" anchor="t"/>
          <a:lstStyle/>
          <a:p>
            <a:pPr marL="254000" indent="-254000">
              <a:spcAft>
                <a:spcPts val="1600"/>
              </a:spcAft>
              <a:buSzPct val="100000"/>
              <a:buChar char="•"/>
            </a:pPr>
            <a:r>
              <a:rPr lang="en-US" sz="1800" dirty="0">
                <a:solidFill>
                  <a:srgbClr val="262626"/>
                </a:solidFill>
                <a:latin typeface="Calibri" pitchFamily="34" charset="0"/>
                <a:ea typeface="Calibri" pitchFamily="34" charset="-122"/>
                <a:cs typeface="Calibri" pitchFamily="34" charset="-120"/>
              </a:rPr>
              <a:t>Focuses attention on structure and flow, rather than decoration</a:t>
            </a:r>
            <a:endParaRPr lang="en-US" sz="1800" dirty="0"/>
          </a:p>
          <a:p>
            <a:pPr marL="254000" indent="-254000">
              <a:spcAft>
                <a:spcPts val="1600"/>
              </a:spcAft>
              <a:buSzPct val="100000"/>
              <a:buChar char="•"/>
            </a:pPr>
            <a:r>
              <a:rPr lang="en-US" sz="1800" dirty="0">
                <a:solidFill>
                  <a:srgbClr val="262626"/>
                </a:solidFill>
                <a:latin typeface="Calibri" pitchFamily="34" charset="0"/>
                <a:ea typeface="Calibri" pitchFamily="34" charset="-122"/>
                <a:cs typeface="Calibri" pitchFamily="34" charset="-120"/>
              </a:rPr>
              <a:t>Can be changed quickly, before any code has been written</a:t>
            </a:r>
            <a:endParaRPr lang="en-US" sz="1800" dirty="0"/>
          </a:p>
          <a:p>
            <a:pPr marL="254000" indent="-254000">
              <a:spcAft>
                <a:spcPts val="1600"/>
              </a:spcAft>
              <a:buSzPct val="100000"/>
              <a:buChar char="•"/>
            </a:pPr>
            <a:r>
              <a:rPr lang="en-US" sz="1800" dirty="0">
                <a:solidFill>
                  <a:srgbClr val="262626"/>
                </a:solidFill>
                <a:latin typeface="Calibri" pitchFamily="34" charset="0"/>
                <a:ea typeface="Calibri" pitchFamily="34" charset="-122"/>
                <a:cs typeface="Calibri" pitchFamily="34" charset="-120"/>
              </a:rPr>
              <a:t>Allows the whole team to review and agree on the layout early</a:t>
            </a:r>
            <a:endParaRPr lang="en-US" sz="1800" dirty="0"/>
          </a:p>
        </p:txBody>
      </p:sp>
      <p:sp>
        <p:nvSpPr>
          <p:cNvPr id="11" name="Shape 8"/>
          <p:cNvSpPr/>
          <p:nvPr/>
        </p:nvSpPr>
        <p:spPr>
          <a:xfrm>
            <a:off x="7315200" y="1554480"/>
            <a:ext cx="3291840" cy="4572000"/>
          </a:xfrm>
          <a:prstGeom prst="roundRect">
            <a:avLst>
              <a:gd name="adj" fmla="val 2778"/>
            </a:avLst>
          </a:prstGeom>
          <a:solidFill>
            <a:srgbClr val="FFFFFF"/>
          </a:solidFill>
          <a:ln w="25400">
            <a:solidFill>
              <a:srgbClr val="262626"/>
            </a:solidFill>
            <a:prstDash val="solid"/>
          </a:ln>
        </p:spPr>
        <p:txBody>
          <a:bodyPr/>
          <a:lstStyle/>
          <a:p>
            <a:endParaRPr lang="en-US"/>
          </a:p>
        </p:txBody>
      </p:sp>
      <p:sp>
        <p:nvSpPr>
          <p:cNvPr id="12" name="Shape 9"/>
          <p:cNvSpPr/>
          <p:nvPr/>
        </p:nvSpPr>
        <p:spPr>
          <a:xfrm>
            <a:off x="7479792" y="1755648"/>
            <a:ext cx="2962656" cy="411480"/>
          </a:xfrm>
          <a:prstGeom prst="rect">
            <a:avLst/>
          </a:prstGeom>
          <a:solidFill>
            <a:srgbClr val="2D6B66"/>
          </a:solidFill>
          <a:ln/>
        </p:spPr>
        <p:txBody>
          <a:bodyPr/>
          <a:lstStyle/>
          <a:p>
            <a:endParaRPr lang="en-US"/>
          </a:p>
        </p:txBody>
      </p:sp>
      <p:sp>
        <p:nvSpPr>
          <p:cNvPr id="13" name="Text 10"/>
          <p:cNvSpPr/>
          <p:nvPr/>
        </p:nvSpPr>
        <p:spPr>
          <a:xfrm>
            <a:off x="7479792" y="1755648"/>
            <a:ext cx="2962656"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Sign Up</a:t>
            </a:r>
            <a:endParaRPr lang="en-US" sz="1400" dirty="0"/>
          </a:p>
        </p:txBody>
      </p:sp>
      <p:sp>
        <p:nvSpPr>
          <p:cNvPr id="14" name="Shape 11"/>
          <p:cNvSpPr/>
          <p:nvPr/>
        </p:nvSpPr>
        <p:spPr>
          <a:xfrm>
            <a:off x="7479792" y="2304288"/>
            <a:ext cx="2962656" cy="1371600"/>
          </a:xfrm>
          <a:prstGeom prst="rect">
            <a:avLst/>
          </a:prstGeom>
          <a:solidFill>
            <a:srgbClr val="CFEDE3"/>
          </a:solidFill>
          <a:ln w="12700">
            <a:solidFill>
              <a:srgbClr val="595959"/>
            </a:solidFill>
            <a:prstDash val="dash"/>
          </a:ln>
        </p:spPr>
        <p:txBody>
          <a:bodyPr/>
          <a:lstStyle/>
          <a:p>
            <a:endParaRPr lang="en-US"/>
          </a:p>
        </p:txBody>
      </p:sp>
      <p:sp>
        <p:nvSpPr>
          <p:cNvPr id="15" name="Text 12"/>
          <p:cNvSpPr/>
          <p:nvPr/>
        </p:nvSpPr>
        <p:spPr>
          <a:xfrm>
            <a:off x="7479792" y="2304288"/>
            <a:ext cx="2962656" cy="1371600"/>
          </a:xfrm>
          <a:prstGeom prst="rect">
            <a:avLst/>
          </a:prstGeom>
          <a:noFill/>
          <a:ln/>
        </p:spPr>
        <p:txBody>
          <a:bodyPr wrap="square" lIns="0" tIns="0" rIns="0" bIns="0" rtlCol="0" anchor="ctr"/>
          <a:lstStyle/>
          <a:p>
            <a:pPr marL="0" indent="0" algn="ctr">
              <a:buNone/>
            </a:pPr>
            <a:r>
              <a:rPr lang="en-US" sz="1400" dirty="0">
                <a:solidFill>
                  <a:srgbClr val="595959"/>
                </a:solidFill>
                <a:latin typeface="Calibri" pitchFamily="34" charset="0"/>
                <a:ea typeface="Calibri" pitchFamily="34" charset="-122"/>
                <a:cs typeface="Calibri" pitchFamily="34" charset="-120"/>
              </a:rPr>
              <a:t>image</a:t>
            </a:r>
            <a:endParaRPr lang="en-US" sz="1400" dirty="0"/>
          </a:p>
        </p:txBody>
      </p:sp>
      <p:sp>
        <p:nvSpPr>
          <p:cNvPr id="16" name="Shape 13"/>
          <p:cNvSpPr/>
          <p:nvPr/>
        </p:nvSpPr>
        <p:spPr>
          <a:xfrm>
            <a:off x="7479792" y="3840480"/>
            <a:ext cx="2962656" cy="164592"/>
          </a:xfrm>
          <a:prstGeom prst="rect">
            <a:avLst/>
          </a:prstGeom>
          <a:solidFill>
            <a:srgbClr val="D9D9D9"/>
          </a:solidFill>
          <a:ln/>
        </p:spPr>
        <p:txBody>
          <a:bodyPr/>
          <a:lstStyle/>
          <a:p>
            <a:endParaRPr lang="en-US"/>
          </a:p>
        </p:txBody>
      </p:sp>
      <p:sp>
        <p:nvSpPr>
          <p:cNvPr id="17" name="Shape 14"/>
          <p:cNvSpPr/>
          <p:nvPr/>
        </p:nvSpPr>
        <p:spPr>
          <a:xfrm>
            <a:off x="7479792" y="4133088"/>
            <a:ext cx="2962656" cy="164592"/>
          </a:xfrm>
          <a:prstGeom prst="rect">
            <a:avLst/>
          </a:prstGeom>
          <a:solidFill>
            <a:srgbClr val="D9D9D9"/>
          </a:solidFill>
          <a:ln/>
        </p:spPr>
        <p:txBody>
          <a:bodyPr/>
          <a:lstStyle/>
          <a:p>
            <a:endParaRPr lang="en-US"/>
          </a:p>
        </p:txBody>
      </p:sp>
      <p:sp>
        <p:nvSpPr>
          <p:cNvPr id="18" name="Shape 15"/>
          <p:cNvSpPr/>
          <p:nvPr/>
        </p:nvSpPr>
        <p:spPr>
          <a:xfrm>
            <a:off x="7479792" y="4425696"/>
            <a:ext cx="1463040" cy="164592"/>
          </a:xfrm>
          <a:prstGeom prst="rect">
            <a:avLst/>
          </a:prstGeom>
          <a:solidFill>
            <a:srgbClr val="D9D9D9"/>
          </a:solidFill>
          <a:ln/>
        </p:spPr>
        <p:txBody>
          <a:bodyPr/>
          <a:lstStyle/>
          <a:p>
            <a:endParaRPr lang="en-US"/>
          </a:p>
        </p:txBody>
      </p:sp>
      <p:sp>
        <p:nvSpPr>
          <p:cNvPr id="19" name="Shape 16"/>
          <p:cNvSpPr/>
          <p:nvPr/>
        </p:nvSpPr>
        <p:spPr>
          <a:xfrm>
            <a:off x="7479792" y="4983480"/>
            <a:ext cx="2962656" cy="502920"/>
          </a:xfrm>
          <a:prstGeom prst="roundRect">
            <a:avLst>
              <a:gd name="adj" fmla="val 7273"/>
            </a:avLst>
          </a:prstGeom>
          <a:solidFill>
            <a:srgbClr val="CFEDE3"/>
          </a:solidFill>
          <a:ln w="15875">
            <a:solidFill>
              <a:srgbClr val="2D6B66"/>
            </a:solidFill>
            <a:prstDash val="solid"/>
          </a:ln>
        </p:spPr>
        <p:txBody>
          <a:bodyPr/>
          <a:lstStyle/>
          <a:p>
            <a:endParaRPr lang="en-US"/>
          </a:p>
        </p:txBody>
      </p:sp>
      <p:sp>
        <p:nvSpPr>
          <p:cNvPr id="20" name="Text 17"/>
          <p:cNvSpPr/>
          <p:nvPr/>
        </p:nvSpPr>
        <p:spPr>
          <a:xfrm>
            <a:off x="7479792" y="4983480"/>
            <a:ext cx="2962656" cy="502920"/>
          </a:xfrm>
          <a:prstGeom prst="rect">
            <a:avLst/>
          </a:prstGeom>
          <a:noFill/>
          <a:ln/>
        </p:spPr>
        <p:txBody>
          <a:bodyPr wrap="square" lIns="0" tIns="0" rIns="0" bIns="0" rtlCol="0" anchor="ctr"/>
          <a:lstStyle/>
          <a:p>
            <a:pPr marL="0" indent="0" algn="ctr">
              <a:buNone/>
            </a:pPr>
            <a:r>
              <a:rPr lang="en-US" sz="1500" b="1" dirty="0">
                <a:solidFill>
                  <a:srgbClr val="2D6B66"/>
                </a:solidFill>
                <a:latin typeface="Calibri" pitchFamily="34" charset="0"/>
                <a:ea typeface="Calibri" pitchFamily="34" charset="-122"/>
                <a:cs typeface="Calibri" pitchFamily="34" charset="-120"/>
              </a:rPr>
              <a:t>Continue</a:t>
            </a:r>
            <a:endParaRPr lang="en-US" sz="1500" dirty="0"/>
          </a:p>
        </p:txBody>
      </p:sp>
      <p:sp>
        <p:nvSpPr>
          <p:cNvPr id="21" name="Text 18"/>
          <p:cNvSpPr/>
          <p:nvPr/>
        </p:nvSpPr>
        <p:spPr>
          <a:xfrm>
            <a:off x="7315200" y="6217920"/>
            <a:ext cx="3291840" cy="274320"/>
          </a:xfrm>
          <a:prstGeom prst="rect">
            <a:avLst/>
          </a:prstGeom>
          <a:noFill/>
          <a:ln/>
        </p:spPr>
        <p:txBody>
          <a:bodyPr wrap="square" lIns="0" tIns="0" rIns="0" bIns="0" rtlCol="0" anchor="ctr"/>
          <a:lstStyle/>
          <a:p>
            <a:pPr marL="0" indent="0" algn="ctr">
              <a:buNone/>
            </a:pPr>
            <a:r>
              <a:rPr lang="en-US" sz="1200" dirty="0">
                <a:solidFill>
                  <a:srgbClr val="595959"/>
                </a:solidFill>
                <a:latin typeface="Calibri" pitchFamily="34" charset="0"/>
                <a:ea typeface="Calibri" pitchFamily="34" charset="-122"/>
                <a:cs typeface="Calibri" pitchFamily="34" charset="-120"/>
              </a:rPr>
              <a:t>Figure: QuickCart Sign Up wireframe, corrected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Prototyping</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6 / 13</a:t>
            </a:r>
            <a:endParaRPr lang="en-US" sz="1300" dirty="0"/>
          </a:p>
        </p:txBody>
      </p:sp>
      <p:sp>
        <p:nvSpPr>
          <p:cNvPr id="8" name="Text 5"/>
          <p:cNvSpPr/>
          <p:nvPr/>
        </p:nvSpPr>
        <p:spPr>
          <a:xfrm>
            <a:off x="457200" y="1371600"/>
            <a:ext cx="11247120" cy="868680"/>
          </a:xfrm>
          <a:prstGeom prst="rect">
            <a:avLst/>
          </a:prstGeom>
          <a:noFill/>
          <a:ln/>
        </p:spPr>
        <p:txBody>
          <a:bodyPr wrap="square" lIns="0" tIns="0" rIns="0" bIns="0" rtlCol="0" anchor="t"/>
          <a:lstStyle/>
          <a:p>
            <a:pPr marL="0" indent="0">
              <a:lnSpc>
                <a:spcPts val="2200"/>
              </a:lnSpc>
              <a:buNone/>
            </a:pPr>
            <a:r>
              <a:rPr lang="en-US" sz="1700" dirty="0">
                <a:solidFill>
                  <a:srgbClr val="262626"/>
                </a:solidFill>
                <a:latin typeface="Calibri" pitchFamily="34" charset="0"/>
                <a:ea typeface="Calibri" pitchFamily="34" charset="-122"/>
                <a:cs typeface="Calibri" pitchFamily="34" charset="-120"/>
              </a:rPr>
              <a:t>A prototype connects a set of wireframes so that the navigation between screens can be reviewed before any application code is written. The example below shows the QuickCart Sign Up, Settings, and Checkout screens connected as a prototype. In this module, prototypes are created using Figma.</a:t>
            </a:r>
            <a:endParaRPr lang="en-US" sz="1700" dirty="0"/>
          </a:p>
        </p:txBody>
      </p:sp>
      <p:sp>
        <p:nvSpPr>
          <p:cNvPr id="9" name="Shape 6"/>
          <p:cNvSpPr/>
          <p:nvPr/>
        </p:nvSpPr>
        <p:spPr>
          <a:xfrm>
            <a:off x="2163928" y="2423160"/>
            <a:ext cx="1920240" cy="2941942"/>
          </a:xfrm>
          <a:prstGeom prst="roundRect">
            <a:avLst>
              <a:gd name="adj" fmla="val 4762"/>
            </a:avLst>
          </a:prstGeom>
          <a:solidFill>
            <a:srgbClr val="E6F5F0"/>
          </a:solidFill>
          <a:ln w="25400">
            <a:solidFill>
              <a:srgbClr val="262626"/>
            </a:solidFill>
            <a:prstDash val="solid"/>
          </a:ln>
        </p:spPr>
        <p:txBody>
          <a:bodyPr/>
          <a:lstStyle/>
          <a:p>
            <a:endParaRPr lang="en-US"/>
          </a:p>
        </p:txBody>
      </p:sp>
      <p:sp>
        <p:nvSpPr>
          <p:cNvPr id="10" name="Shape 7"/>
          <p:cNvSpPr/>
          <p:nvPr/>
        </p:nvSpPr>
        <p:spPr>
          <a:xfrm>
            <a:off x="2301088" y="2606040"/>
            <a:ext cx="1645920" cy="320040"/>
          </a:xfrm>
          <a:prstGeom prst="rect">
            <a:avLst/>
          </a:prstGeom>
          <a:solidFill>
            <a:srgbClr val="2D6B66"/>
          </a:solidFill>
          <a:ln/>
        </p:spPr>
        <p:txBody>
          <a:bodyPr/>
          <a:lstStyle/>
          <a:p>
            <a:endParaRPr lang="en-US"/>
          </a:p>
        </p:txBody>
      </p:sp>
      <p:sp>
        <p:nvSpPr>
          <p:cNvPr id="11" name="Shape 8"/>
          <p:cNvSpPr/>
          <p:nvPr/>
        </p:nvSpPr>
        <p:spPr>
          <a:xfrm>
            <a:off x="2301088" y="3108960"/>
            <a:ext cx="1645920" cy="548640"/>
          </a:xfrm>
          <a:prstGeom prst="rect">
            <a:avLst/>
          </a:prstGeom>
          <a:solidFill>
            <a:srgbClr val="FFFFFF"/>
          </a:solidFill>
          <a:ln w="12700">
            <a:solidFill>
              <a:srgbClr val="B9D8D3"/>
            </a:solidFill>
            <a:prstDash val="solid"/>
          </a:ln>
        </p:spPr>
        <p:txBody>
          <a:bodyPr/>
          <a:lstStyle/>
          <a:p>
            <a:endParaRPr lang="en-US"/>
          </a:p>
        </p:txBody>
      </p:sp>
      <p:sp>
        <p:nvSpPr>
          <p:cNvPr id="12" name="Shape 9"/>
          <p:cNvSpPr/>
          <p:nvPr/>
        </p:nvSpPr>
        <p:spPr>
          <a:xfrm>
            <a:off x="2301088" y="3886200"/>
            <a:ext cx="1645920" cy="548640"/>
          </a:xfrm>
          <a:prstGeom prst="rect">
            <a:avLst/>
          </a:prstGeom>
          <a:solidFill>
            <a:srgbClr val="FFFFFF"/>
          </a:solidFill>
          <a:ln w="12700">
            <a:solidFill>
              <a:srgbClr val="B9D8D3"/>
            </a:solidFill>
            <a:prstDash val="solid"/>
          </a:ln>
        </p:spPr>
        <p:txBody>
          <a:bodyPr/>
          <a:lstStyle/>
          <a:p>
            <a:endParaRPr lang="en-US"/>
          </a:p>
        </p:txBody>
      </p:sp>
      <p:sp>
        <p:nvSpPr>
          <p:cNvPr id="13" name="Shape 10"/>
          <p:cNvSpPr/>
          <p:nvPr/>
        </p:nvSpPr>
        <p:spPr>
          <a:xfrm>
            <a:off x="2301088" y="4663440"/>
            <a:ext cx="1645920" cy="548640"/>
          </a:xfrm>
          <a:prstGeom prst="rect">
            <a:avLst/>
          </a:prstGeom>
          <a:solidFill>
            <a:srgbClr val="FFFFFF"/>
          </a:solidFill>
          <a:ln w="12700">
            <a:solidFill>
              <a:srgbClr val="B9D8D3"/>
            </a:solidFill>
            <a:prstDash val="solid"/>
          </a:ln>
        </p:spPr>
        <p:txBody>
          <a:bodyPr/>
          <a:lstStyle/>
          <a:p>
            <a:endParaRPr lang="en-US"/>
          </a:p>
        </p:txBody>
      </p:sp>
      <p:sp>
        <p:nvSpPr>
          <p:cNvPr id="14" name="Text 11"/>
          <p:cNvSpPr/>
          <p:nvPr/>
        </p:nvSpPr>
        <p:spPr>
          <a:xfrm>
            <a:off x="2163928" y="5333098"/>
            <a:ext cx="1920240" cy="320040"/>
          </a:xfrm>
          <a:prstGeom prst="rect">
            <a:avLst/>
          </a:prstGeom>
          <a:noFill/>
          <a:ln/>
        </p:spPr>
        <p:txBody>
          <a:bodyPr wrap="square" lIns="0" tIns="0" rIns="0" bIns="0"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Sign Up</a:t>
            </a:r>
            <a:endParaRPr lang="en-US" sz="1600" dirty="0"/>
          </a:p>
        </p:txBody>
      </p:sp>
      <p:sp>
        <p:nvSpPr>
          <p:cNvPr id="15" name="Text 12"/>
          <p:cNvSpPr/>
          <p:nvPr/>
        </p:nvSpPr>
        <p:spPr>
          <a:xfrm>
            <a:off x="4084168" y="3520440"/>
            <a:ext cx="1051560" cy="548640"/>
          </a:xfrm>
          <a:prstGeom prst="rect">
            <a:avLst/>
          </a:prstGeom>
          <a:noFill/>
          <a:ln/>
        </p:spPr>
        <p:txBody>
          <a:bodyPr wrap="square" lIns="0" tIns="0" rIns="0" bIns="0" rtlCol="0" anchor="ctr"/>
          <a:lstStyle/>
          <a:p>
            <a:pPr marL="0" indent="0" algn="ctr">
              <a:buNone/>
            </a:pPr>
            <a:r>
              <a:rPr lang="en-US" sz="2000" dirty="0">
                <a:solidFill>
                  <a:srgbClr val="595959"/>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5135728" y="2423160"/>
            <a:ext cx="1920240" cy="2941942"/>
          </a:xfrm>
          <a:prstGeom prst="roundRect">
            <a:avLst>
              <a:gd name="adj" fmla="val 4762"/>
            </a:avLst>
          </a:prstGeom>
          <a:solidFill>
            <a:srgbClr val="E6F5F0"/>
          </a:solidFill>
          <a:ln w="25400">
            <a:solidFill>
              <a:srgbClr val="262626"/>
            </a:solidFill>
            <a:prstDash val="solid"/>
          </a:ln>
        </p:spPr>
        <p:txBody>
          <a:bodyPr/>
          <a:lstStyle/>
          <a:p>
            <a:endParaRPr lang="en-US"/>
          </a:p>
        </p:txBody>
      </p:sp>
      <p:sp>
        <p:nvSpPr>
          <p:cNvPr id="17" name="Shape 14"/>
          <p:cNvSpPr/>
          <p:nvPr/>
        </p:nvSpPr>
        <p:spPr>
          <a:xfrm>
            <a:off x="5272888" y="2606040"/>
            <a:ext cx="1645920" cy="320040"/>
          </a:xfrm>
          <a:prstGeom prst="rect">
            <a:avLst/>
          </a:prstGeom>
          <a:solidFill>
            <a:srgbClr val="2D6B66"/>
          </a:solidFill>
          <a:ln/>
        </p:spPr>
        <p:txBody>
          <a:bodyPr/>
          <a:lstStyle/>
          <a:p>
            <a:endParaRPr lang="en-US"/>
          </a:p>
        </p:txBody>
      </p:sp>
      <p:sp>
        <p:nvSpPr>
          <p:cNvPr id="18" name="Shape 15"/>
          <p:cNvSpPr/>
          <p:nvPr/>
        </p:nvSpPr>
        <p:spPr>
          <a:xfrm>
            <a:off x="5272888" y="3108960"/>
            <a:ext cx="1645920" cy="548640"/>
          </a:xfrm>
          <a:prstGeom prst="rect">
            <a:avLst/>
          </a:prstGeom>
          <a:solidFill>
            <a:srgbClr val="FFFFFF"/>
          </a:solidFill>
          <a:ln w="12700">
            <a:solidFill>
              <a:srgbClr val="B9D8D3"/>
            </a:solidFill>
            <a:prstDash val="solid"/>
          </a:ln>
        </p:spPr>
        <p:txBody>
          <a:bodyPr/>
          <a:lstStyle/>
          <a:p>
            <a:endParaRPr lang="en-US"/>
          </a:p>
        </p:txBody>
      </p:sp>
      <p:sp>
        <p:nvSpPr>
          <p:cNvPr id="19" name="Shape 16"/>
          <p:cNvSpPr/>
          <p:nvPr/>
        </p:nvSpPr>
        <p:spPr>
          <a:xfrm>
            <a:off x="5272888" y="3886200"/>
            <a:ext cx="1645920" cy="548640"/>
          </a:xfrm>
          <a:prstGeom prst="rect">
            <a:avLst/>
          </a:prstGeom>
          <a:solidFill>
            <a:srgbClr val="FFFFFF"/>
          </a:solidFill>
          <a:ln w="12700">
            <a:solidFill>
              <a:srgbClr val="B9D8D3"/>
            </a:solidFill>
            <a:prstDash val="solid"/>
          </a:ln>
        </p:spPr>
        <p:txBody>
          <a:bodyPr/>
          <a:lstStyle/>
          <a:p>
            <a:endParaRPr lang="en-US"/>
          </a:p>
        </p:txBody>
      </p:sp>
      <p:sp>
        <p:nvSpPr>
          <p:cNvPr id="20" name="Shape 17"/>
          <p:cNvSpPr/>
          <p:nvPr/>
        </p:nvSpPr>
        <p:spPr>
          <a:xfrm>
            <a:off x="5272888" y="4663440"/>
            <a:ext cx="1645920" cy="548640"/>
          </a:xfrm>
          <a:prstGeom prst="rect">
            <a:avLst/>
          </a:prstGeom>
          <a:solidFill>
            <a:srgbClr val="FFFFFF"/>
          </a:solidFill>
          <a:ln w="12700">
            <a:solidFill>
              <a:srgbClr val="B9D8D3"/>
            </a:solidFill>
            <a:prstDash val="solid"/>
          </a:ln>
        </p:spPr>
        <p:txBody>
          <a:bodyPr/>
          <a:lstStyle/>
          <a:p>
            <a:endParaRPr lang="en-US"/>
          </a:p>
        </p:txBody>
      </p:sp>
      <p:sp>
        <p:nvSpPr>
          <p:cNvPr id="21" name="Text 18"/>
          <p:cNvSpPr/>
          <p:nvPr/>
        </p:nvSpPr>
        <p:spPr>
          <a:xfrm>
            <a:off x="5135728" y="5333098"/>
            <a:ext cx="1920240" cy="320040"/>
          </a:xfrm>
          <a:prstGeom prst="rect">
            <a:avLst/>
          </a:prstGeom>
          <a:noFill/>
          <a:ln/>
        </p:spPr>
        <p:txBody>
          <a:bodyPr wrap="square" lIns="0" tIns="0" rIns="0" bIns="0"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Settings</a:t>
            </a:r>
            <a:endParaRPr lang="en-US" sz="1600" dirty="0"/>
          </a:p>
        </p:txBody>
      </p:sp>
      <p:sp>
        <p:nvSpPr>
          <p:cNvPr id="22" name="Text 19"/>
          <p:cNvSpPr/>
          <p:nvPr/>
        </p:nvSpPr>
        <p:spPr>
          <a:xfrm>
            <a:off x="7055968" y="3520440"/>
            <a:ext cx="1051560" cy="548640"/>
          </a:xfrm>
          <a:prstGeom prst="rect">
            <a:avLst/>
          </a:prstGeom>
          <a:noFill/>
          <a:ln/>
        </p:spPr>
        <p:txBody>
          <a:bodyPr wrap="square" lIns="0" tIns="0" rIns="0" bIns="0" rtlCol="0" anchor="ctr"/>
          <a:lstStyle/>
          <a:p>
            <a:pPr marL="0" indent="0" algn="ctr">
              <a:buNone/>
            </a:pPr>
            <a:r>
              <a:rPr lang="en-US" sz="2000" dirty="0">
                <a:solidFill>
                  <a:srgbClr val="595959"/>
                </a:solidFill>
                <a:latin typeface="Calibri" pitchFamily="34" charset="0"/>
                <a:ea typeface="Calibri" pitchFamily="34" charset="-122"/>
                <a:cs typeface="Calibri" pitchFamily="34" charset="-120"/>
              </a:rPr>
              <a:t>→</a:t>
            </a:r>
            <a:endParaRPr lang="en-US" sz="2000" dirty="0"/>
          </a:p>
        </p:txBody>
      </p:sp>
      <p:sp>
        <p:nvSpPr>
          <p:cNvPr id="23" name="Shape 20"/>
          <p:cNvSpPr/>
          <p:nvPr/>
        </p:nvSpPr>
        <p:spPr>
          <a:xfrm>
            <a:off x="8107528" y="2423160"/>
            <a:ext cx="1920240" cy="2941942"/>
          </a:xfrm>
          <a:prstGeom prst="roundRect">
            <a:avLst>
              <a:gd name="adj" fmla="val 4762"/>
            </a:avLst>
          </a:prstGeom>
          <a:solidFill>
            <a:srgbClr val="E6F5F0"/>
          </a:solidFill>
          <a:ln w="25400">
            <a:solidFill>
              <a:srgbClr val="262626"/>
            </a:solidFill>
            <a:prstDash val="solid"/>
          </a:ln>
        </p:spPr>
        <p:txBody>
          <a:bodyPr/>
          <a:lstStyle/>
          <a:p>
            <a:endParaRPr lang="en-US"/>
          </a:p>
        </p:txBody>
      </p:sp>
      <p:sp>
        <p:nvSpPr>
          <p:cNvPr id="24" name="Shape 21"/>
          <p:cNvSpPr/>
          <p:nvPr/>
        </p:nvSpPr>
        <p:spPr>
          <a:xfrm>
            <a:off x="8244688" y="2606040"/>
            <a:ext cx="1645920" cy="320040"/>
          </a:xfrm>
          <a:prstGeom prst="rect">
            <a:avLst/>
          </a:prstGeom>
          <a:solidFill>
            <a:srgbClr val="2D6B66"/>
          </a:solidFill>
          <a:ln/>
        </p:spPr>
        <p:txBody>
          <a:bodyPr/>
          <a:lstStyle/>
          <a:p>
            <a:endParaRPr lang="en-US"/>
          </a:p>
        </p:txBody>
      </p:sp>
      <p:sp>
        <p:nvSpPr>
          <p:cNvPr id="25" name="Shape 22"/>
          <p:cNvSpPr/>
          <p:nvPr/>
        </p:nvSpPr>
        <p:spPr>
          <a:xfrm>
            <a:off x="8244688" y="3108960"/>
            <a:ext cx="1645920" cy="548640"/>
          </a:xfrm>
          <a:prstGeom prst="rect">
            <a:avLst/>
          </a:prstGeom>
          <a:solidFill>
            <a:srgbClr val="FFFFFF"/>
          </a:solidFill>
          <a:ln w="12700">
            <a:solidFill>
              <a:srgbClr val="B9D8D3"/>
            </a:solidFill>
            <a:prstDash val="solid"/>
          </a:ln>
        </p:spPr>
        <p:txBody>
          <a:bodyPr/>
          <a:lstStyle/>
          <a:p>
            <a:endParaRPr lang="en-US"/>
          </a:p>
        </p:txBody>
      </p:sp>
      <p:sp>
        <p:nvSpPr>
          <p:cNvPr id="26" name="Shape 23"/>
          <p:cNvSpPr/>
          <p:nvPr/>
        </p:nvSpPr>
        <p:spPr>
          <a:xfrm>
            <a:off x="8244688" y="3886200"/>
            <a:ext cx="1645920" cy="548640"/>
          </a:xfrm>
          <a:prstGeom prst="rect">
            <a:avLst/>
          </a:prstGeom>
          <a:solidFill>
            <a:srgbClr val="FFFFFF"/>
          </a:solidFill>
          <a:ln w="12700">
            <a:solidFill>
              <a:srgbClr val="B9D8D3"/>
            </a:solidFill>
            <a:prstDash val="solid"/>
          </a:ln>
        </p:spPr>
        <p:txBody>
          <a:bodyPr/>
          <a:lstStyle/>
          <a:p>
            <a:endParaRPr lang="en-US"/>
          </a:p>
        </p:txBody>
      </p:sp>
      <p:sp>
        <p:nvSpPr>
          <p:cNvPr id="27" name="Shape 24"/>
          <p:cNvSpPr/>
          <p:nvPr/>
        </p:nvSpPr>
        <p:spPr>
          <a:xfrm>
            <a:off x="8244688" y="4663440"/>
            <a:ext cx="1645920" cy="548640"/>
          </a:xfrm>
          <a:prstGeom prst="rect">
            <a:avLst/>
          </a:prstGeom>
          <a:solidFill>
            <a:srgbClr val="FFFFFF"/>
          </a:solidFill>
          <a:ln w="12700">
            <a:solidFill>
              <a:srgbClr val="B9D8D3"/>
            </a:solidFill>
            <a:prstDash val="solid"/>
          </a:ln>
        </p:spPr>
        <p:txBody>
          <a:bodyPr/>
          <a:lstStyle/>
          <a:p>
            <a:endParaRPr lang="en-US"/>
          </a:p>
        </p:txBody>
      </p:sp>
      <p:sp>
        <p:nvSpPr>
          <p:cNvPr id="28" name="Text 25"/>
          <p:cNvSpPr/>
          <p:nvPr/>
        </p:nvSpPr>
        <p:spPr>
          <a:xfrm>
            <a:off x="8107528" y="5349240"/>
            <a:ext cx="1920240" cy="320040"/>
          </a:xfrm>
          <a:prstGeom prst="rect">
            <a:avLst/>
          </a:prstGeom>
          <a:noFill/>
          <a:ln/>
        </p:spPr>
        <p:txBody>
          <a:bodyPr wrap="square" lIns="0" tIns="0" rIns="0" bIns="0" rtlCol="0" anchor="ctr"/>
          <a:lstStyle/>
          <a:p>
            <a:pPr marL="0" indent="0" algn="ctr">
              <a:buNone/>
            </a:pPr>
            <a:r>
              <a:rPr lang="en-US" sz="1600" b="1" dirty="0">
                <a:solidFill>
                  <a:srgbClr val="262626"/>
                </a:solidFill>
                <a:latin typeface="Calibri" pitchFamily="34" charset="0"/>
                <a:ea typeface="Calibri" pitchFamily="34" charset="-122"/>
                <a:cs typeface="Calibri" pitchFamily="34" charset="-120"/>
              </a:rPr>
              <a:t>Checkout</a:t>
            </a:r>
            <a:endParaRPr lang="en-US" sz="1600" dirty="0"/>
          </a:p>
        </p:txBody>
      </p:sp>
      <p:sp>
        <p:nvSpPr>
          <p:cNvPr id="29" name="Text 26"/>
          <p:cNvSpPr/>
          <p:nvPr/>
        </p:nvSpPr>
        <p:spPr>
          <a:xfrm>
            <a:off x="548639" y="5669280"/>
            <a:ext cx="10312193" cy="731520"/>
          </a:xfrm>
          <a:prstGeom prst="rect">
            <a:avLst/>
          </a:prstGeom>
          <a:noFill/>
          <a:ln/>
        </p:spPr>
        <p:txBody>
          <a:bodyPr wrap="square" lIns="0" tIns="0" rIns="0" bIns="0" rtlCol="0" anchor="t"/>
          <a:lstStyle/>
          <a:p>
            <a:pPr marL="0" indent="0">
              <a:buNone/>
            </a:pPr>
            <a:r>
              <a:rPr lang="en-US" sz="1600" b="1" dirty="0">
                <a:solidFill>
                  <a:srgbClr val="2D6B66"/>
                </a:solidFill>
                <a:latin typeface="Calibri" pitchFamily="34" charset="0"/>
                <a:ea typeface="Calibri" pitchFamily="34" charset="-122"/>
                <a:cs typeface="Calibri" pitchFamily="34" charset="-120"/>
              </a:rPr>
              <a:t>Prototype (Figma):  </a:t>
            </a:r>
            <a:r>
              <a:rPr lang="en-US" sz="1600" dirty="0">
                <a:solidFill>
                  <a:srgbClr val="262626"/>
                </a:solidFill>
                <a:latin typeface="Calibri" pitchFamily="34" charset="0"/>
                <a:ea typeface="Calibri" pitchFamily="34" charset="-122"/>
                <a:cs typeface="Calibri" pitchFamily="34" charset="-120"/>
              </a:rPr>
              <a:t>the interfaces are linked with clickable hotspots to simulate the flow.</a:t>
            </a:r>
            <a:endParaRPr lang="en-US" sz="1600" dirty="0"/>
          </a:p>
          <a:p>
            <a:pPr marL="0" indent="0">
              <a:buNone/>
            </a:pPr>
            <a:r>
              <a:rPr lang="en-US" sz="1600" b="1" dirty="0">
                <a:solidFill>
                  <a:srgbClr val="660000"/>
                </a:solidFill>
                <a:latin typeface="Calibri" pitchFamily="34" charset="0"/>
                <a:ea typeface="Calibri" pitchFamily="34" charset="-122"/>
                <a:cs typeface="Calibri" pitchFamily="34" charset="-120"/>
              </a:rPr>
              <a:t>This week's activity:  </a:t>
            </a:r>
            <a:r>
              <a:rPr lang="en-US" sz="1600" dirty="0">
                <a:solidFill>
                  <a:srgbClr val="262626"/>
                </a:solidFill>
                <a:latin typeface="Calibri" pitchFamily="34" charset="0"/>
                <a:ea typeface="Calibri" pitchFamily="34" charset="-122"/>
                <a:cs typeface="Calibri" pitchFamily="34" charset="-120"/>
              </a:rPr>
              <a:t>each Figma interface is then embedded in Android Studio as a matching layout and screen.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Layout and Interaction Principles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7 / 13</a:t>
            </a:r>
            <a:endParaRPr lang="en-US" sz="1300" dirty="0"/>
          </a:p>
        </p:txBody>
      </p:sp>
      <p:sp>
        <p:nvSpPr>
          <p:cNvPr id="8" name="Shape 5"/>
          <p:cNvSpPr/>
          <p:nvPr/>
        </p:nvSpPr>
        <p:spPr>
          <a:xfrm>
            <a:off x="457200" y="1490472"/>
            <a:ext cx="73152" cy="1188720"/>
          </a:xfrm>
          <a:prstGeom prst="rect">
            <a:avLst/>
          </a:prstGeom>
          <a:solidFill>
            <a:srgbClr val="50B5AD"/>
          </a:solidFill>
          <a:ln/>
        </p:spPr>
        <p:txBody>
          <a:bodyPr/>
          <a:lstStyle/>
          <a:p>
            <a:endParaRPr lang="en-US"/>
          </a:p>
        </p:txBody>
      </p:sp>
      <p:sp>
        <p:nvSpPr>
          <p:cNvPr id="9" name="Text 6"/>
          <p:cNvSpPr/>
          <p:nvPr/>
        </p:nvSpPr>
        <p:spPr>
          <a:xfrm>
            <a:off x="685800" y="146304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Support every orientation and size</a:t>
            </a:r>
            <a:endParaRPr lang="en-US" sz="1800" dirty="0"/>
          </a:p>
        </p:txBody>
      </p:sp>
      <p:sp>
        <p:nvSpPr>
          <p:cNvPr id="10" name="Text 7"/>
          <p:cNvSpPr/>
          <p:nvPr/>
        </p:nvSpPr>
        <p:spPr>
          <a:xfrm>
            <a:off x="685800" y="196596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Verify the flow works in portrait and landscape, on phones and tablets alike</a:t>
            </a:r>
            <a:endParaRPr lang="en-US" sz="1600" dirty="0"/>
          </a:p>
        </p:txBody>
      </p:sp>
      <p:sp>
        <p:nvSpPr>
          <p:cNvPr id="11" name="Shape 8"/>
          <p:cNvSpPr/>
          <p:nvPr/>
        </p:nvSpPr>
        <p:spPr>
          <a:xfrm>
            <a:off x="457200" y="2999232"/>
            <a:ext cx="73152" cy="1188720"/>
          </a:xfrm>
          <a:prstGeom prst="rect">
            <a:avLst/>
          </a:prstGeom>
          <a:solidFill>
            <a:srgbClr val="50B5AD"/>
          </a:solidFill>
          <a:ln/>
        </p:spPr>
        <p:txBody>
          <a:bodyPr/>
          <a:lstStyle/>
          <a:p>
            <a:endParaRPr lang="en-US"/>
          </a:p>
        </p:txBody>
      </p:sp>
      <p:sp>
        <p:nvSpPr>
          <p:cNvPr id="12" name="Text 9"/>
          <p:cNvSpPr/>
          <p:nvPr/>
        </p:nvSpPr>
        <p:spPr>
          <a:xfrm>
            <a:off x="685800" y="297180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Respect safe areas</a:t>
            </a:r>
            <a:endParaRPr lang="en-US" sz="1800" dirty="0"/>
          </a:p>
        </p:txBody>
      </p:sp>
      <p:sp>
        <p:nvSpPr>
          <p:cNvPr id="13" name="Text 10"/>
          <p:cNvSpPr/>
          <p:nvPr/>
        </p:nvSpPr>
        <p:spPr>
          <a:xfrm>
            <a:off x="685800" y="347472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Keep content clear of system bars, display cutouts, and the on-screen keyboard</a:t>
            </a:r>
            <a:endParaRPr lang="en-US" sz="1600" dirty="0"/>
          </a:p>
        </p:txBody>
      </p:sp>
      <p:sp>
        <p:nvSpPr>
          <p:cNvPr id="14" name="Shape 11"/>
          <p:cNvSpPr/>
          <p:nvPr/>
        </p:nvSpPr>
        <p:spPr>
          <a:xfrm>
            <a:off x="457200" y="4507992"/>
            <a:ext cx="73152" cy="1188720"/>
          </a:xfrm>
          <a:prstGeom prst="rect">
            <a:avLst/>
          </a:prstGeom>
          <a:solidFill>
            <a:srgbClr val="50B5AD"/>
          </a:solidFill>
          <a:ln/>
        </p:spPr>
        <p:txBody>
          <a:bodyPr/>
          <a:lstStyle/>
          <a:p>
            <a:endParaRPr lang="en-US"/>
          </a:p>
        </p:txBody>
      </p:sp>
      <p:sp>
        <p:nvSpPr>
          <p:cNvPr id="15" name="Text 12"/>
          <p:cNvSpPr/>
          <p:nvPr/>
        </p:nvSpPr>
        <p:spPr>
          <a:xfrm>
            <a:off x="685800" y="448056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Keep primary actions reachable</a:t>
            </a:r>
            <a:endParaRPr lang="en-US" sz="1800" dirty="0"/>
          </a:p>
        </p:txBody>
      </p:sp>
      <p:sp>
        <p:nvSpPr>
          <p:cNvPr id="16" name="Text 13"/>
          <p:cNvSpPr/>
          <p:nvPr/>
        </p:nvSpPr>
        <p:spPr>
          <a:xfrm>
            <a:off x="685800" y="498348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Place key interactions within comfortable reach, e.g. a floating action button</a:t>
            </a:r>
            <a:endParaRPr lang="en-US" sz="1600" dirty="0"/>
          </a:p>
        </p:txBody>
      </p:sp>
      <p:sp>
        <p:nvSpPr>
          <p:cNvPr id="17" name="Shape 14"/>
          <p:cNvSpPr/>
          <p:nvPr/>
        </p:nvSpPr>
        <p:spPr>
          <a:xfrm>
            <a:off x="6355080" y="1490472"/>
            <a:ext cx="73152" cy="1188720"/>
          </a:xfrm>
          <a:prstGeom prst="rect">
            <a:avLst/>
          </a:prstGeom>
          <a:solidFill>
            <a:srgbClr val="50B5AD"/>
          </a:solidFill>
          <a:ln/>
        </p:spPr>
        <p:txBody>
          <a:bodyPr/>
          <a:lstStyle/>
          <a:p>
            <a:endParaRPr lang="en-US"/>
          </a:p>
        </p:txBody>
      </p:sp>
      <p:sp>
        <p:nvSpPr>
          <p:cNvPr id="18" name="Text 15"/>
          <p:cNvSpPr/>
          <p:nvPr/>
        </p:nvSpPr>
        <p:spPr>
          <a:xfrm>
            <a:off x="6583680" y="146304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Group related content</a:t>
            </a:r>
            <a:endParaRPr lang="en-US" sz="1800" dirty="0"/>
          </a:p>
        </p:txBody>
      </p:sp>
      <p:sp>
        <p:nvSpPr>
          <p:cNvPr id="19" name="Text 16"/>
          <p:cNvSpPr/>
          <p:nvPr/>
        </p:nvSpPr>
        <p:spPr>
          <a:xfrm>
            <a:off x="6583680" y="196596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Use containment — cards, sections — so structure reads at a glance</a:t>
            </a:r>
            <a:endParaRPr lang="en-US" sz="1600" dirty="0"/>
          </a:p>
        </p:txBody>
      </p:sp>
      <p:sp>
        <p:nvSpPr>
          <p:cNvPr id="20" name="Shape 17"/>
          <p:cNvSpPr/>
          <p:nvPr/>
        </p:nvSpPr>
        <p:spPr>
          <a:xfrm>
            <a:off x="6355080" y="2999232"/>
            <a:ext cx="73152" cy="1188720"/>
          </a:xfrm>
          <a:prstGeom prst="rect">
            <a:avLst/>
          </a:prstGeom>
          <a:solidFill>
            <a:srgbClr val="50B5AD"/>
          </a:solidFill>
          <a:ln/>
        </p:spPr>
        <p:txBody>
          <a:bodyPr/>
          <a:lstStyle/>
          <a:p>
            <a:endParaRPr lang="en-US"/>
          </a:p>
        </p:txBody>
      </p:sp>
      <p:sp>
        <p:nvSpPr>
          <p:cNvPr id="21" name="Text 18"/>
          <p:cNvSpPr/>
          <p:nvPr/>
        </p:nvSpPr>
        <p:spPr>
          <a:xfrm>
            <a:off x="6583680" y="297180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Do not overload one screen</a:t>
            </a:r>
            <a:endParaRPr lang="en-US" sz="1800" dirty="0"/>
          </a:p>
        </p:txBody>
      </p:sp>
      <p:sp>
        <p:nvSpPr>
          <p:cNvPr id="22" name="Text 19"/>
          <p:cNvSpPr/>
          <p:nvPr/>
        </p:nvSpPr>
        <p:spPr>
          <a:xfrm>
            <a:off x="6583680" y="347472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Limit the actions per view; split complex tasks across steps</a:t>
            </a:r>
            <a:endParaRPr lang="en-US" sz="1600" dirty="0"/>
          </a:p>
        </p:txBody>
      </p:sp>
      <p:sp>
        <p:nvSpPr>
          <p:cNvPr id="23" name="Shape 20"/>
          <p:cNvSpPr/>
          <p:nvPr/>
        </p:nvSpPr>
        <p:spPr>
          <a:xfrm>
            <a:off x="6355080" y="4507992"/>
            <a:ext cx="73152" cy="1188720"/>
          </a:xfrm>
          <a:prstGeom prst="rect">
            <a:avLst/>
          </a:prstGeom>
          <a:solidFill>
            <a:srgbClr val="50B5AD"/>
          </a:solidFill>
          <a:ln/>
        </p:spPr>
        <p:txBody>
          <a:bodyPr/>
          <a:lstStyle/>
          <a:p>
            <a:endParaRPr lang="en-US"/>
          </a:p>
        </p:txBody>
      </p:sp>
      <p:sp>
        <p:nvSpPr>
          <p:cNvPr id="24" name="Text 21"/>
          <p:cNvSpPr/>
          <p:nvPr/>
        </p:nvSpPr>
        <p:spPr>
          <a:xfrm>
            <a:off x="6583680" y="4480560"/>
            <a:ext cx="5166360" cy="502920"/>
          </a:xfrm>
          <a:prstGeom prst="rect">
            <a:avLst/>
          </a:prstGeom>
          <a:noFill/>
          <a:ln/>
        </p:spPr>
        <p:txBody>
          <a:bodyPr wrap="square" lIns="0" tIns="0" rIns="0" bIns="0" rtlCol="0" anchor="ctr"/>
          <a:lstStyle/>
          <a:p>
            <a:pPr marL="0" indent="0">
              <a:buNone/>
            </a:pPr>
            <a:r>
              <a:rPr lang="en-US" sz="1800" b="1" dirty="0">
                <a:solidFill>
                  <a:srgbClr val="262626"/>
                </a:solidFill>
                <a:latin typeface="Calibri" pitchFamily="34" charset="0"/>
                <a:ea typeface="Calibri" pitchFamily="34" charset="-122"/>
                <a:cs typeface="Calibri" pitchFamily="34" charset="-120"/>
              </a:rPr>
              <a:t>Keep spacing and alignment consistent</a:t>
            </a:r>
            <a:endParaRPr lang="en-US" sz="1800" dirty="0"/>
          </a:p>
        </p:txBody>
      </p:sp>
      <p:sp>
        <p:nvSpPr>
          <p:cNvPr id="25" name="Text 22"/>
          <p:cNvSpPr/>
          <p:nvPr/>
        </p:nvSpPr>
        <p:spPr>
          <a:xfrm>
            <a:off x="6583680" y="4983480"/>
            <a:ext cx="5166360" cy="685800"/>
          </a:xfrm>
          <a:prstGeom prst="rect">
            <a:avLst/>
          </a:prstGeom>
          <a:noFill/>
          <a:ln/>
        </p:spPr>
        <p:txBody>
          <a:bodyPr wrap="square" lIns="0" tIns="0" rIns="0" bIns="0" rtlCol="0" anchor="ctr"/>
          <a:lstStyle/>
          <a:p>
            <a:pPr marL="0" indent="0">
              <a:lnSpc>
                <a:spcPts val="1900"/>
              </a:lnSpc>
              <a:buNone/>
            </a:pPr>
            <a:r>
              <a:rPr lang="en-US" sz="1600" dirty="0">
                <a:solidFill>
                  <a:srgbClr val="595959"/>
                </a:solidFill>
                <a:latin typeface="Calibri" pitchFamily="34" charset="0"/>
                <a:ea typeface="Calibri" pitchFamily="34" charset="-122"/>
                <a:cs typeface="Calibri" pitchFamily="34" charset="-120"/>
              </a:rPr>
              <a:t>Uneven gaps make a screen feel disorganized and harder to scan</a:t>
            </a:r>
            <a:endParaRPr lang="en-US" sz="1600" dirty="0"/>
          </a:p>
        </p:txBody>
      </p:sp>
      <p:sp>
        <p:nvSpPr>
          <p:cNvPr id="26" name="Text 23"/>
          <p:cNvSpPr/>
          <p:nvPr/>
        </p:nvSpPr>
        <p:spPr>
          <a:xfrm>
            <a:off x="457200" y="6309360"/>
            <a:ext cx="5943600" cy="274320"/>
          </a:xfrm>
          <a:prstGeom prst="rect">
            <a:avLst/>
          </a:prstGeom>
          <a:noFill/>
          <a:ln/>
        </p:spPr>
        <p:txBody>
          <a:bodyPr wrap="square" lIns="0" tIns="0" rIns="0" bIns="0"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Source: Android Developers, Design for Android, developer.android.com/design/ui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Usability Heuristics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8 / 13</a:t>
            </a:r>
            <a:endParaRPr lang="en-US" sz="1300" dirty="0"/>
          </a:p>
        </p:txBody>
      </p:sp>
      <p:sp>
        <p:nvSpPr>
          <p:cNvPr id="8" name="Text 5"/>
          <p:cNvSpPr/>
          <p:nvPr/>
        </p:nvSpPr>
        <p:spPr>
          <a:xfrm>
            <a:off x="457200" y="1371600"/>
            <a:ext cx="11247120" cy="502920"/>
          </a:xfrm>
          <a:prstGeom prst="rect">
            <a:avLst/>
          </a:prstGeom>
          <a:noFill/>
          <a:ln/>
        </p:spPr>
        <p:txBody>
          <a:bodyPr wrap="square" lIns="0" tIns="0" rIns="0" bIns="0" rtlCol="0" anchor="ctr"/>
          <a:lstStyle/>
          <a:p>
            <a:pPr marL="0" indent="0">
              <a:lnSpc>
                <a:spcPts val="2100"/>
              </a:lnSpc>
              <a:buNone/>
            </a:pPr>
            <a:r>
              <a:rPr lang="en-US" sz="1700" dirty="0">
                <a:solidFill>
                  <a:srgbClr val="262626"/>
                </a:solidFill>
                <a:latin typeface="Calibri" pitchFamily="34" charset="0"/>
                <a:ea typeface="Calibri" pitchFamily="34" charset="-122"/>
                <a:cs typeface="Calibri" pitchFamily="34" charset="-120"/>
              </a:rPr>
              <a:t>Adapted from Jakob Nielsen's ten usability heuristics. These principles relate directly to the issues identified in the earlier activity.</a:t>
            </a:r>
            <a:endParaRPr lang="en-US" sz="1700" dirty="0"/>
          </a:p>
        </p:txBody>
      </p:sp>
      <p:sp>
        <p:nvSpPr>
          <p:cNvPr id="9" name="Shape 6"/>
          <p:cNvSpPr/>
          <p:nvPr/>
        </p:nvSpPr>
        <p:spPr>
          <a:xfrm>
            <a:off x="548640" y="2103120"/>
            <a:ext cx="73152" cy="868680"/>
          </a:xfrm>
          <a:prstGeom prst="rect">
            <a:avLst/>
          </a:prstGeom>
          <a:solidFill>
            <a:srgbClr val="50B5AD"/>
          </a:solidFill>
          <a:ln/>
        </p:spPr>
        <p:txBody>
          <a:bodyPr/>
          <a:lstStyle/>
          <a:p>
            <a:endParaRPr lang="en-US"/>
          </a:p>
        </p:txBody>
      </p:sp>
      <p:sp>
        <p:nvSpPr>
          <p:cNvPr id="10" name="Text 7"/>
          <p:cNvSpPr/>
          <p:nvPr/>
        </p:nvSpPr>
        <p:spPr>
          <a:xfrm>
            <a:off x="777240" y="205740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Visibility of status</a:t>
            </a:r>
            <a:endParaRPr lang="en-US" sz="1900" dirty="0"/>
          </a:p>
        </p:txBody>
      </p:sp>
      <p:sp>
        <p:nvSpPr>
          <p:cNvPr id="11" name="Text 8"/>
          <p:cNvSpPr/>
          <p:nvPr/>
        </p:nvSpPr>
        <p:spPr>
          <a:xfrm>
            <a:off x="777240" y="247802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Always show loading or progress state</a:t>
            </a:r>
            <a:endParaRPr lang="en-US" sz="1600" dirty="0"/>
          </a:p>
        </p:txBody>
      </p:sp>
      <p:sp>
        <p:nvSpPr>
          <p:cNvPr id="12" name="Shape 9"/>
          <p:cNvSpPr/>
          <p:nvPr/>
        </p:nvSpPr>
        <p:spPr>
          <a:xfrm>
            <a:off x="548640" y="3383280"/>
            <a:ext cx="73152" cy="868680"/>
          </a:xfrm>
          <a:prstGeom prst="rect">
            <a:avLst/>
          </a:prstGeom>
          <a:solidFill>
            <a:srgbClr val="50B5AD"/>
          </a:solidFill>
          <a:ln/>
        </p:spPr>
        <p:txBody>
          <a:bodyPr/>
          <a:lstStyle/>
          <a:p>
            <a:endParaRPr lang="en-US"/>
          </a:p>
        </p:txBody>
      </p:sp>
      <p:sp>
        <p:nvSpPr>
          <p:cNvPr id="13" name="Text 10"/>
          <p:cNvSpPr/>
          <p:nvPr/>
        </p:nvSpPr>
        <p:spPr>
          <a:xfrm>
            <a:off x="777240" y="333756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Match real-world conventions</a:t>
            </a:r>
            <a:endParaRPr lang="en-US" sz="1900" dirty="0"/>
          </a:p>
        </p:txBody>
      </p:sp>
      <p:sp>
        <p:nvSpPr>
          <p:cNvPr id="14" name="Text 11"/>
          <p:cNvSpPr/>
          <p:nvPr/>
        </p:nvSpPr>
        <p:spPr>
          <a:xfrm>
            <a:off x="777240" y="375818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Use icons and language users already know</a:t>
            </a:r>
            <a:endParaRPr lang="en-US" sz="1600" dirty="0"/>
          </a:p>
        </p:txBody>
      </p:sp>
      <p:sp>
        <p:nvSpPr>
          <p:cNvPr id="15" name="Shape 12"/>
          <p:cNvSpPr/>
          <p:nvPr/>
        </p:nvSpPr>
        <p:spPr>
          <a:xfrm>
            <a:off x="548640" y="4663440"/>
            <a:ext cx="73152" cy="868680"/>
          </a:xfrm>
          <a:prstGeom prst="rect">
            <a:avLst/>
          </a:prstGeom>
          <a:solidFill>
            <a:srgbClr val="50B5AD"/>
          </a:solidFill>
          <a:ln/>
        </p:spPr>
        <p:txBody>
          <a:bodyPr/>
          <a:lstStyle/>
          <a:p>
            <a:endParaRPr lang="en-US"/>
          </a:p>
        </p:txBody>
      </p:sp>
      <p:sp>
        <p:nvSpPr>
          <p:cNvPr id="16" name="Text 13"/>
          <p:cNvSpPr/>
          <p:nvPr/>
        </p:nvSpPr>
        <p:spPr>
          <a:xfrm>
            <a:off x="777240" y="461772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User control and freedom</a:t>
            </a:r>
            <a:endParaRPr lang="en-US" sz="1900" dirty="0"/>
          </a:p>
        </p:txBody>
      </p:sp>
      <p:sp>
        <p:nvSpPr>
          <p:cNvPr id="17" name="Text 14"/>
          <p:cNvSpPr/>
          <p:nvPr/>
        </p:nvSpPr>
        <p:spPr>
          <a:xfrm>
            <a:off x="777240" y="503834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Give a clear back or cancel on every screen</a:t>
            </a:r>
            <a:endParaRPr lang="en-US" sz="1600" dirty="0"/>
          </a:p>
        </p:txBody>
      </p:sp>
      <p:sp>
        <p:nvSpPr>
          <p:cNvPr id="18" name="Shape 15"/>
          <p:cNvSpPr/>
          <p:nvPr/>
        </p:nvSpPr>
        <p:spPr>
          <a:xfrm>
            <a:off x="6309360" y="2103120"/>
            <a:ext cx="73152" cy="868680"/>
          </a:xfrm>
          <a:prstGeom prst="rect">
            <a:avLst/>
          </a:prstGeom>
          <a:solidFill>
            <a:srgbClr val="50B5AD"/>
          </a:solidFill>
          <a:ln/>
        </p:spPr>
        <p:txBody>
          <a:bodyPr/>
          <a:lstStyle/>
          <a:p>
            <a:endParaRPr lang="en-US"/>
          </a:p>
        </p:txBody>
      </p:sp>
      <p:sp>
        <p:nvSpPr>
          <p:cNvPr id="19" name="Text 16"/>
          <p:cNvSpPr/>
          <p:nvPr/>
        </p:nvSpPr>
        <p:spPr>
          <a:xfrm>
            <a:off x="6537960" y="205740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Consistency and standards</a:t>
            </a:r>
            <a:endParaRPr lang="en-US" sz="1900" dirty="0"/>
          </a:p>
        </p:txBody>
      </p:sp>
      <p:sp>
        <p:nvSpPr>
          <p:cNvPr id="20" name="Text 17"/>
          <p:cNvSpPr/>
          <p:nvPr/>
        </p:nvSpPr>
        <p:spPr>
          <a:xfrm>
            <a:off x="6537960" y="247802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Same button style and placement across screens</a:t>
            </a:r>
            <a:endParaRPr lang="en-US" sz="1600" dirty="0"/>
          </a:p>
        </p:txBody>
      </p:sp>
      <p:sp>
        <p:nvSpPr>
          <p:cNvPr id="21" name="Shape 18"/>
          <p:cNvSpPr/>
          <p:nvPr/>
        </p:nvSpPr>
        <p:spPr>
          <a:xfrm>
            <a:off x="6309360" y="3383280"/>
            <a:ext cx="73152" cy="868680"/>
          </a:xfrm>
          <a:prstGeom prst="rect">
            <a:avLst/>
          </a:prstGeom>
          <a:solidFill>
            <a:srgbClr val="50B5AD"/>
          </a:solidFill>
          <a:ln/>
        </p:spPr>
        <p:txBody>
          <a:bodyPr/>
          <a:lstStyle/>
          <a:p>
            <a:endParaRPr lang="en-US"/>
          </a:p>
        </p:txBody>
      </p:sp>
      <p:sp>
        <p:nvSpPr>
          <p:cNvPr id="22" name="Text 19"/>
          <p:cNvSpPr/>
          <p:nvPr/>
        </p:nvSpPr>
        <p:spPr>
          <a:xfrm>
            <a:off x="6537960" y="333756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Recognition over recall</a:t>
            </a:r>
            <a:endParaRPr lang="en-US" sz="1900" dirty="0"/>
          </a:p>
        </p:txBody>
      </p:sp>
      <p:sp>
        <p:nvSpPr>
          <p:cNvPr id="23" name="Text 20"/>
          <p:cNvSpPr/>
          <p:nvPr/>
        </p:nvSpPr>
        <p:spPr>
          <a:xfrm>
            <a:off x="6537960" y="375818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Show options rather than expecting users to remember them</a:t>
            </a:r>
            <a:endParaRPr lang="en-US" sz="1600" dirty="0"/>
          </a:p>
        </p:txBody>
      </p:sp>
      <p:sp>
        <p:nvSpPr>
          <p:cNvPr id="24" name="Shape 21"/>
          <p:cNvSpPr/>
          <p:nvPr/>
        </p:nvSpPr>
        <p:spPr>
          <a:xfrm>
            <a:off x="6309360" y="4663440"/>
            <a:ext cx="73152" cy="868680"/>
          </a:xfrm>
          <a:prstGeom prst="rect">
            <a:avLst/>
          </a:prstGeom>
          <a:solidFill>
            <a:srgbClr val="50B5AD"/>
          </a:solidFill>
          <a:ln/>
        </p:spPr>
        <p:txBody>
          <a:bodyPr/>
          <a:lstStyle/>
          <a:p>
            <a:endParaRPr lang="en-US"/>
          </a:p>
        </p:txBody>
      </p:sp>
      <p:sp>
        <p:nvSpPr>
          <p:cNvPr id="25" name="Text 22"/>
          <p:cNvSpPr/>
          <p:nvPr/>
        </p:nvSpPr>
        <p:spPr>
          <a:xfrm>
            <a:off x="6537960" y="4617720"/>
            <a:ext cx="4937760" cy="411480"/>
          </a:xfrm>
          <a:prstGeom prst="rect">
            <a:avLst/>
          </a:prstGeom>
          <a:noFill/>
          <a:ln/>
        </p:spPr>
        <p:txBody>
          <a:bodyPr wrap="square" lIns="0" tIns="0" rIns="0" bIns="0" rtlCol="0" anchor="ctr"/>
          <a:lstStyle/>
          <a:p>
            <a:pPr marL="0" indent="0">
              <a:buNone/>
            </a:pPr>
            <a:r>
              <a:rPr lang="en-US" sz="1900" b="1" dirty="0">
                <a:solidFill>
                  <a:srgbClr val="262626"/>
                </a:solidFill>
                <a:latin typeface="Calibri" pitchFamily="34" charset="0"/>
                <a:ea typeface="Calibri" pitchFamily="34" charset="-122"/>
                <a:cs typeface="Calibri" pitchFamily="34" charset="-120"/>
              </a:rPr>
              <a:t>Error prevention</a:t>
            </a:r>
            <a:endParaRPr lang="en-US" sz="1900" dirty="0"/>
          </a:p>
        </p:txBody>
      </p:sp>
      <p:sp>
        <p:nvSpPr>
          <p:cNvPr id="26" name="Text 23"/>
          <p:cNvSpPr/>
          <p:nvPr/>
        </p:nvSpPr>
        <p:spPr>
          <a:xfrm>
            <a:off x="6537960" y="5038344"/>
            <a:ext cx="4937760" cy="502920"/>
          </a:xfrm>
          <a:prstGeom prst="rect">
            <a:avLst/>
          </a:prstGeom>
          <a:noFill/>
          <a:ln/>
        </p:spPr>
        <p:txBody>
          <a:bodyPr wrap="square" lIns="0" tIns="0" rIns="0" bIns="0" rtlCol="0" anchor="ctr"/>
          <a:lstStyle/>
          <a:p>
            <a:pPr marL="0" indent="0">
              <a:buNone/>
            </a:pPr>
            <a:r>
              <a:rPr lang="en-US" sz="1600" dirty="0">
                <a:solidFill>
                  <a:srgbClr val="595959"/>
                </a:solidFill>
                <a:latin typeface="Calibri" pitchFamily="34" charset="0"/>
                <a:ea typeface="Calibri" pitchFamily="34" charset="-122"/>
                <a:cs typeface="Calibri" pitchFamily="34" charset="-120"/>
              </a:rPr>
              <a:t>Confirm before destructive actions, such as delete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Design Considerations for Small Screens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9 / 13</a:t>
            </a:r>
            <a:endParaRPr lang="en-US" sz="1300" dirty="0"/>
          </a:p>
        </p:txBody>
      </p:sp>
      <p:sp>
        <p:nvSpPr>
          <p:cNvPr id="8" name="Text 5"/>
          <p:cNvSpPr/>
          <p:nvPr/>
        </p:nvSpPr>
        <p:spPr>
          <a:xfrm>
            <a:off x="457200" y="1463040"/>
            <a:ext cx="6126480" cy="822960"/>
          </a:xfrm>
          <a:prstGeom prst="rect">
            <a:avLst/>
          </a:prstGeom>
          <a:noFill/>
          <a:ln/>
        </p:spPr>
        <p:txBody>
          <a:bodyPr wrap="square" lIns="0" tIns="0" rIns="0" bIns="0" rtlCol="0" anchor="t"/>
          <a:lstStyle/>
          <a:p>
            <a:pPr marL="0" indent="0">
              <a:lnSpc>
                <a:spcPts val="2200"/>
              </a:lnSpc>
              <a:buNone/>
            </a:pPr>
            <a:r>
              <a:rPr lang="en-US" sz="1800" b="1" dirty="0">
                <a:solidFill>
                  <a:srgbClr val="2D6B66"/>
                </a:solidFill>
                <a:latin typeface="Calibri" pitchFamily="34" charset="0"/>
                <a:ea typeface="Calibri" pitchFamily="34" charset="-122"/>
                <a:cs typeface="Calibri" pitchFamily="34" charset="-120"/>
              </a:rPr>
              <a:t>Touch targets — </a:t>
            </a:r>
            <a:r>
              <a:rPr lang="en-US" sz="1800" dirty="0">
                <a:solidFill>
                  <a:srgbClr val="262626"/>
                </a:solidFill>
                <a:latin typeface="Calibri" pitchFamily="34" charset="0"/>
                <a:ea typeface="Calibri" pitchFamily="34" charset="-122"/>
                <a:cs typeface="Calibri" pitchFamily="34" charset="-120"/>
              </a:rPr>
              <a:t>Minimum 48dp × 48dp, even if it extends past the icon itself</a:t>
            </a:r>
            <a:endParaRPr lang="en-US" sz="1800" dirty="0"/>
          </a:p>
        </p:txBody>
      </p:sp>
      <p:sp>
        <p:nvSpPr>
          <p:cNvPr id="9" name="Text 6"/>
          <p:cNvSpPr/>
          <p:nvPr/>
        </p:nvSpPr>
        <p:spPr>
          <a:xfrm>
            <a:off x="457200" y="2423160"/>
            <a:ext cx="6126480" cy="822960"/>
          </a:xfrm>
          <a:prstGeom prst="rect">
            <a:avLst/>
          </a:prstGeom>
          <a:noFill/>
          <a:ln/>
        </p:spPr>
        <p:txBody>
          <a:bodyPr wrap="square" lIns="0" tIns="0" rIns="0" bIns="0" rtlCol="0" anchor="t"/>
          <a:lstStyle/>
          <a:p>
            <a:pPr marL="0" indent="0">
              <a:lnSpc>
                <a:spcPts val="2200"/>
              </a:lnSpc>
              <a:buNone/>
            </a:pPr>
            <a:r>
              <a:rPr lang="en-US" sz="1800" b="1" dirty="0">
                <a:solidFill>
                  <a:srgbClr val="2D6B66"/>
                </a:solidFill>
                <a:latin typeface="Calibri" pitchFamily="34" charset="0"/>
                <a:ea typeface="Calibri" pitchFamily="34" charset="-122"/>
                <a:cs typeface="Calibri" pitchFamily="34" charset="-120"/>
              </a:rPr>
              <a:t>Legible text — </a:t>
            </a:r>
            <a:r>
              <a:rPr lang="en-US" sz="1800" dirty="0">
                <a:solidFill>
                  <a:srgbClr val="262626"/>
                </a:solidFill>
                <a:latin typeface="Calibri" pitchFamily="34" charset="0"/>
                <a:ea typeface="Calibri" pitchFamily="34" charset="-122"/>
                <a:cs typeface="Calibri" pitchFamily="34" charset="-120"/>
              </a:rPr>
              <a:t>Body text no smaller than 12sp; use sp units so users can scale it</a:t>
            </a:r>
            <a:endParaRPr lang="en-US" sz="1800" dirty="0"/>
          </a:p>
        </p:txBody>
      </p:sp>
      <p:sp>
        <p:nvSpPr>
          <p:cNvPr id="10" name="Text 7"/>
          <p:cNvSpPr/>
          <p:nvPr/>
        </p:nvSpPr>
        <p:spPr>
          <a:xfrm>
            <a:off x="457200" y="3383280"/>
            <a:ext cx="6126480" cy="822960"/>
          </a:xfrm>
          <a:prstGeom prst="rect">
            <a:avLst/>
          </a:prstGeom>
          <a:noFill/>
          <a:ln/>
        </p:spPr>
        <p:txBody>
          <a:bodyPr wrap="square" lIns="0" tIns="0" rIns="0" bIns="0" rtlCol="0" anchor="t"/>
          <a:lstStyle/>
          <a:p>
            <a:pPr marL="0" indent="0">
              <a:lnSpc>
                <a:spcPts val="2200"/>
              </a:lnSpc>
              <a:buNone/>
            </a:pPr>
            <a:r>
              <a:rPr lang="en-US" sz="1800" b="1" dirty="0">
                <a:solidFill>
                  <a:srgbClr val="2D6B66"/>
                </a:solidFill>
                <a:latin typeface="Calibri" pitchFamily="34" charset="0"/>
                <a:ea typeface="Calibri" pitchFamily="34" charset="-122"/>
                <a:cs typeface="Calibri" pitchFamily="34" charset="-120"/>
              </a:rPr>
              <a:t>Color contrast — </a:t>
            </a:r>
            <a:r>
              <a:rPr lang="en-US" sz="1800" dirty="0">
                <a:solidFill>
                  <a:srgbClr val="262626"/>
                </a:solidFill>
                <a:latin typeface="Calibri" pitchFamily="34" charset="0"/>
                <a:ea typeface="Calibri" pitchFamily="34" charset="-122"/>
                <a:cs typeface="Calibri" pitchFamily="34" charset="-120"/>
              </a:rPr>
              <a:t>At least 4.5:1 between text and its background</a:t>
            </a:r>
            <a:endParaRPr lang="en-US" sz="1800" dirty="0"/>
          </a:p>
        </p:txBody>
      </p:sp>
      <p:sp>
        <p:nvSpPr>
          <p:cNvPr id="11" name="Text 8"/>
          <p:cNvSpPr/>
          <p:nvPr/>
        </p:nvSpPr>
        <p:spPr>
          <a:xfrm>
            <a:off x="457200" y="4343400"/>
            <a:ext cx="6126480" cy="822960"/>
          </a:xfrm>
          <a:prstGeom prst="rect">
            <a:avLst/>
          </a:prstGeom>
          <a:noFill/>
          <a:ln/>
        </p:spPr>
        <p:txBody>
          <a:bodyPr wrap="square" lIns="0" tIns="0" rIns="0" bIns="0" rtlCol="0" anchor="t"/>
          <a:lstStyle/>
          <a:p>
            <a:pPr marL="0" indent="0">
              <a:lnSpc>
                <a:spcPts val="2200"/>
              </a:lnSpc>
              <a:buNone/>
            </a:pPr>
            <a:r>
              <a:rPr lang="en-US" sz="1800" b="1" dirty="0">
                <a:solidFill>
                  <a:srgbClr val="2D6B66"/>
                </a:solidFill>
                <a:latin typeface="Calibri" pitchFamily="34" charset="0"/>
                <a:ea typeface="Calibri" pitchFamily="34" charset="-122"/>
                <a:cs typeface="Calibri" pitchFamily="34" charset="-120"/>
              </a:rPr>
              <a:t>Reach zone — </a:t>
            </a:r>
            <a:r>
              <a:rPr lang="en-US" sz="1800" dirty="0">
                <a:solidFill>
                  <a:srgbClr val="262626"/>
                </a:solidFill>
                <a:latin typeface="Calibri" pitchFamily="34" charset="0"/>
                <a:ea typeface="Calibri" pitchFamily="34" charset="-122"/>
                <a:cs typeface="Calibri" pitchFamily="34" charset="-120"/>
              </a:rPr>
              <a:t>Primary actions low on screen; rare actions placed near the top</a:t>
            </a:r>
            <a:endParaRPr lang="en-US" sz="1800" dirty="0"/>
          </a:p>
        </p:txBody>
      </p:sp>
      <p:sp>
        <p:nvSpPr>
          <p:cNvPr id="12" name="Text 9"/>
          <p:cNvSpPr/>
          <p:nvPr/>
        </p:nvSpPr>
        <p:spPr>
          <a:xfrm>
            <a:off x="457200" y="6309360"/>
            <a:ext cx="5943600" cy="274320"/>
          </a:xfrm>
          <a:prstGeom prst="rect">
            <a:avLst/>
          </a:prstGeom>
          <a:noFill/>
          <a:ln/>
        </p:spPr>
        <p:txBody>
          <a:bodyPr wrap="square" lIns="0" tIns="0" rIns="0" bIns="0"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Source: Android Developers, Accessibility guidance, developer.android.com/design/ui</a:t>
            </a:r>
            <a:endParaRPr lang="en-US" sz="1100" dirty="0"/>
          </a:p>
        </p:txBody>
      </p:sp>
      <p:sp>
        <p:nvSpPr>
          <p:cNvPr id="13" name="Shape 10"/>
          <p:cNvSpPr/>
          <p:nvPr/>
        </p:nvSpPr>
        <p:spPr>
          <a:xfrm>
            <a:off x="7680960" y="1463040"/>
            <a:ext cx="3108960" cy="4434840"/>
          </a:xfrm>
          <a:prstGeom prst="roundRect">
            <a:avLst>
              <a:gd name="adj" fmla="val 2941"/>
            </a:avLst>
          </a:prstGeom>
          <a:solidFill>
            <a:srgbClr val="FFFFFF"/>
          </a:solidFill>
          <a:ln w="25400">
            <a:solidFill>
              <a:srgbClr val="262626"/>
            </a:solidFill>
            <a:prstDash val="solid"/>
          </a:ln>
        </p:spPr>
        <p:txBody>
          <a:bodyPr/>
          <a:lstStyle/>
          <a:p>
            <a:endParaRPr lang="en-US"/>
          </a:p>
        </p:txBody>
      </p:sp>
      <p:sp>
        <p:nvSpPr>
          <p:cNvPr id="14" name="Shape 11"/>
          <p:cNvSpPr/>
          <p:nvPr/>
        </p:nvSpPr>
        <p:spPr>
          <a:xfrm>
            <a:off x="7772400" y="1554480"/>
            <a:ext cx="2926080" cy="1327709"/>
          </a:xfrm>
          <a:prstGeom prst="rect">
            <a:avLst/>
          </a:prstGeom>
          <a:solidFill>
            <a:srgbClr val="E7A6A6"/>
          </a:solidFill>
          <a:ln/>
        </p:spPr>
        <p:txBody>
          <a:bodyPr/>
          <a:lstStyle/>
          <a:p>
            <a:endParaRPr lang="en-US"/>
          </a:p>
        </p:txBody>
      </p:sp>
      <p:sp>
        <p:nvSpPr>
          <p:cNvPr id="15" name="Text 12"/>
          <p:cNvSpPr/>
          <p:nvPr/>
        </p:nvSpPr>
        <p:spPr>
          <a:xfrm>
            <a:off x="7772400" y="1989734"/>
            <a:ext cx="2926080" cy="36576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Hard to reach</a:t>
            </a:r>
            <a:endParaRPr lang="en-US" sz="1500" dirty="0"/>
          </a:p>
        </p:txBody>
      </p:sp>
      <p:sp>
        <p:nvSpPr>
          <p:cNvPr id="16" name="Shape 13"/>
          <p:cNvSpPr/>
          <p:nvPr/>
        </p:nvSpPr>
        <p:spPr>
          <a:xfrm>
            <a:off x="7772400" y="2882189"/>
            <a:ext cx="2926080" cy="1507846"/>
          </a:xfrm>
          <a:prstGeom prst="rect">
            <a:avLst/>
          </a:prstGeom>
          <a:solidFill>
            <a:srgbClr val="F6DD26"/>
          </a:solidFill>
          <a:ln/>
        </p:spPr>
        <p:txBody>
          <a:bodyPr/>
          <a:lstStyle/>
          <a:p>
            <a:endParaRPr lang="en-US"/>
          </a:p>
        </p:txBody>
      </p:sp>
      <p:sp>
        <p:nvSpPr>
          <p:cNvPr id="17" name="Text 14"/>
          <p:cNvSpPr/>
          <p:nvPr/>
        </p:nvSpPr>
        <p:spPr>
          <a:xfrm>
            <a:off x="7772400" y="3453232"/>
            <a:ext cx="2926080" cy="36576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Moderate reach</a:t>
            </a:r>
            <a:endParaRPr lang="en-US" sz="1500" dirty="0"/>
          </a:p>
        </p:txBody>
      </p:sp>
      <p:sp>
        <p:nvSpPr>
          <p:cNvPr id="18" name="Shape 15"/>
          <p:cNvSpPr/>
          <p:nvPr/>
        </p:nvSpPr>
        <p:spPr>
          <a:xfrm>
            <a:off x="7772400" y="4390034"/>
            <a:ext cx="2926080" cy="1507846"/>
          </a:xfrm>
          <a:prstGeom prst="rect">
            <a:avLst/>
          </a:prstGeom>
          <a:solidFill>
            <a:srgbClr val="9FD8CC"/>
          </a:solidFill>
          <a:ln/>
        </p:spPr>
        <p:txBody>
          <a:bodyPr/>
          <a:lstStyle/>
          <a:p>
            <a:endParaRPr lang="en-US"/>
          </a:p>
        </p:txBody>
      </p:sp>
      <p:sp>
        <p:nvSpPr>
          <p:cNvPr id="19" name="Text 16"/>
          <p:cNvSpPr/>
          <p:nvPr/>
        </p:nvSpPr>
        <p:spPr>
          <a:xfrm>
            <a:off x="7772400" y="4961077"/>
            <a:ext cx="2926080" cy="365760"/>
          </a:xfrm>
          <a:prstGeom prst="rect">
            <a:avLst/>
          </a:prstGeom>
          <a:noFill/>
          <a:ln/>
        </p:spPr>
        <p:txBody>
          <a:bodyPr wrap="square" lIns="0" tIns="0" rIns="0" bIns="0" rtlCol="0" anchor="ctr"/>
          <a:lstStyle/>
          <a:p>
            <a:pPr marL="0" indent="0" algn="ctr">
              <a:buNone/>
            </a:pPr>
            <a:r>
              <a:rPr lang="en-US" sz="1500" b="1" dirty="0">
                <a:solidFill>
                  <a:srgbClr val="262626"/>
                </a:solidFill>
                <a:latin typeface="Calibri" pitchFamily="34" charset="0"/>
                <a:ea typeface="Calibri" pitchFamily="34" charset="-122"/>
                <a:cs typeface="Calibri" pitchFamily="34" charset="-120"/>
              </a:rPr>
              <a:t>Easy reach</a:t>
            </a:r>
            <a:endParaRPr lang="en-US" sz="1500" dirty="0"/>
          </a:p>
        </p:txBody>
      </p:sp>
      <p:sp>
        <p:nvSpPr>
          <p:cNvPr id="20" name="Text 17"/>
          <p:cNvSpPr/>
          <p:nvPr/>
        </p:nvSpPr>
        <p:spPr>
          <a:xfrm>
            <a:off x="7680960" y="5989320"/>
            <a:ext cx="3108960" cy="320040"/>
          </a:xfrm>
          <a:prstGeom prst="rect">
            <a:avLst/>
          </a:prstGeom>
          <a:noFill/>
          <a:ln/>
        </p:spPr>
        <p:txBody>
          <a:bodyPr wrap="square" lIns="0" tIns="0" rIns="0" bIns="0" rtlCol="0" anchor="ctr"/>
          <a:lstStyle/>
          <a:p>
            <a:pPr marL="0" indent="0" algn="ctr">
              <a:buNone/>
            </a:pPr>
            <a:r>
              <a:rPr lang="en-US" sz="1300" dirty="0">
                <a:solidFill>
                  <a:srgbClr val="595959"/>
                </a:solidFill>
                <a:latin typeface="Calibri" pitchFamily="34" charset="0"/>
                <a:ea typeface="Calibri" pitchFamily="34" charset="-122"/>
                <a:cs typeface="Calibri" pitchFamily="34" charset="-120"/>
              </a:rPr>
              <a:t>Figure: reach zones on a typical handheld device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Practical Activity 2: Android Build</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10 / 13</a:t>
            </a:r>
            <a:endParaRPr lang="en-US" sz="1300" dirty="0"/>
          </a:p>
        </p:txBody>
      </p:sp>
      <p:sp>
        <p:nvSpPr>
          <p:cNvPr id="8" name="Text 5"/>
          <p:cNvSpPr/>
          <p:nvPr/>
        </p:nvSpPr>
        <p:spPr>
          <a:xfrm>
            <a:off x="457200" y="1353312"/>
            <a:ext cx="11247120" cy="320040"/>
          </a:xfrm>
          <a:prstGeom prst="rect">
            <a:avLst/>
          </a:prstGeom>
          <a:noFill/>
          <a:ln/>
        </p:spPr>
        <p:txBody>
          <a:bodyPr wrap="square" lIns="0" tIns="0" rIns="0" bIns="0" rtlCol="0" anchor="ctr"/>
          <a:lstStyle/>
          <a:p>
            <a:pPr marL="0" indent="0">
              <a:buNone/>
            </a:pPr>
            <a:r>
              <a:rPr lang="en-US" sz="1800" b="1" dirty="0">
                <a:solidFill>
                  <a:srgbClr val="2D6B66"/>
                </a:solidFill>
                <a:latin typeface="Calibri" pitchFamily="34" charset="0"/>
                <a:ea typeface="Calibri" pitchFamily="34" charset="-122"/>
                <a:cs typeface="Calibri" pitchFamily="34" charset="-120"/>
              </a:rPr>
              <a:t>Case study: QuickCart</a:t>
            </a:r>
            <a:endParaRPr lang="en-US" sz="1800" dirty="0"/>
          </a:p>
        </p:txBody>
      </p:sp>
      <p:sp>
        <p:nvSpPr>
          <p:cNvPr id="9" name="Text 6"/>
          <p:cNvSpPr/>
          <p:nvPr/>
        </p:nvSpPr>
        <p:spPr>
          <a:xfrm>
            <a:off x="457200" y="1691640"/>
            <a:ext cx="11247120" cy="548640"/>
          </a:xfrm>
          <a:prstGeom prst="rect">
            <a:avLst/>
          </a:prstGeom>
          <a:noFill/>
          <a:ln/>
        </p:spPr>
        <p:txBody>
          <a:bodyPr wrap="square" lIns="0" tIns="0" rIns="0" bIns="0" rtlCol="0" anchor="t"/>
          <a:lstStyle/>
          <a:p>
            <a:pPr marL="0" indent="0">
              <a:lnSpc>
                <a:spcPts val="2000"/>
              </a:lnSpc>
              <a:buNone/>
            </a:pPr>
            <a:r>
              <a:rPr lang="en-US" sz="1600" dirty="0">
                <a:solidFill>
                  <a:srgbClr val="262626"/>
                </a:solidFill>
                <a:latin typeface="Calibri" pitchFamily="34" charset="0"/>
                <a:ea typeface="Calibri" pitchFamily="34" charset="-122"/>
                <a:cs typeface="Calibri" pitchFamily="34" charset="-120"/>
              </a:rPr>
              <a:t>Using the Sign Up, Settings, and Checkout screens examined in Practical Activity 1, design corrected interfaces in Figma, then embed each design in Android Studio as the corresponding layout and code.</a:t>
            </a:r>
            <a:endParaRPr lang="en-US" sz="1600" dirty="0"/>
          </a:p>
        </p:txBody>
      </p:sp>
      <p:sp>
        <p:nvSpPr>
          <p:cNvPr id="10" name="Shape 7"/>
          <p:cNvSpPr/>
          <p:nvPr/>
        </p:nvSpPr>
        <p:spPr>
          <a:xfrm>
            <a:off x="548640" y="2514600"/>
            <a:ext cx="402336" cy="402336"/>
          </a:xfrm>
          <a:prstGeom prst="ellipse">
            <a:avLst/>
          </a:prstGeom>
          <a:solidFill>
            <a:srgbClr val="2D6B66"/>
          </a:solidFill>
          <a:ln/>
        </p:spPr>
        <p:txBody>
          <a:bodyPr/>
          <a:lstStyle/>
          <a:p>
            <a:endParaRPr lang="en-US"/>
          </a:p>
        </p:txBody>
      </p:sp>
      <p:sp>
        <p:nvSpPr>
          <p:cNvPr id="11" name="Text 8"/>
          <p:cNvSpPr/>
          <p:nvPr/>
        </p:nvSpPr>
        <p:spPr>
          <a:xfrm>
            <a:off x="548640" y="25146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9"/>
          <p:cNvSpPr/>
          <p:nvPr/>
        </p:nvSpPr>
        <p:spPr>
          <a:xfrm>
            <a:off x="1133856" y="2487168"/>
            <a:ext cx="10479024" cy="731520"/>
          </a:xfrm>
          <a:prstGeom prst="rect">
            <a:avLst/>
          </a:prstGeom>
          <a:noFill/>
          <a:ln/>
        </p:spPr>
        <p:txBody>
          <a:bodyPr wrap="square" lIns="0" tIns="0" rIns="0" bIns="0" rtlCol="0" anchor="t"/>
          <a:lstStyle/>
          <a:p>
            <a:pPr marL="0" indent="0">
              <a:lnSpc>
                <a:spcPts val="2100"/>
              </a:lnSpc>
              <a:buNone/>
            </a:pPr>
            <a:r>
              <a:rPr lang="en-US" sz="1800" b="1" dirty="0">
                <a:solidFill>
                  <a:srgbClr val="262626"/>
                </a:solidFill>
                <a:latin typeface="Calibri" pitchFamily="34" charset="0"/>
                <a:ea typeface="Calibri" pitchFamily="34" charset="-122"/>
                <a:cs typeface="Calibri" pitchFamily="34" charset="-120"/>
              </a:rPr>
              <a:t>Design the interfaces in Figma</a:t>
            </a:r>
            <a:r>
              <a:rPr lang="en-US" sz="1600" dirty="0">
                <a:solidFill>
                  <a:srgbClr val="595959"/>
                </a:solidFill>
                <a:latin typeface="Calibri" pitchFamily="34" charset="0"/>
                <a:ea typeface="Calibri" pitchFamily="34" charset="-122"/>
                <a:cs typeface="Calibri" pitchFamily="34" charset="-120"/>
              </a:rPr>
              <a:t>  —  Create a corrected Figma design for the Sign Up, Settings, and Checkout screens, applying the principles covered in this lesson</a:t>
            </a:r>
            <a:endParaRPr lang="en-US" sz="1800" dirty="0"/>
          </a:p>
        </p:txBody>
      </p:sp>
      <p:sp>
        <p:nvSpPr>
          <p:cNvPr id="13" name="Shape 10"/>
          <p:cNvSpPr/>
          <p:nvPr/>
        </p:nvSpPr>
        <p:spPr>
          <a:xfrm>
            <a:off x="548640" y="3474720"/>
            <a:ext cx="402336" cy="402336"/>
          </a:xfrm>
          <a:prstGeom prst="ellipse">
            <a:avLst/>
          </a:prstGeom>
          <a:solidFill>
            <a:srgbClr val="2D6B66"/>
          </a:solidFill>
          <a:ln/>
        </p:spPr>
        <p:txBody>
          <a:bodyPr/>
          <a:lstStyle/>
          <a:p>
            <a:endParaRPr lang="en-US"/>
          </a:p>
        </p:txBody>
      </p:sp>
      <p:sp>
        <p:nvSpPr>
          <p:cNvPr id="14" name="Text 11"/>
          <p:cNvSpPr/>
          <p:nvPr/>
        </p:nvSpPr>
        <p:spPr>
          <a:xfrm>
            <a:off x="548640" y="347472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1133856" y="3447288"/>
            <a:ext cx="10479024" cy="731520"/>
          </a:xfrm>
          <a:prstGeom prst="rect">
            <a:avLst/>
          </a:prstGeom>
          <a:noFill/>
          <a:ln/>
        </p:spPr>
        <p:txBody>
          <a:bodyPr wrap="square" lIns="0" tIns="0" rIns="0" bIns="0" rtlCol="0" anchor="t"/>
          <a:lstStyle/>
          <a:p>
            <a:pPr marL="0" indent="0">
              <a:lnSpc>
                <a:spcPts val="2100"/>
              </a:lnSpc>
              <a:buNone/>
            </a:pPr>
            <a:r>
              <a:rPr lang="en-US" sz="1800" b="1" dirty="0">
                <a:solidFill>
                  <a:srgbClr val="262626"/>
                </a:solidFill>
                <a:latin typeface="Calibri" pitchFamily="34" charset="0"/>
                <a:ea typeface="Calibri" pitchFamily="34" charset="-122"/>
                <a:cs typeface="Calibri" pitchFamily="34" charset="-120"/>
              </a:rPr>
              <a:t>Embed each design in Android Studio</a:t>
            </a:r>
            <a:r>
              <a:rPr lang="en-US" sz="1600" dirty="0">
                <a:solidFill>
                  <a:srgbClr val="595959"/>
                </a:solidFill>
                <a:latin typeface="Calibri" pitchFamily="34" charset="0"/>
                <a:ea typeface="Calibri" pitchFamily="34" charset="-122"/>
                <a:cs typeface="Calibri" pitchFamily="34" charset="-120"/>
              </a:rPr>
              <a:t>  —  For every screen designed in Figma, build the matching XML layout and Activity (or Fragment), and write the navigation code between them</a:t>
            </a:r>
            <a:endParaRPr lang="en-US" sz="1800" dirty="0"/>
          </a:p>
        </p:txBody>
      </p:sp>
      <p:sp>
        <p:nvSpPr>
          <p:cNvPr id="16" name="Shape 13"/>
          <p:cNvSpPr/>
          <p:nvPr/>
        </p:nvSpPr>
        <p:spPr>
          <a:xfrm>
            <a:off x="548640" y="4434840"/>
            <a:ext cx="402336" cy="402336"/>
          </a:xfrm>
          <a:prstGeom prst="ellipse">
            <a:avLst/>
          </a:prstGeom>
          <a:solidFill>
            <a:srgbClr val="2D6B66"/>
          </a:solidFill>
          <a:ln/>
        </p:spPr>
        <p:txBody>
          <a:bodyPr/>
          <a:lstStyle/>
          <a:p>
            <a:endParaRPr lang="en-US"/>
          </a:p>
        </p:txBody>
      </p:sp>
      <p:sp>
        <p:nvSpPr>
          <p:cNvPr id="17" name="Text 14"/>
          <p:cNvSpPr/>
          <p:nvPr/>
        </p:nvSpPr>
        <p:spPr>
          <a:xfrm>
            <a:off x="548640" y="443484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p:nvPr/>
        </p:nvSpPr>
        <p:spPr>
          <a:xfrm>
            <a:off x="1133856" y="4407408"/>
            <a:ext cx="10479024" cy="731520"/>
          </a:xfrm>
          <a:prstGeom prst="rect">
            <a:avLst/>
          </a:prstGeom>
          <a:noFill/>
          <a:ln/>
        </p:spPr>
        <p:txBody>
          <a:bodyPr wrap="square" lIns="0" tIns="0" rIns="0" bIns="0" rtlCol="0" anchor="t"/>
          <a:lstStyle/>
          <a:p>
            <a:pPr marL="0" indent="0">
              <a:lnSpc>
                <a:spcPts val="2100"/>
              </a:lnSpc>
              <a:buNone/>
            </a:pPr>
            <a:r>
              <a:rPr lang="en-US" sz="1800" b="1" dirty="0">
                <a:solidFill>
                  <a:srgbClr val="262626"/>
                </a:solidFill>
                <a:latin typeface="Calibri" pitchFamily="34" charset="0"/>
                <a:ea typeface="Calibri" pitchFamily="34" charset="-122"/>
                <a:cs typeface="Calibri" pitchFamily="34" charset="-120"/>
              </a:rPr>
              <a:t>Develop a simple working project</a:t>
            </a:r>
            <a:r>
              <a:rPr lang="en-US" sz="1600" dirty="0">
                <a:solidFill>
                  <a:srgbClr val="595959"/>
                </a:solidFill>
                <a:latin typeface="Calibri" pitchFamily="34" charset="0"/>
                <a:ea typeface="Calibri" pitchFamily="34" charset="-122"/>
                <a:cs typeface="Calibri" pitchFamily="34" charset="-120"/>
              </a:rPr>
              <a:t>  —  Build and run the project so the Android Studio implementation matches the Figma design for each screen</a:t>
            </a:r>
            <a:endParaRPr lang="en-US" sz="1800" dirty="0"/>
          </a:p>
        </p:txBody>
      </p:sp>
      <p:sp>
        <p:nvSpPr>
          <p:cNvPr id="19" name="Shape 16"/>
          <p:cNvSpPr/>
          <p:nvPr/>
        </p:nvSpPr>
        <p:spPr>
          <a:xfrm>
            <a:off x="457200" y="5440680"/>
            <a:ext cx="11274552" cy="0"/>
          </a:xfrm>
          <a:prstGeom prst="line">
            <a:avLst/>
          </a:prstGeom>
          <a:noFill/>
          <a:ln w="12700">
            <a:solidFill>
              <a:srgbClr val="D9D9D9"/>
            </a:solidFill>
            <a:prstDash val="solid"/>
          </a:ln>
        </p:spPr>
        <p:txBody>
          <a:bodyPr/>
          <a:lstStyle/>
          <a:p>
            <a:endParaRPr lang="en-US"/>
          </a:p>
        </p:txBody>
      </p:sp>
      <p:sp>
        <p:nvSpPr>
          <p:cNvPr id="20" name="Text 17"/>
          <p:cNvSpPr/>
          <p:nvPr/>
        </p:nvSpPr>
        <p:spPr>
          <a:xfrm>
            <a:off x="548640" y="5596128"/>
            <a:ext cx="11064240" cy="548640"/>
          </a:xfrm>
          <a:prstGeom prst="rect">
            <a:avLst/>
          </a:prstGeom>
          <a:noFill/>
          <a:ln/>
        </p:spPr>
        <p:txBody>
          <a:bodyPr wrap="square" lIns="0" tIns="0" rIns="0" bIns="0" rtlCol="0" anchor="t"/>
          <a:lstStyle/>
          <a:p>
            <a:pPr marL="0" indent="0">
              <a:lnSpc>
                <a:spcPts val="2000"/>
              </a:lnSpc>
              <a:buNone/>
            </a:pPr>
            <a:r>
              <a:rPr lang="en-US" sz="1600" b="1" dirty="0">
                <a:solidFill>
                  <a:srgbClr val="2D6B66"/>
                </a:solidFill>
                <a:latin typeface="Calibri" pitchFamily="34" charset="0"/>
                <a:ea typeface="Calibri" pitchFamily="34" charset="-122"/>
                <a:cs typeface="Calibri" pitchFamily="34" charset="-120"/>
              </a:rPr>
              <a:t>Deliverables:  </a:t>
            </a:r>
            <a:r>
              <a:rPr lang="en-US" sz="1600" dirty="0">
                <a:solidFill>
                  <a:srgbClr val="262626"/>
                </a:solidFill>
                <a:latin typeface="Calibri" pitchFamily="34" charset="0"/>
                <a:ea typeface="Calibri" pitchFamily="34" charset="-122"/>
                <a:cs typeface="Calibri" pitchFamily="34" charset="-120"/>
              </a:rPr>
              <a:t>the Figma file with the corrected QuickCart interfaces, and the Android Studio project (including source code) in which each interface is embedded as a matching layout and screen.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Summary</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11 / 13</a:t>
            </a:r>
            <a:endParaRPr lang="en-US" sz="1300" dirty="0"/>
          </a:p>
        </p:txBody>
      </p:sp>
      <p:sp>
        <p:nvSpPr>
          <p:cNvPr id="8" name="Shape 5"/>
          <p:cNvSpPr/>
          <p:nvPr/>
        </p:nvSpPr>
        <p:spPr>
          <a:xfrm>
            <a:off x="548640" y="1645920"/>
            <a:ext cx="457200" cy="457200"/>
          </a:xfrm>
          <a:prstGeom prst="ellipse">
            <a:avLst/>
          </a:prstGeom>
          <a:solidFill>
            <a:srgbClr val="2D6B66"/>
          </a:solidFill>
          <a:ln/>
        </p:spPr>
        <p:txBody>
          <a:bodyPr/>
          <a:lstStyle/>
          <a:p>
            <a:endParaRPr lang="en-US"/>
          </a:p>
        </p:txBody>
      </p:sp>
      <p:sp>
        <p:nvSpPr>
          <p:cNvPr id="9" name="Text 6"/>
          <p:cNvSpPr/>
          <p:nvPr/>
        </p:nvSpPr>
        <p:spPr>
          <a:xfrm>
            <a:off x="54864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1188720" y="1618488"/>
            <a:ext cx="10424160" cy="777240"/>
          </a:xfrm>
          <a:prstGeom prst="rect">
            <a:avLst/>
          </a:prstGeom>
          <a:noFill/>
          <a:ln/>
        </p:spPr>
        <p:txBody>
          <a:bodyPr wrap="square" lIns="0" tIns="0" rIns="0" bIns="0" rtlCol="0" anchor="t"/>
          <a:lstStyle/>
          <a:p>
            <a:pPr marL="0" indent="0">
              <a:lnSpc>
                <a:spcPts val="2300"/>
              </a:lnSpc>
              <a:buNone/>
            </a:pPr>
            <a:r>
              <a:rPr lang="en-US" sz="2000" b="1" dirty="0">
                <a:solidFill>
                  <a:srgbClr val="262626"/>
                </a:solidFill>
                <a:latin typeface="Calibri" pitchFamily="34" charset="0"/>
                <a:ea typeface="Calibri" pitchFamily="34" charset="-122"/>
                <a:cs typeface="Calibri" pitchFamily="34" charset="-120"/>
              </a:rPr>
              <a:t>Wireframe first</a:t>
            </a:r>
            <a:r>
              <a:rPr lang="en-US" sz="1800" dirty="0">
                <a:solidFill>
                  <a:srgbClr val="595959"/>
                </a:solidFill>
                <a:latin typeface="Calibri" pitchFamily="34" charset="0"/>
                <a:ea typeface="Calibri" pitchFamily="34" charset="-122"/>
                <a:cs typeface="Calibri" pitchFamily="34" charset="-120"/>
              </a:rPr>
              <a:t>  —  Agree on structure and flow before writing a line of code</a:t>
            </a:r>
            <a:endParaRPr lang="en-US" sz="2000" dirty="0"/>
          </a:p>
        </p:txBody>
      </p:sp>
      <p:sp>
        <p:nvSpPr>
          <p:cNvPr id="11" name="Shape 8"/>
          <p:cNvSpPr/>
          <p:nvPr/>
        </p:nvSpPr>
        <p:spPr>
          <a:xfrm>
            <a:off x="548640" y="2697480"/>
            <a:ext cx="457200" cy="457200"/>
          </a:xfrm>
          <a:prstGeom prst="ellipse">
            <a:avLst/>
          </a:prstGeom>
          <a:solidFill>
            <a:srgbClr val="2D6B66"/>
          </a:solidFill>
          <a:ln/>
        </p:spPr>
        <p:txBody>
          <a:bodyPr/>
          <a:lstStyle/>
          <a:p>
            <a:endParaRPr lang="en-US"/>
          </a:p>
        </p:txBody>
      </p:sp>
      <p:sp>
        <p:nvSpPr>
          <p:cNvPr id="12" name="Text 9"/>
          <p:cNvSpPr/>
          <p:nvPr/>
        </p:nvSpPr>
        <p:spPr>
          <a:xfrm>
            <a:off x="548640" y="2697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0"/>
          <p:cNvSpPr/>
          <p:nvPr/>
        </p:nvSpPr>
        <p:spPr>
          <a:xfrm>
            <a:off x="1188720" y="2670048"/>
            <a:ext cx="10424160" cy="777240"/>
          </a:xfrm>
          <a:prstGeom prst="rect">
            <a:avLst/>
          </a:prstGeom>
          <a:noFill/>
          <a:ln/>
        </p:spPr>
        <p:txBody>
          <a:bodyPr wrap="square" lIns="0" tIns="0" rIns="0" bIns="0" rtlCol="0" anchor="t"/>
          <a:lstStyle/>
          <a:p>
            <a:pPr marL="0" indent="0">
              <a:lnSpc>
                <a:spcPts val="2300"/>
              </a:lnSpc>
              <a:buNone/>
            </a:pPr>
            <a:r>
              <a:rPr lang="en-US" sz="2000" b="1" dirty="0">
                <a:solidFill>
                  <a:srgbClr val="262626"/>
                </a:solidFill>
                <a:latin typeface="Calibri" pitchFamily="34" charset="0"/>
                <a:ea typeface="Calibri" pitchFamily="34" charset="-122"/>
                <a:cs typeface="Calibri" pitchFamily="34" charset="-120"/>
              </a:rPr>
              <a:t>Prototype to test the flow</a:t>
            </a:r>
            <a:r>
              <a:rPr lang="en-US" sz="1800" dirty="0">
                <a:solidFill>
                  <a:srgbClr val="595959"/>
                </a:solidFill>
                <a:latin typeface="Calibri" pitchFamily="34" charset="0"/>
                <a:ea typeface="Calibri" pitchFamily="34" charset="-122"/>
                <a:cs typeface="Calibri" pitchFamily="34" charset="-120"/>
              </a:rPr>
              <a:t>  —  Not just the visuals — validate that users can move through the app</a:t>
            </a:r>
            <a:endParaRPr lang="en-US" sz="2000" dirty="0"/>
          </a:p>
        </p:txBody>
      </p:sp>
      <p:sp>
        <p:nvSpPr>
          <p:cNvPr id="14" name="Shape 11"/>
          <p:cNvSpPr/>
          <p:nvPr/>
        </p:nvSpPr>
        <p:spPr>
          <a:xfrm>
            <a:off x="548640" y="3749040"/>
            <a:ext cx="457200" cy="457200"/>
          </a:xfrm>
          <a:prstGeom prst="ellipse">
            <a:avLst/>
          </a:prstGeom>
          <a:solidFill>
            <a:srgbClr val="2D6B66"/>
          </a:solidFill>
          <a:ln/>
        </p:spPr>
        <p:txBody>
          <a:bodyPr/>
          <a:lstStyle/>
          <a:p>
            <a:endParaRPr lang="en-US"/>
          </a:p>
        </p:txBody>
      </p:sp>
      <p:sp>
        <p:nvSpPr>
          <p:cNvPr id="15" name="Text 12"/>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3"/>
          <p:cNvSpPr/>
          <p:nvPr/>
        </p:nvSpPr>
        <p:spPr>
          <a:xfrm>
            <a:off x="1188720" y="3721608"/>
            <a:ext cx="10424160" cy="777240"/>
          </a:xfrm>
          <a:prstGeom prst="rect">
            <a:avLst/>
          </a:prstGeom>
          <a:noFill/>
          <a:ln/>
        </p:spPr>
        <p:txBody>
          <a:bodyPr wrap="square" lIns="0" tIns="0" rIns="0" bIns="0" rtlCol="0" anchor="t"/>
          <a:lstStyle/>
          <a:p>
            <a:pPr marL="0" indent="0">
              <a:lnSpc>
                <a:spcPts val="2300"/>
              </a:lnSpc>
              <a:buNone/>
            </a:pPr>
            <a:r>
              <a:rPr lang="en-US" sz="2000" b="1" dirty="0">
                <a:solidFill>
                  <a:srgbClr val="262626"/>
                </a:solidFill>
                <a:latin typeface="Calibri" pitchFamily="34" charset="0"/>
                <a:ea typeface="Calibri" pitchFamily="34" charset="-122"/>
                <a:cs typeface="Calibri" pitchFamily="34" charset="-120"/>
              </a:rPr>
              <a:t>Heuristics identify problems early</a:t>
            </a:r>
            <a:r>
              <a:rPr lang="en-US" sz="1800" dirty="0">
                <a:solidFill>
                  <a:srgbClr val="595959"/>
                </a:solidFill>
                <a:latin typeface="Calibri" pitchFamily="34" charset="0"/>
                <a:ea typeface="Calibri" pitchFamily="34" charset="-122"/>
                <a:cs typeface="Calibri" pitchFamily="34" charset="-120"/>
              </a:rPr>
              <a:t>  —  Cheaper to correct at the wireframe stage than after the app is built</a:t>
            </a:r>
            <a:endParaRPr lang="en-US" sz="2000" dirty="0"/>
          </a:p>
        </p:txBody>
      </p:sp>
      <p:sp>
        <p:nvSpPr>
          <p:cNvPr id="17" name="Shape 14"/>
          <p:cNvSpPr/>
          <p:nvPr/>
        </p:nvSpPr>
        <p:spPr>
          <a:xfrm>
            <a:off x="548640" y="4800600"/>
            <a:ext cx="457200" cy="457200"/>
          </a:xfrm>
          <a:prstGeom prst="ellipse">
            <a:avLst/>
          </a:prstGeom>
          <a:solidFill>
            <a:srgbClr val="2D6B66"/>
          </a:solidFill>
          <a:ln/>
        </p:spPr>
        <p:txBody>
          <a:bodyPr/>
          <a:lstStyle/>
          <a:p>
            <a:endParaRPr lang="en-US"/>
          </a:p>
        </p:txBody>
      </p:sp>
      <p:sp>
        <p:nvSpPr>
          <p:cNvPr id="18" name="Text 15"/>
          <p:cNvSpPr/>
          <p:nvPr/>
        </p:nvSpPr>
        <p:spPr>
          <a:xfrm>
            <a:off x="548640" y="48006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6"/>
          <p:cNvSpPr/>
          <p:nvPr/>
        </p:nvSpPr>
        <p:spPr>
          <a:xfrm>
            <a:off x="1188720" y="4773168"/>
            <a:ext cx="10424160" cy="777240"/>
          </a:xfrm>
          <a:prstGeom prst="rect">
            <a:avLst/>
          </a:prstGeom>
          <a:noFill/>
          <a:ln/>
        </p:spPr>
        <p:txBody>
          <a:bodyPr wrap="square" lIns="0" tIns="0" rIns="0" bIns="0" rtlCol="0" anchor="t"/>
          <a:lstStyle/>
          <a:p>
            <a:pPr marL="0" indent="0">
              <a:lnSpc>
                <a:spcPts val="2300"/>
              </a:lnSpc>
              <a:buNone/>
            </a:pPr>
            <a:r>
              <a:rPr lang="en-US" sz="2000" b="1" dirty="0">
                <a:solidFill>
                  <a:srgbClr val="262626"/>
                </a:solidFill>
                <a:latin typeface="Calibri" pitchFamily="34" charset="0"/>
                <a:ea typeface="Calibri" pitchFamily="34" charset="-122"/>
                <a:cs typeface="Calibri" pitchFamily="34" charset="-120"/>
              </a:rPr>
              <a:t>Small screens require careful prioritization</a:t>
            </a:r>
            <a:r>
              <a:rPr lang="en-US" sz="1800" dirty="0">
                <a:solidFill>
                  <a:srgbClr val="595959"/>
                </a:solidFill>
                <a:latin typeface="Calibri" pitchFamily="34" charset="0"/>
                <a:ea typeface="Calibri" pitchFamily="34" charset="-122"/>
                <a:cs typeface="Calibri" pitchFamily="34" charset="-120"/>
              </a:rPr>
              <a:t>  —  Show what is essential and place primary actions within reach</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B66"/>
          </a:solidFill>
          <a:ln/>
        </p:spPr>
        <p:txBody>
          <a:bodyPr/>
          <a:lstStyle/>
          <a:p>
            <a:endParaRPr lang="en-US"/>
          </a:p>
        </p:txBody>
      </p:sp>
      <p:sp>
        <p:nvSpPr>
          <p:cNvPr id="3" name="Text 1"/>
          <p:cNvSpPr/>
          <p:nvPr/>
        </p:nvSpPr>
        <p:spPr>
          <a:xfrm>
            <a:off x="457200" y="256032"/>
            <a:ext cx="10515600" cy="292608"/>
          </a:xfrm>
          <a:prstGeom prst="rect">
            <a:avLst/>
          </a:prstGeom>
          <a:noFill/>
          <a:ln/>
        </p:spPr>
        <p:txBody>
          <a:bodyPr wrap="square" lIns="0" tIns="0" rIns="0" bIns="0" rtlCol="0" anchor="ctr"/>
          <a:lstStyle/>
          <a:p>
            <a:pPr marL="0" indent="0">
              <a:buNone/>
            </a:pPr>
            <a:r>
              <a:rPr lang="en-US" sz="1300" b="1" kern="0" spc="200" dirty="0">
                <a:solidFill>
                  <a:srgbClr val="2D6B66"/>
                </a:solidFill>
                <a:latin typeface="Calibri" pitchFamily="34" charset="0"/>
                <a:ea typeface="Calibri" pitchFamily="34" charset="-122"/>
                <a:cs typeface="Calibri" pitchFamily="34" charset="-120"/>
              </a:rPr>
              <a:t>PART 5 · UI/UX FLOW DESIGN</a:t>
            </a:r>
            <a:endParaRPr lang="en-US" sz="1300" dirty="0"/>
          </a:p>
        </p:txBody>
      </p:sp>
      <p:sp>
        <p:nvSpPr>
          <p:cNvPr id="4" name="Text 2"/>
          <p:cNvSpPr/>
          <p:nvPr/>
        </p:nvSpPr>
        <p:spPr>
          <a:xfrm>
            <a:off x="457200" y="548640"/>
            <a:ext cx="11247120" cy="658368"/>
          </a:xfrm>
          <a:prstGeom prst="rect">
            <a:avLst/>
          </a:prstGeom>
          <a:noFill/>
          <a:ln/>
        </p:spPr>
        <p:txBody>
          <a:bodyPr wrap="square" lIns="0" tIns="0" rIns="0" bIns="0" rtlCol="0" anchor="t"/>
          <a:lstStyle/>
          <a:p>
            <a:pPr marL="0" indent="0">
              <a:buNone/>
            </a:pPr>
            <a:r>
              <a:rPr lang="en-US" sz="3000" b="1" dirty="0">
                <a:solidFill>
                  <a:srgbClr val="262626"/>
                </a:solidFill>
                <a:latin typeface="Calibri Light" pitchFamily="34" charset="0"/>
                <a:ea typeface="Calibri Light" pitchFamily="34" charset="-122"/>
                <a:cs typeface="Calibri Light" pitchFamily="34" charset="-120"/>
              </a:rPr>
              <a:t>Submission Guidelines</a:t>
            </a:r>
            <a:endParaRPr lang="en-US" sz="3000" dirty="0"/>
          </a:p>
        </p:txBody>
      </p:sp>
      <p:sp>
        <p:nvSpPr>
          <p:cNvPr id="5" name="Shape 3"/>
          <p:cNvSpPr/>
          <p:nvPr/>
        </p:nvSpPr>
        <p:spPr>
          <a:xfrm>
            <a:off x="457200" y="1207008"/>
            <a:ext cx="1005840" cy="0"/>
          </a:xfrm>
          <a:prstGeom prst="line">
            <a:avLst/>
          </a:prstGeom>
          <a:noFill/>
          <a:ln w="31750">
            <a:solidFill>
              <a:srgbClr val="660000"/>
            </a:solidFill>
            <a:prstDash val="solid"/>
          </a:ln>
        </p:spPr>
        <p:txBody>
          <a:bodyPr/>
          <a:lstStyle/>
          <a:p>
            <a:endParaRPr lang="en-US"/>
          </a:p>
        </p:txBody>
      </p:sp>
      <p:pic>
        <p:nvPicPr>
          <p:cNvPr id="6" name="Image 0" descr="/home/claude/assets/logo_icon.png"/>
          <p:cNvPicPr>
            <a:picLocks noChangeAspect="1"/>
          </p:cNvPicPr>
          <p:nvPr/>
        </p:nvPicPr>
        <p:blipFill>
          <a:blip r:embed="rId3"/>
          <a:stretch>
            <a:fillRect/>
          </a:stretch>
        </p:blipFill>
        <p:spPr>
          <a:xfrm>
            <a:off x="5907024" y="6272784"/>
            <a:ext cx="365760" cy="384048"/>
          </a:xfrm>
          <a:prstGeom prst="rect">
            <a:avLst/>
          </a:prstGeom>
        </p:spPr>
      </p:pic>
      <p:sp>
        <p:nvSpPr>
          <p:cNvPr id="7" name="Text 4"/>
          <p:cNvSpPr/>
          <p:nvPr/>
        </p:nvSpPr>
        <p:spPr>
          <a:xfrm>
            <a:off x="8961120" y="6336792"/>
            <a:ext cx="2770632" cy="274320"/>
          </a:xfrm>
          <a:prstGeom prst="rect">
            <a:avLst/>
          </a:prstGeom>
          <a:noFill/>
          <a:ln/>
        </p:spPr>
        <p:txBody>
          <a:bodyPr wrap="square" lIns="0" tIns="0" rIns="0" bIns="0" rtlCol="0" anchor="ctr"/>
          <a:lstStyle/>
          <a:p>
            <a:pPr marL="0" indent="0" algn="r">
              <a:buNone/>
            </a:pPr>
            <a:r>
              <a:rPr lang="en-US" sz="1300" dirty="0">
                <a:solidFill>
                  <a:srgbClr val="595959"/>
                </a:solidFill>
                <a:latin typeface="Calibri" pitchFamily="34" charset="0"/>
                <a:ea typeface="Calibri" pitchFamily="34" charset="-122"/>
                <a:cs typeface="Calibri" pitchFamily="34" charset="-120"/>
              </a:rPr>
              <a:t>Week 5  ·  12 / 13</a:t>
            </a:r>
            <a:endParaRPr lang="en-US" sz="1300" dirty="0"/>
          </a:p>
        </p:txBody>
      </p:sp>
      <p:sp>
        <p:nvSpPr>
          <p:cNvPr id="8" name="Text 5"/>
          <p:cNvSpPr/>
          <p:nvPr/>
        </p:nvSpPr>
        <p:spPr>
          <a:xfrm>
            <a:off x="457200" y="1417320"/>
            <a:ext cx="11247120" cy="365760"/>
          </a:xfrm>
          <a:prstGeom prst="rect">
            <a:avLst/>
          </a:prstGeom>
          <a:noFill/>
          <a:ln/>
        </p:spPr>
        <p:txBody>
          <a:bodyPr wrap="square" lIns="0" tIns="0" rIns="0" bIns="0" rtlCol="0" anchor="ctr"/>
          <a:lstStyle/>
          <a:p>
            <a:pPr marL="0" indent="0">
              <a:buNone/>
            </a:pPr>
            <a:r>
              <a:rPr lang="en-US" sz="1800" dirty="0">
                <a:solidFill>
                  <a:srgbClr val="262626"/>
                </a:solidFill>
                <a:latin typeface="Calibri" pitchFamily="34" charset="0"/>
                <a:ea typeface="Calibri" pitchFamily="34" charset="-122"/>
                <a:cs typeface="Calibri" pitchFamily="34" charset="-120"/>
              </a:rPr>
              <a:t>Submit the following three items as a single package:</a:t>
            </a:r>
            <a:endParaRPr lang="en-US" sz="1800" dirty="0"/>
          </a:p>
        </p:txBody>
      </p:sp>
      <p:sp>
        <p:nvSpPr>
          <p:cNvPr id="9" name="Shape 6"/>
          <p:cNvSpPr/>
          <p:nvPr/>
        </p:nvSpPr>
        <p:spPr>
          <a:xfrm>
            <a:off x="548640" y="1920240"/>
            <a:ext cx="411480" cy="411480"/>
          </a:xfrm>
          <a:prstGeom prst="ellipse">
            <a:avLst/>
          </a:prstGeom>
          <a:solidFill>
            <a:srgbClr val="2D6B66"/>
          </a:solidFill>
          <a:ln/>
        </p:spPr>
        <p:txBody>
          <a:bodyPr/>
          <a:lstStyle/>
          <a:p>
            <a:endParaRPr lang="en-US"/>
          </a:p>
        </p:txBody>
      </p:sp>
      <p:sp>
        <p:nvSpPr>
          <p:cNvPr id="10" name="Text 7"/>
          <p:cNvSpPr/>
          <p:nvPr/>
        </p:nvSpPr>
        <p:spPr>
          <a:xfrm>
            <a:off x="548640" y="1920240"/>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8"/>
          <p:cNvSpPr/>
          <p:nvPr/>
        </p:nvSpPr>
        <p:spPr>
          <a:xfrm>
            <a:off x="1143000" y="1892808"/>
            <a:ext cx="10469880" cy="731520"/>
          </a:xfrm>
          <a:prstGeom prst="rect">
            <a:avLst/>
          </a:prstGeom>
          <a:noFill/>
          <a:ln/>
        </p:spPr>
        <p:txBody>
          <a:bodyPr wrap="square" lIns="0" tIns="0" rIns="0" bIns="0" rtlCol="0" anchor="t"/>
          <a:lstStyle/>
          <a:p>
            <a:pPr marL="0" indent="0">
              <a:lnSpc>
                <a:spcPts val="1900"/>
              </a:lnSpc>
              <a:buNone/>
            </a:pPr>
            <a:r>
              <a:rPr lang="en-US" sz="1900" b="1" dirty="0">
                <a:solidFill>
                  <a:srgbClr val="262626"/>
                </a:solidFill>
                <a:latin typeface="Calibri" pitchFamily="34" charset="0"/>
                <a:ea typeface="Calibri" pitchFamily="34" charset="-122"/>
                <a:cs typeface="Calibri" pitchFamily="34" charset="-120"/>
              </a:rPr>
              <a:t>Activity 1 notes</a:t>
            </a:r>
            <a:r>
              <a:rPr lang="en-US" sz="1600" dirty="0">
                <a:solidFill>
                  <a:srgbClr val="595959"/>
                </a:solidFill>
                <a:latin typeface="Calibri" pitchFamily="34" charset="0"/>
                <a:ea typeface="Calibri" pitchFamily="34" charset="-122"/>
                <a:cs typeface="Calibri" pitchFamily="34" charset="-120"/>
              </a:rPr>
              <a:t>  —  A short written summary (3–5 points) of the UI/UX issues identified in each of the three QuickCart screens</a:t>
            </a:r>
            <a:endParaRPr lang="en-US" sz="1900" dirty="0"/>
          </a:p>
        </p:txBody>
      </p:sp>
      <p:sp>
        <p:nvSpPr>
          <p:cNvPr id="12" name="Shape 9"/>
          <p:cNvSpPr/>
          <p:nvPr/>
        </p:nvSpPr>
        <p:spPr>
          <a:xfrm>
            <a:off x="548640" y="2834640"/>
            <a:ext cx="411480" cy="411480"/>
          </a:xfrm>
          <a:prstGeom prst="ellipse">
            <a:avLst/>
          </a:prstGeom>
          <a:solidFill>
            <a:srgbClr val="2D6B66"/>
          </a:solidFill>
          <a:ln/>
        </p:spPr>
        <p:txBody>
          <a:bodyPr/>
          <a:lstStyle/>
          <a:p>
            <a:endParaRPr lang="en-US"/>
          </a:p>
        </p:txBody>
      </p:sp>
      <p:sp>
        <p:nvSpPr>
          <p:cNvPr id="13" name="Text 10"/>
          <p:cNvSpPr/>
          <p:nvPr/>
        </p:nvSpPr>
        <p:spPr>
          <a:xfrm>
            <a:off x="548640" y="2834640"/>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1"/>
          <p:cNvSpPr/>
          <p:nvPr/>
        </p:nvSpPr>
        <p:spPr>
          <a:xfrm>
            <a:off x="1143000" y="2807208"/>
            <a:ext cx="10469880" cy="731520"/>
          </a:xfrm>
          <a:prstGeom prst="rect">
            <a:avLst/>
          </a:prstGeom>
          <a:noFill/>
          <a:ln/>
        </p:spPr>
        <p:txBody>
          <a:bodyPr wrap="square" lIns="0" tIns="0" rIns="0" bIns="0" rtlCol="0" anchor="t"/>
          <a:lstStyle/>
          <a:p>
            <a:pPr marL="0" indent="0">
              <a:lnSpc>
                <a:spcPts val="1900"/>
              </a:lnSpc>
              <a:buNone/>
            </a:pPr>
            <a:r>
              <a:rPr lang="en-US" sz="1900" b="1" dirty="0">
                <a:solidFill>
                  <a:srgbClr val="262626"/>
                </a:solidFill>
                <a:latin typeface="Calibri" pitchFamily="34" charset="0"/>
                <a:ea typeface="Calibri" pitchFamily="34" charset="-122"/>
                <a:cs typeface="Calibri" pitchFamily="34" charset="-120"/>
              </a:rPr>
              <a:t>Figma design file</a:t>
            </a:r>
            <a:r>
              <a:rPr lang="en-US" sz="1600" dirty="0">
                <a:solidFill>
                  <a:srgbClr val="595959"/>
                </a:solidFill>
                <a:latin typeface="Calibri" pitchFamily="34" charset="0"/>
                <a:ea typeface="Calibri" pitchFamily="34" charset="-122"/>
                <a:cs typeface="Calibri" pitchFamily="34" charset="-120"/>
              </a:rPr>
              <a:t>  —  The corrected QuickCart interfaces, designed in Figma and exported as a PDF, or shared as a Figma link</a:t>
            </a:r>
            <a:endParaRPr lang="en-US" sz="1900" dirty="0"/>
          </a:p>
        </p:txBody>
      </p:sp>
      <p:sp>
        <p:nvSpPr>
          <p:cNvPr id="15" name="Shape 12"/>
          <p:cNvSpPr/>
          <p:nvPr/>
        </p:nvSpPr>
        <p:spPr>
          <a:xfrm>
            <a:off x="548640" y="3749040"/>
            <a:ext cx="411480" cy="411480"/>
          </a:xfrm>
          <a:prstGeom prst="ellipse">
            <a:avLst/>
          </a:prstGeom>
          <a:solidFill>
            <a:srgbClr val="2D6B66"/>
          </a:solidFill>
          <a:ln/>
        </p:spPr>
        <p:txBody>
          <a:bodyPr/>
          <a:lstStyle/>
          <a:p>
            <a:endParaRPr lang="en-US"/>
          </a:p>
        </p:txBody>
      </p:sp>
      <p:sp>
        <p:nvSpPr>
          <p:cNvPr id="16" name="Text 13"/>
          <p:cNvSpPr/>
          <p:nvPr/>
        </p:nvSpPr>
        <p:spPr>
          <a:xfrm>
            <a:off x="548640" y="3749040"/>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4"/>
          <p:cNvSpPr/>
          <p:nvPr/>
        </p:nvSpPr>
        <p:spPr>
          <a:xfrm>
            <a:off x="1143000" y="3721608"/>
            <a:ext cx="10469880" cy="731520"/>
          </a:xfrm>
          <a:prstGeom prst="rect">
            <a:avLst/>
          </a:prstGeom>
          <a:noFill/>
          <a:ln/>
        </p:spPr>
        <p:txBody>
          <a:bodyPr wrap="square" lIns="0" tIns="0" rIns="0" bIns="0" rtlCol="0" anchor="t"/>
          <a:lstStyle/>
          <a:p>
            <a:pPr marL="0" indent="0">
              <a:lnSpc>
                <a:spcPts val="1900"/>
              </a:lnSpc>
              <a:buNone/>
            </a:pPr>
            <a:r>
              <a:rPr lang="en-US" sz="1900" b="1" dirty="0">
                <a:solidFill>
                  <a:srgbClr val="262626"/>
                </a:solidFill>
                <a:latin typeface="Calibri" pitchFamily="34" charset="0"/>
                <a:ea typeface="Calibri" pitchFamily="34" charset="-122"/>
                <a:cs typeface="Calibri" pitchFamily="34" charset="-120"/>
              </a:rPr>
              <a:t>Android Studio project</a:t>
            </a:r>
            <a:r>
              <a:rPr lang="en-US" sz="1600" dirty="0">
                <a:solidFill>
                  <a:srgbClr val="595959"/>
                </a:solidFill>
                <a:latin typeface="Calibri" pitchFamily="34" charset="0"/>
                <a:ea typeface="Calibri" pitchFamily="34" charset="-122"/>
                <a:cs typeface="Calibri" pitchFamily="34" charset="-120"/>
              </a:rPr>
              <a:t>  —  The project, including source code, in which each Figma interface is embedded as a matching layout and screen</a:t>
            </a:r>
            <a:endParaRPr lang="en-US" sz="1900" dirty="0"/>
          </a:p>
        </p:txBody>
      </p:sp>
      <p:sp>
        <p:nvSpPr>
          <p:cNvPr id="18" name="Shape 15"/>
          <p:cNvSpPr/>
          <p:nvPr/>
        </p:nvSpPr>
        <p:spPr>
          <a:xfrm>
            <a:off x="457200" y="4846320"/>
            <a:ext cx="11274552" cy="0"/>
          </a:xfrm>
          <a:prstGeom prst="line">
            <a:avLst/>
          </a:prstGeom>
          <a:noFill/>
          <a:ln w="12700">
            <a:solidFill>
              <a:srgbClr val="D9D9D9"/>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6B66"/>
        </a:solidFill>
        <a:effectLst/>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50B5AD">
              <a:alpha val="20000"/>
            </a:srgbClr>
          </a:solidFill>
          <a:ln/>
        </p:spPr>
        <p:txBody>
          <a:bodyPr/>
          <a:lstStyle/>
          <a:p>
            <a:endParaRPr lang="en-US"/>
          </a:p>
        </p:txBody>
      </p:sp>
      <p:sp>
        <p:nvSpPr>
          <p:cNvPr id="3" name="Shape 1"/>
          <p:cNvSpPr/>
          <p:nvPr/>
        </p:nvSpPr>
        <p:spPr>
          <a:xfrm>
            <a:off x="-1371600" y="4846320"/>
            <a:ext cx="3657600" cy="3657600"/>
          </a:xfrm>
          <a:prstGeom prst="ellipse">
            <a:avLst/>
          </a:prstGeom>
          <a:solidFill>
            <a:srgbClr val="50B5AD">
              <a:alpha val="20000"/>
            </a:srgbClr>
          </a:solidFill>
          <a:ln/>
        </p:spPr>
        <p:txBody>
          <a:bodyPr/>
          <a:lstStyle/>
          <a:p>
            <a:endParaRPr lang="en-US"/>
          </a:p>
        </p:txBody>
      </p:sp>
      <p:sp>
        <p:nvSpPr>
          <p:cNvPr id="4" name="Text 2"/>
          <p:cNvSpPr/>
          <p:nvPr/>
        </p:nvSpPr>
        <p:spPr>
          <a:xfrm>
            <a:off x="457200" y="2560320"/>
            <a:ext cx="11274552"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Calibri Light" pitchFamily="34" charset="0"/>
                <a:ea typeface="Calibri Light" pitchFamily="34" charset="-122"/>
                <a:cs typeface="Calibri Light" pitchFamily="34" charset="-120"/>
              </a:rPr>
              <a:t>Thank You</a:t>
            </a:r>
            <a:endParaRPr lang="en-US" sz="5400" dirty="0"/>
          </a:p>
        </p:txBody>
      </p:sp>
      <p:sp>
        <p:nvSpPr>
          <p:cNvPr id="5" name="Text 3"/>
          <p:cNvSpPr/>
          <p:nvPr/>
        </p:nvSpPr>
        <p:spPr>
          <a:xfrm>
            <a:off x="457200" y="3703320"/>
            <a:ext cx="11274552" cy="548640"/>
          </a:xfrm>
          <a:prstGeom prst="rect">
            <a:avLst/>
          </a:prstGeom>
          <a:noFill/>
          <a:ln/>
        </p:spPr>
        <p:txBody>
          <a:bodyPr wrap="square" lIns="0" tIns="0" rIns="0" bIns="0" rtlCol="0" anchor="ctr"/>
          <a:lstStyle/>
          <a:p>
            <a:pPr marL="0" indent="0" algn="ctr">
              <a:buNone/>
            </a:pPr>
            <a:r>
              <a:rPr lang="en-US" sz="2200" dirty="0">
                <a:solidFill>
                  <a:srgbClr val="CFEDE3"/>
                </a:solidFill>
                <a:latin typeface="Calibri" pitchFamily="34" charset="0"/>
                <a:ea typeface="Calibri" pitchFamily="34" charset="-122"/>
                <a:cs typeface="Calibri" pitchFamily="34" charset="-120"/>
              </a:rPr>
              <a:t>Questions</a:t>
            </a:r>
            <a:endParaRPr lang="en-US" sz="2200" dirty="0"/>
          </a:p>
        </p:txBody>
      </p:sp>
      <p:pic>
        <p:nvPicPr>
          <p:cNvPr id="6" name="Image 0" descr="/home/claude/assets/logo_icon.png"/>
          <p:cNvPicPr>
            <a:picLocks noChangeAspect="1"/>
          </p:cNvPicPr>
          <p:nvPr/>
        </p:nvPicPr>
        <p:blipFill>
          <a:blip r:embed="rId3"/>
          <a:stretch>
            <a:fillRect/>
          </a:stretch>
        </p:blipFill>
        <p:spPr>
          <a:xfrm>
            <a:off x="5733288" y="5943600"/>
            <a:ext cx="731520" cy="7589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1250</Words>
  <Application>Microsoft Office PowerPoint</Application>
  <PresentationFormat>Widescreen</PresentationFormat>
  <Paragraphs>188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Kaveesha Sammani</cp:lastModifiedBy>
  <cp:revision>3</cp:revision>
  <dcterms:created xsi:type="dcterms:W3CDTF">2026-08-04T11:10:21Z</dcterms:created>
  <dcterms:modified xsi:type="dcterms:W3CDTF">2026-08-04T17:05:03Z</dcterms:modified>
</cp:coreProperties>
</file>