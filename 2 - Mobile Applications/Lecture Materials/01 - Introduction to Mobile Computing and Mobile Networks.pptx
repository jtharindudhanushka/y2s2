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Shape 1"/>
          <p:cNvSpPr/>
          <p:nvPr/>
        </p:nvSpPr>
        <p:spPr>
          <a:xfrm>
            <a:off x="7857439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Shape 2"/>
          <p:cNvSpPr/>
          <p:nvPr/>
        </p:nvSpPr>
        <p:spPr>
          <a:xfrm>
            <a:off x="7985455" y="0"/>
            <a:ext cx="128016" cy="685800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|  UNIVERSITY OF KELANIYA</a:t>
            </a:r>
            <a:endParaRPr lang="en-US" sz="1050" dirty="0"/>
          </a:p>
        </p:txBody>
      </p:sp>
      <p:sp>
        <p:nvSpPr>
          <p:cNvPr id="7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148840"/>
            <a:ext cx="70408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Presentation Title Goes Here</a:t>
            </a:r>
            <a:endParaRPr lang="en-US" sz="3800" dirty="0"/>
          </a:p>
        </p:txBody>
      </p:sp>
      <p:sp>
        <p:nvSpPr>
          <p:cNvPr id="8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course / module name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4892040"/>
            <a:ext cx="3657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endParaRPr lang="en-US" sz="1500" dirty="0"/>
          </a:p>
        </p:txBody>
      </p:sp>
      <p:sp>
        <p:nvSpPr>
          <p:cNvPr id="11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 ID: 0000000</a:t>
            </a:r>
            <a:endParaRPr lang="en-US" sz="1250" dirty="0"/>
          </a:p>
        </p:txBody>
      </p:sp>
      <p:sp>
        <p:nvSpPr>
          <p:cNvPr id="12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Month Day, Year</a:t>
            </a:r>
            <a:endParaRPr lang="en-US" sz="1250" dirty="0"/>
          </a:p>
        </p:txBody>
      </p:sp>
      <p:pic>
        <p:nvPicPr>
          <p:cNvPr id="13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75" y="2331720"/>
            <a:ext cx="2286000" cy="23795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SECTION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B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1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body text or bullet points.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WO_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199632" y="1417320"/>
            <a:ext cx="0" cy="3566160"/>
          </a:xfrm>
          <a:prstGeom prst="line">
            <a:avLst/>
          </a:prstGeom>
          <a:noFill/>
          <a:ln w="12700">
            <a:solidFill>
              <a:srgbClr val="DADADA"/>
            </a:solidFill>
            <a:prstDash val="solid"/>
          </a:ln>
        </p:spPr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 content goes here.</a:t>
            </a:r>
            <a:endParaRPr lang="en-US" sz="145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 content goes here.</a:t>
            </a:r>
            <a:endParaRPr lang="en-US" sz="1450" dirty="0"/>
          </a:p>
        </p:txBody>
      </p:sp>
      <p:sp>
        <p:nvSpPr>
          <p:cNvPr id="10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6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IMAGE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solidFill>
            <a:srgbClr val="F4F8F6"/>
          </a:solidFill>
          <a:ln w="12700">
            <a:solidFill>
              <a:srgbClr val="D7E8E2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text, analysis, or explanation accompanying the image.</a:t>
            </a:r>
            <a:endParaRPr lang="en-US" sz="1550" dirty="0"/>
          </a:p>
        </p:txBody>
      </p:sp>
      <p:sp>
        <p:nvSpPr>
          <p:cNvPr id="8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4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CLU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conclusions, implications, or recommendations.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HANKYOU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9144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0256"/>
            <a:ext cx="12191695" cy="9144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ts val="2200"/>
              </a:lnSpc>
              <a:buNone/>
              <a:def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name@university.edu  |  Department of Industrial Management</a:t>
            </a:r>
            <a:endParaRPr lang="en-US" sz="1400" dirty="0"/>
          </a:p>
        </p:txBody>
      </p:sp>
      <p:pic>
        <p:nvPicPr>
          <p:cNvPr id="7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4892040"/>
            <a:ext cx="1188720" cy="123734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4000" dirty="0">
                <a:latin typeface="+mn-lt"/>
                <a:cs typeface="Times New Roman" panose="02020603050405020304" pitchFamily="18" charset="0"/>
              </a:rPr>
              <a:t>INTE 22283 – Mobile Application Development</a:t>
            </a:r>
            <a:endParaRPr 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Introduction to Mobile Computing and Mobile Networks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goes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Two-Column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one</a:t>
            </a:r>
            <a:endParaRPr lang="en-US" sz="1450" dirty="0"/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two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 + Text Slide</a:t>
            </a:r>
            <a:endParaRPr lang="en-US" sz="2800" dirty="0"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image illustrates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visual to your key argument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data or context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/ Data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1417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main finding or argument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practical implication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limitations or areas for future work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closing recommendation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 xml:space="preserve">Thank </a:t>
            </a:r>
            <a:r>
              <a:rPr lang="en-US" sz="6000" b="1" dirty="0" smtClean="0">
                <a:solidFill>
                  <a:srgbClr val="FFFFFF"/>
                </a:solidFill>
              </a:rPr>
              <a:t>You !</a:t>
            </a:r>
            <a:endParaRPr lang="en-US" sz="6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F5F0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800" dirty="0">
                <a:solidFill>
                  <a:srgbClr val="CFEDE3"/>
                </a:solidFill>
              </a:rPr>
              <a:t xml:space="preserve">Email: </a:t>
            </a:r>
            <a:r>
              <a:rPr lang="en-US" sz="1800" dirty="0" smtClean="0"/>
              <a:t>Sammani@kln.ac.lk</a:t>
            </a:r>
            <a:r>
              <a:rPr lang="en-US" sz="1800" dirty="0" smtClean="0">
                <a:solidFill>
                  <a:srgbClr val="CFEDE3"/>
                </a:solidFill>
              </a:rPr>
              <a:t xml:space="preserve">   </a:t>
            </a:r>
            <a:r>
              <a:rPr lang="en-US" sz="1800" dirty="0">
                <a:solidFill>
                  <a:srgbClr val="CFEDE3"/>
                </a:solidFill>
              </a:rPr>
              <a:t>|   Department of Industrial Management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 22283 – Mobile Application Development</a:t>
            </a: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Introduction to Mobile Computing and Mobile Networks</a:t>
            </a: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Learning Outcomes (CLOs)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1: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fundamental concepts of mobile computing, mobile networks, and major mobile OS architectures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2: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native, hybrid, and cross-platform development approaches and select an appropriate platform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3: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user interfaces and user-flow prototypes applying UI/UX principles and navigation patterns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4: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debug, and test mobile applications integrating web services, sensors, and databases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5: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security and privacy mechanisms including secure storage, authentication, and permissions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6: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mobile applications with IoT devices and evaluate deployment/monetization strategies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Learning Outcomes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mobile computing and identify its core characteristics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evolution of mobile networks from 1G to 5G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cellular network architecture and mobility management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handoff, roaming, and location management concepts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mobile computing, wireless computing, and ubiquitous computing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building blocks of the mobile application ecosystem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current trends and industry relevance of mobile app development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module structure, assessment plan, and practical lab expectations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Topic Matters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7.2 billion smartphone subscriptions exist worldwide — mobile is the primary computing platform for most of humanity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scale: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mobile app economy generates hundreds of billions of dollars annually through app stores, advertising, and services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module: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topic — OS architecture, UI design, APIs, security, IoT — builds on the networking and platform concepts introduced today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relevance: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 is one of the most in-demand software engineering specializations in the current job market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Mobile Computing?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is a technology paradigm that allows transmission of data, voice, and video via a computer or any other wireless-enabled device, without being connected to a fixed physical link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computing device and the user are free to move while remaining connected to a network and to data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factor: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desktop computing, mobile computing assumes the device's location, connectivity, and available resources can change at any time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Characteristics of Mobile Computing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Portability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Devices are small, lightweight, and battery-powered for movement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Connectivity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Continuous or intermittent access to wireless networks (cellular, Wi-Fi, Bluetooth)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Interactivity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Real-time, two-way communication between user, device, and remote services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Individuality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Devices are typically personalized to a single user's preferences, identity, and context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Context-awareness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Applications can sense and respond to location, motion, time, and environment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Components of a Mobile Computing System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The three core components that together enable mobile computing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hardware: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tablets, wearables — devices with processors, sensors, and radios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software: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applications designed for constrained, portable hardware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communication: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wireless infrastructure (cellular networks, Wi-Fi, satellite) that carries data between devices and servers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mobile_computing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Generations of Mobile Networks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(1980s):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voice-only cellular networks; no data capability; poor security and call quality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 (1990s):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voice and basic text messaging (SMS); introduced GSM standard and circuit-switched data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(2000s):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Packet-switched data enabling mobile internet, video calls, and early smartphones (up to ~2 Mbps)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/ LTE (2010s):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All-IP network design; high-speed mobile broadband (up to ~100 Mbps+) enabling app ecosystems, streaming, and cloud services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(2020s–present):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latency, massive device density, and multi-Gbps speeds enabling IoT at scale, AR/VR, and real-time applications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Comparing Network Generations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Key technical characteristics across mobile network generations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690000"/>
          <a:ext cx="11277295" cy="2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7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Peak Speed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Capability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1G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1980s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2 kbps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Analog voice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2G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1990s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64 kbps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Digital voice + SMS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3G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2000s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~2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Mobile internet, video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4G / LTE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2010s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~100+ Mbps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Mobile broadband, app ecosystems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2020s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Multi-Gbps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IoT scale, ultra-low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Network Generation Matters for App Developers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assumptions: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must work gracefully across variable network speeds — from poor 3G coverage to 5G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features: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apps (gaming, video calls, AR) depend on the low-latency characteristics 5G provides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network quality is never guaranteed, well-designed apps cache data and degrade gracefully when connectivity drops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enablement: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5G's device density support is what makes large-scale IoT integration — a topic in Week 15 — practical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Cellular Network Architecture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Cells Exist</a:t>
            </a:r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geographic area served by one base station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(BTS/eNodeB):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Transmits/receives radio signals to/from devices in its cell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Switching Center (MSC):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calls and data between cells and the wider network</a:t>
            </a:r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reuse: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coverage into small cells lets the same frequencies be reused in non-adjacent cells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scaling: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cells support more simultaneous users in dense areas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efficiency: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transmission power per cell reduces interference and battery drain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Mobility Management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network functions that track a mobile device's location and maintain connectivity as the device moves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continuously registers which cell (or area) a device is currently in, so incoming calls/data can be routed correctly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management: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transfers an active connection from one cell to another as a device moves, ideally without the user noticing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management must operate in real time, at scale, while conserving device battery and network signaling capacity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Handoff (Handover): Keeping Connections Alive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Definition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process of transferring an active call or data session from one base station to another as a device moves between cells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Hard handoff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Connection to the old cell is dropped before the new one is established (used in older/2G-style systems)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Soft handoff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Device briefly maintains connections to both cells during transition, reducing the risk of dropped calls (used in 3G/4G/5G)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 for apps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poorly designed app can interpret a brief handoff delay as a network failure and behave incorrectly — robust apps tolerate short interruptions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Roaming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a mobile device to remain connected and usable when it moves outside its home network's coverage area, by using another provider's network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roaming: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different network within the same country, typically due to coverage gaps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roaming: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foreign carrier's network when traveling abroad, governed by agreements between operators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often introduces higher latency, different bandwidth characteristics, and sometimes additional cost — all relevant when designing data-conscious mobile apps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vs. Wireless vs. Ubiquitous Computing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These terms are related but not interchangeable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690000"/>
          <a:ext cx="11277295" cy="1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7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Idea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Mobile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Computing that moves with the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Using a smartphone app on a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Wireless computing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Computing connected without physical cables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 desktop PC on Wi-Fi (not portable)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Ubiquitous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Computing embedded invisibly into everyday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Smart home sensors, wearables, ambient displays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Clarifying the Distinctions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requires portability: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itself must be able to move with the user; this is the defining trait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computing only requires absence of cables: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stationary device on Wi-Fi is wireless but not mobile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computing (“pervasive computing”) goes further: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power is distributed invisibly throughout the environment, not concentrated in one personal device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mobile computing is also wireless, and increasingly intersects with ubiquitous computing through IoT — the convergence point we revisit in Week 15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Mobile Application Ecosystem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Devices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Smartphones, tablets, wearables — the hardware running the OS and apps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Networks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Cellular and Wi-Fi infrastructure that connects devices to back-end services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Platforms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Operating systems (Android, iOS) and their SDKs that define how apps are built and run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 stores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Distribution channels (Google Play, Apple App Store) that handle discovery, installation, and monetization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Back-end services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Cloud APIs, databases, and authentication services that most non-trivial apps depend 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Ecosystem Pieces Connect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Developer's View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View</a:t>
            </a:r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a platform: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Android, iOS, or cross-platform tools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device capabilities: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camera, GPS, storage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services: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cloud databases (Weeks 7–10)</a:t>
            </a:r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app through an app store or web link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grant permissions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with the app over a network connection, often intermittently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A Ride-Hailing App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in action: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rider's and driver's phones move continuously while staying connected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generation dependency: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updates and matching require low-latency 4G/5G connectivity; performance degrades visibly on 2G/3G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in practice: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 across a city involves dozens of handoffs between cells — the app must tolerate brief signal gaps without crashing or losing trip state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touchpoints: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depends on GPS (device), cellular data (network), the Android/iOS platform (OS), and cloud APIs (back end) simultaneously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Cross-Border Travel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crosses a national border with their phone powered on and connected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triggered: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device's home network has no coverage, so it negotiates access to a partner network in the new country (international roaming)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management at play: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 must update the network on the new country's infrastructure; handoff occurs continuously as the user moves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implication: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travel or messaging app should detect roaming conditions and adapt — for example, warning the user about data costs or switching to a lower-bandwidth mode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Cellular Handoff Illustrated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As a device moves from Cell A to Cell B, the network transfers the active connection between base stations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is connected to Base Station A; signal strength is strong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device moves, signal from Base Station B becomes stronger than A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initiates handoff, establishing a connection to B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A is released once B is confirmed active (soft handoff)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cellular_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Trends in Mobile Application Development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frameworks: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and React Native continue to reduce the cost of supporting both Android and iOS from one codebase (explored in Week 3 and Week 12)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5G-enabled experiences: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reality, cloud gaming, and real-time collaboration apps are increasingly viable as 5G rolls out globally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increasingly run directly on mobile hardware rather than purely in the cloud, improving privacy and responsiveness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 and regulators (e.g., GDPR) are tightening requirements on data collection, consent, and permission transparency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convergence: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increasingly serve as the primary control interface for connected devices — the subject of Week 15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 for Your Career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developers remain among the most sought-after software engineering roles globally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applicability: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learned in this module — UI/UX, APIs, databases, security — transfer directly to web and backend development as well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pathway: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 to publishing (app stores) makes mobile development a common route into independent software products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design: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builds toward Assignment 2 — a complete, deployable mobile application — mirroring how real development teams work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Assessment Plan Overview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How your performance in this module will be evaluated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690000"/>
          <a:ext cx="11277295" cy="1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7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Assignment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Assignment 2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Group Project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Final Examination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Structure and Practical Expectations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of lecture plus 3 hours of practical lab work each week, for 15 weeks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conceptual understanding — architecture, design principles, security models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that week's concepts hands-on, building toward the skills needed for Assignment 2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(10%):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exercise on a single app component (UI screen, API integration, or sensor feature)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(30%):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project building a complete app integrating an API, a database, and a security mechanism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 (60%):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covering theoretical understanding and applied problem-solving across the whole module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is defined by portability, connectivity, interactivity, individuality, and context-awareness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networks evolved from analog voice-only (1G) to multi-Gbps, IoT-scale infrastructure (5G)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architecture relies on cell-based frequency reuse, with handoff and roaming maintaining connectivity as devices move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wireless, and ubiquitous computing are related but distinct concepts — portability is mobile computing's defining trait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app ecosystem spans devices, networks, platforms, app stores, and back-end services working together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established the foundational vocabulary and concepts for the entire module: what mobile computing is, how mobile networks have evolved, and how cellular networks keep moving devices connected.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distinguished mobile computing from related but different concepts — wireless and ubiquitous computing — and mapped out the ecosystem of devices, networks, platforms, and services that any mobile app depends on.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concepts directly underpin next week's topic: the architecture of mobile operating systems themselves.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Discussion Questions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mobile app you use daily. Which of the five core characteristics of mobile computing (portability, connectivity, interactivity, individuality, context-awareness) does it rely on most heavily, and why?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app that works perfectly on 5G fail or frustrate users on a 3G connection? What design choices could mitigate this?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smart speaker (e.g., a voice assistant device) an example of mobile computing, wireless computing, or ubiquitous computing? Justify your answer.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the mobile app ecosystem (devices, networks, platforms, app stores, back-end services) do you think presents the biggest challenge for a new developer, and why?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!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Sammani@kln.ac.lk   |   Department of Industrial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225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INTE 22283 – Mobile Application Development</vt:lpstr>
      <vt:lpstr>Section Title</vt:lpstr>
      <vt:lpstr>Standard Content Slide</vt:lpstr>
      <vt:lpstr>Two-Column Content Slide</vt:lpstr>
      <vt:lpstr>Image + Text Slide</vt:lpstr>
      <vt:lpstr>Table / Data Slide</vt:lpstr>
      <vt:lpstr>Key Takeaways</vt:lpstr>
      <vt:lpstr>Thank You !</vt:lpstr>
    </vt:vector>
  </TitlesOfParts>
  <Company>Department of Industrial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 Academic Presentation Template</dc:title>
  <dc:subject>PptxGenJS Presentation</dc:subject>
  <dc:creator>Department of Industrial Management</dc:creator>
  <cp:lastModifiedBy>DIM</cp:lastModifiedBy>
  <cp:revision>9</cp:revision>
  <dcterms:created xsi:type="dcterms:W3CDTF">2026-06-20T14:42:21Z</dcterms:created>
  <dcterms:modified xsi:type="dcterms:W3CDTF">2026-06-20T16:40:16Z</dcterms:modified>
</cp:coreProperties>
</file>