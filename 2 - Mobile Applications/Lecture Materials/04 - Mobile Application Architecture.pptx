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Shape 1"/>
          <p:cNvSpPr/>
          <p:nvPr/>
        </p:nvSpPr>
        <p:spPr>
          <a:xfrm>
            <a:off x="7857439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</p:sp>
      <p:sp>
        <p:nvSpPr>
          <p:cNvPr id="4" name="Shape 2"/>
          <p:cNvSpPr/>
          <p:nvPr/>
        </p:nvSpPr>
        <p:spPr>
          <a:xfrm>
            <a:off x="7985455" y="0"/>
            <a:ext cx="128016" cy="6858000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 |  UNIVERSITY OF KELANIYA</a:t>
            </a:r>
            <a:endParaRPr lang="en-US" sz="1050" dirty="0"/>
          </a:p>
        </p:txBody>
      </p:sp>
      <p:sp>
        <p:nvSpPr>
          <p:cNvPr id="7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148840"/>
            <a:ext cx="70408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Presentation Title Goes Here</a:t>
            </a:r>
            <a:endParaRPr lang="en-US" sz="3800" dirty="0"/>
          </a:p>
        </p:txBody>
      </p:sp>
      <p:sp>
        <p:nvSpPr>
          <p:cNvPr id="8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course / module name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4892040"/>
            <a:ext cx="3657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</a:t>
            </a:r>
            <a:endParaRPr lang="en-US" sz="1500" dirty="0"/>
          </a:p>
        </p:txBody>
      </p:sp>
      <p:sp>
        <p:nvSpPr>
          <p:cNvPr id="11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Staff ID: 0000000</a:t>
            </a:r>
            <a:endParaRPr lang="en-US" sz="1250" dirty="0"/>
          </a:p>
        </p:txBody>
      </p:sp>
      <p:sp>
        <p:nvSpPr>
          <p:cNvPr id="12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Month Day, Year</a:t>
            </a:r>
            <a:endParaRPr lang="en-US" sz="1250" dirty="0"/>
          </a:p>
        </p:txBody>
      </p:sp>
      <p:pic>
        <p:nvPicPr>
          <p:cNvPr id="13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75" y="2331720"/>
            <a:ext cx="2286000" cy="23795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SECTION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B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1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body text or bullet points.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WO_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6199632" y="1417320"/>
            <a:ext cx="0" cy="3566160"/>
          </a:xfrm>
          <a:prstGeom prst="line">
            <a:avLst/>
          </a:prstGeom>
          <a:noFill/>
          <a:ln w="12700">
            <a:solidFill>
              <a:srgbClr val="DADADA"/>
            </a:solidFill>
            <a:prstDash val="solid"/>
          </a:ln>
        </p:spPr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 content goes here.</a:t>
            </a:r>
            <a:endParaRPr lang="en-US" sz="145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 content goes here.</a:t>
            </a:r>
            <a:endParaRPr lang="en-US" sz="1450" dirty="0"/>
          </a:p>
        </p:txBody>
      </p:sp>
      <p:sp>
        <p:nvSpPr>
          <p:cNvPr id="10" name="Shape 3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6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IMAGE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solidFill>
            <a:srgbClr val="F4F8F6"/>
          </a:solidFill>
          <a:ln w="12700">
            <a:solidFill>
              <a:srgbClr val="D7E8E2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Replace this panel with your image</a:t>
            </a:r>
            <a:endParaRPr lang="en-US" sz="11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text, analysis, or explanation accompanying the image.</a:t>
            </a:r>
            <a:endParaRPr lang="en-US" sz="1550" dirty="0"/>
          </a:p>
        </p:txBody>
      </p:sp>
      <p:sp>
        <p:nvSpPr>
          <p:cNvPr id="8" name="Shape 3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4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Replace with your data table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CONCLU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key conclusions, implications, or recommendations.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HANKYOU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91440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0256"/>
            <a:ext cx="12191695" cy="91440"/>
          </a:xfrm>
          <a:prstGeom prst="rect">
            <a:avLst/>
          </a:prstGeom>
          <a:solidFill>
            <a:srgbClr val="F6DD26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ts val="2200"/>
              </a:lnSpc>
              <a:buNone/>
              <a:def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name@university.edu  |  Department of Industrial Management</a:t>
            </a:r>
            <a:endParaRPr lang="en-US" sz="1400" dirty="0"/>
          </a:p>
        </p:txBody>
      </p:sp>
      <p:pic>
        <p:nvPicPr>
          <p:cNvPr id="7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4892040"/>
            <a:ext cx="1188720" cy="123734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en-US" sz="4000" dirty="0">
                <a:latin typeface="+mn-lt"/>
                <a:cs typeface="Times New Roman" panose="02020603050405020304" pitchFamily="18" charset="0"/>
              </a:rPr>
              <a:t>INTE 22283 – Mobile Application Development</a:t>
            </a:r>
            <a:endParaRPr lang="en-US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Introduction to Mobile Computing and Mobile Networks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 smtClean="0">
                <a:latin typeface="+mn-lt"/>
                <a:cs typeface="Times New Roman" panose="02020603050405020304" pitchFamily="18" charset="0"/>
              </a:rPr>
              <a:t>Sammani Maddumahewage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dirty="0" smtClean="0">
                <a:latin typeface="+mn-lt"/>
                <a:cs typeface="Times New Roman" panose="02020603050405020304" pitchFamily="18" charset="0"/>
              </a:rPr>
              <a:t>Lecturer (Probationary)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50" dirty="0" smtClean="0">
                <a:latin typeface="+mn-lt"/>
                <a:cs typeface="Times New Roman" panose="02020603050405020304" pitchFamily="18" charset="0"/>
              </a:rPr>
              <a:t>BSc (Hons) in Information Technology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Content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goes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Two-Column Content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in column one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in column one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in column one</a:t>
            </a:r>
            <a:endParaRPr lang="en-US" sz="1450" dirty="0"/>
          </a:p>
        </p:txBody>
      </p:sp>
      <p:sp>
        <p:nvSpPr>
          <p:cNvPr id="6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in column two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in column two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in column two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 + Text Slide</a:t>
            </a:r>
            <a:endParaRPr lang="en-US" sz="2800" dirty="0"/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Replace this panel with your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image illustrates</a:t>
            </a:r>
            <a:endParaRPr lang="en-US" sz="15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visual to your key argument</a:t>
            </a:r>
            <a:endParaRPr lang="en-US" sz="15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data or context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/ Data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Replace with your data table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1417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main finding or argument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practical implication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limitations or areas for future work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closing recommendation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 xml:space="preserve">Thank </a:t>
            </a:r>
            <a:r>
              <a:rPr lang="en-US" sz="6000" b="1" dirty="0" smtClean="0">
                <a:solidFill>
                  <a:srgbClr val="FFFFFF"/>
                </a:solidFill>
              </a:rPr>
              <a:t>You !</a:t>
            </a:r>
            <a:endParaRPr lang="en-US" sz="6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F5F0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800" dirty="0">
                <a:solidFill>
                  <a:srgbClr val="CFEDE3"/>
                </a:solidFill>
              </a:rPr>
              <a:t xml:space="preserve">Email: </a:t>
            </a:r>
            <a:r>
              <a:rPr lang="en-US" sz="1800" dirty="0" smtClean="0"/>
              <a:t>Sammani@kln.ac.lk</a:t>
            </a:r>
            <a:r>
              <a:rPr lang="en-US" sz="1800" dirty="0" smtClean="0">
                <a:solidFill>
                  <a:srgbClr val="CFEDE3"/>
                </a:solidFill>
              </a:rPr>
              <a:t xml:space="preserve">   </a:t>
            </a:r>
            <a:r>
              <a:rPr lang="en-US" sz="1800" dirty="0">
                <a:solidFill>
                  <a:srgbClr val="CFEDE3"/>
                </a:solidFill>
              </a:rPr>
              <a:t>|   Department of Industrial Management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 22283 – Mobile Application Development</a:t>
            </a:r>
          </a:p>
        </p:txBody>
      </p:sp>
      <p:sp>
        <p:nvSpPr>
          <p:cNvPr id="3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Mobile Application Architecture</a:t>
            </a:r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 smtClean="0">
                <a:latin typeface="+mn-lt"/>
                <a:cs typeface="Times New Roman" panose="02020603050405020304" pitchFamily="18" charset="0"/>
              </a:rPr>
              <a:t>Sammani Maddumahewage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dirty="0" smtClean="0">
                <a:latin typeface="+mn-lt"/>
                <a:cs typeface="Times New Roman" panose="02020603050405020304" pitchFamily="18" charset="0"/>
              </a:rPr>
              <a:t>Lecturer (Probationary)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50" dirty="0" smtClean="0">
                <a:latin typeface="+mn-lt"/>
                <a:cs typeface="Times New Roman" panose="02020603050405020304" pitchFamily="18" charset="0"/>
              </a:rPr>
              <a:t>BSc (Hons) in Information Technology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Learning Outcomes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software architecture in mobile application development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MVC (Model-View-Controller) architectural pattern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MVVM (Model-View-ViewModel) architectural pattern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Android application components: Activities, Services, Broadcast Receivers, Content Providers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Activity and Fragment lifecycle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state management and data binding in mobile applications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separation of concerns when structuring a mobile project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simple multi-screen application using an architectural pattern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Recap and Framing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weeks: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platform approach and built our first running app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address how to structure the code inside an app so it stays maintainable as it grows beyond a single screen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architecture, even a small app's code quickly becomes tangled and difficult to test or extend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Software Architecture Matters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is the high-level structure of a system — how its components are organized and how they interact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architecture: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code, business logic, and data access become mixed together, making the app hard to test, debug, and extend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clear architecture: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of the app has a well-defined responsibility, so changes in one area don't unexpectedly break another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Mobile-specific pressure: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must also gracefully handle lifecycle events (rotation, backgrounding) — architecture patterns provide a disciplined way to do this consistently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MVC: Model-View-Controller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The Controller mediates between the Model (data) and the View (UI)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application's data and business logic, independent of the UI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data to the user and captures user input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input from the View, updates the Model, and refreshes the View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mvc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in Android Practice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mapping: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or Fragment often plays the role of both View and Controller, while separate classes represent the Model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 and quick to implement for small apps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weakness: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tend to grow into “massive” classes handling both UI logic and control logic, making testing difficult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weakness is the main motivation behind MVVM, which we examine next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MVVM: Model-View-ViewModel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The ViewModel exposes data the View observes, without holding a direct reference to the View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role as in MVC — application data and business logic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the ViewModel and updates automatically when its data changes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UI-related state and logic, exposing observable data without referencing the View directly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mvvm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MVVM Improves on MVC for Mobile Apps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survival: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Android's ViewModel class is specifically designed to survive configuration changes like screen rotation, solving a common MVC pain point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ViewModel doesn't directly reference UI elements, its logic can be unit-tested without running the full UI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can automatically reflect ViewModel changes through observable data structures (e.g., LiveData or StateFlow), reducing manual update code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introduces more initial structure and concepts to learn than MVC, which can feel like overhead for very simple apps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vs. MVVM at a Glance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Comparing the two patterns across key dimensions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690000"/>
          <a:ext cx="11277295" cy="2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7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MVC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MVVM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View-logic coupling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Tighter (Activity often does both)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Looser (ViewModel independent of View)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Testability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Harder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Easier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Survives rotation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Not by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Yes, with ViewModel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Learning curve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Slightly higher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Small, simple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Apps expected to grow and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Four Core Android Components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Activities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Represent a single screen with a user interface; the building block of user-facing app navigation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Services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Run operations in the background without a UI, such as playing music or syncing data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Broadcast Receivers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Listen for and respond to system-wide or app-wide announcements (e.g., battery low, network changed)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Content Providers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Manage shared access to structured data, enabling controlled data sharing between apps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Four Components Work Together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messaging app receives a new message while running in the background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Receiver: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incoming message notification from the system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message content in the background, even if the app isn't currently open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Provider: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message in a shared database accessible to other parts of the app (or other apps, if permitted)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message to the user once they open the app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Recap: The Activity Lifecycle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 2: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move through Created → Started → Resumed → Paused → Stopped → Destroyed states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revisit it here: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 like MVVM exist specifically to make managing this lifecycle easier and less error-prone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insight: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the user shouldn't lose must live somewhere that survives the Activity's destruction — which is exactly what a ViewModel provides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Fragment Lifecycle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What is a Fragment?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reusable portion of UI that lives inside an Activity, enabling modular, multi-pane, or tabbed interfaces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Fragment lifecycle is layered on the Activity's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Fragments have their own onCreateView(), onViewCreated(), onDestroyView() callbacks in addition to Activity-style callbacks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Fragments add complexity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Fragment's view can be destroyed and recreated independently of the Fragment object itself, a common source of subtle bugs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Practical implication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Using a ViewModel scoped to the Fragment (or shared with its parent Activity) avoids holding stale view references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Management in Mobile Apps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tracking and updating the data that determines what the UI currently displays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directly tied to what's on screen right now (e.g., whether a loading spinner is visible)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must survive beyond the current screen session (e.g., user login status, saved drafts)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harder on mobile: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lifecycle events (rotation, backgrounding, low-memory termination) mean state can be lost far more easily than in a desktop application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Binding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that automatically synchronizes UI elements with underlying data, removing the need to manually update each view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 binding: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write explicit code every time data changes to update each affected UI element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 binding: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observes data (e.g., from a ViewModel) and updates itself automatically when that data changes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MVVM: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 is what makes the View-ViewModel relationship in MVVM practical and low-boilerplate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Separation of Concerns in Practice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of a system should have one clear responsibility, and should not need to know the implementation details of other parts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data and forwards user actions; contains no business logic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 (ViewModel):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what data should be shown and how user actions should be handled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(Model / Repository):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where data actually comes from — local database, network, or cache — hidden behind a simple interface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can be changed, tested, or replaced independently — for example, swapping a local database for a cloud one without touching the UI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Worked Example: A To-Do List App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architecture: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directly creates, stores, and displays to-do items all in one class — a single 500-line file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MVVM: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TodoViewModel holds the current list and exposes it as observable data; a TodoRepository (Model) manages storage; the Activity/Fragment (View) just displays what the ViewModel provides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separation: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mechanism could change from an in-memory list to a database without changing a single line of UI code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benefit: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ViewModel's logic (e.g., marking a task complete) can be unit-tested without launching the app's UI at all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a Multi-Screen App Using MVVM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Model — a simple data class representing the information your app manages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ViewModel that holds and exposes that data, with functions to update it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 Activities or Fragments (Views) that observe the same ViewModel's data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navigation (e.g., Intents or the Navigation component) to move between screens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screens stay in sync automatically because they observe the same underlying ViewModel state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organizes an app's code so it stays maintainable, testable, and easy to extend as it grows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separates Model, View, and Controller, but Android Activities often end up handling both View and Controller responsibilities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improves on MVC by introducing a ViewModel that survives configuration changes and can be tested independently of the UI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Android's four core components — Activities, Services, Broadcast Receivers, Content Providers — each have a distinct, well-defined role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concerns, state management, and data binding together make multi-screen apps easier to build and reason about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we moved from building a single working app to structuring apps that can grow. We compared MVC and MVVM, examined Android's four core application components, and revisited the Activity/Fragment lifecycle through an architectural lens.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connected state management and data binding directly to why MVVM has become the dominant pattern in modern Android development, and applied separation of concerns to a worked multi-screen example.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week, we shift focus from internal structure to what users actually see: mobile UI design principles.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Discussion Questions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team choose MVC for a small internal tool but MVVM for a flagship consumer app? What factors drive that decision?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Android component (Activity, Service, Broadcast Receiver, Content Provider) would you use to play music in the background while the user browses other apps, and why?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ViewModel's ability to survive configuration changes solve a problem you saw in Week 2's lifecycle discussion?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a scenario where strict separation of concerns might be excessive for a very small project? What signals would tell you when added structure is worth the cost?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!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Sammani@kln.ac.lk   |   Department of Industrial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225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INTE 22283 – Mobile Application Development</vt:lpstr>
      <vt:lpstr>Section Title</vt:lpstr>
      <vt:lpstr>Standard Content Slide</vt:lpstr>
      <vt:lpstr>Two-Column Content Slide</vt:lpstr>
      <vt:lpstr>Image + Text Slide</vt:lpstr>
      <vt:lpstr>Table / Data Slide</vt:lpstr>
      <vt:lpstr>Key Takeaways</vt:lpstr>
      <vt:lpstr>Thank You !</vt:lpstr>
    </vt:vector>
  </TitlesOfParts>
  <Company>Department of Industrial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 Academic Presentation Template</dc:title>
  <dc:subject>PptxGenJS Presentation</dc:subject>
  <dc:creator>Department of Industrial Management</dc:creator>
  <cp:lastModifiedBy>DIM</cp:lastModifiedBy>
  <cp:revision>9</cp:revision>
  <dcterms:created xsi:type="dcterms:W3CDTF">2026-06-20T14:42:21Z</dcterms:created>
  <dcterms:modified xsi:type="dcterms:W3CDTF">2026-06-20T16:40:16Z</dcterms:modified>
</cp:coreProperties>
</file>