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gXLZjOjg1qJXagZsp0GQ1Vd76s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B28F87-C7C9-4314-82F6-509CF1A6192A}">
  <a:tblStyle styleId="{FAB28F87-C7C9-4314-82F6-509CF1A6192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M_TITLE">
  <p:cSld name="DIM_TITLE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2D6B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9"/>
          <p:cNvSpPr/>
          <p:nvPr/>
        </p:nvSpPr>
        <p:spPr>
          <a:xfrm>
            <a:off x="7857439" y="0"/>
            <a:ext cx="128016" cy="6858000"/>
          </a:xfrm>
          <a:prstGeom prst="rect">
            <a:avLst/>
          </a:prstGeom>
          <a:solidFill>
            <a:srgbClr val="F6DD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9"/>
          <p:cNvSpPr/>
          <p:nvPr/>
        </p:nvSpPr>
        <p:spPr>
          <a:xfrm>
            <a:off x="7985455" y="0"/>
            <a:ext cx="128016" cy="6858000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9"/>
          <p:cNvSpPr/>
          <p:nvPr/>
        </p:nvSpPr>
        <p:spPr>
          <a:xfrm>
            <a:off x="457200" y="50292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B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6B66"/>
                </a:solidFill>
                <a:latin typeface="Calibri"/>
                <a:ea typeface="Calibri"/>
                <a:cs typeface="Calibri"/>
                <a:sym typeface="Calibri"/>
              </a:rPr>
              <a:t>DEPARTMENT OF INDUSTRIAL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9"/>
          <p:cNvSpPr/>
          <p:nvPr/>
        </p:nvSpPr>
        <p:spPr>
          <a:xfrm>
            <a:off x="457200" y="84124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FACULTY OF SCIENCE  |  UNIVERSITY OF KELANIYA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9"/>
          <p:cNvSpPr txBox="1"/>
          <p:nvPr>
            <p:ph type="title"/>
          </p:nvPr>
        </p:nvSpPr>
        <p:spPr>
          <a:xfrm>
            <a:off x="457200" y="2148840"/>
            <a:ext cx="7040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  <a:defRPr b="1" i="0" sz="3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29"/>
          <p:cNvSpPr txBox="1"/>
          <p:nvPr>
            <p:ph idx="1" type="body"/>
          </p:nvPr>
        </p:nvSpPr>
        <p:spPr>
          <a:xfrm>
            <a:off x="457200" y="3977640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40"/>
              </a:spcBef>
              <a:spcAft>
                <a:spcPts val="0"/>
              </a:spcAft>
              <a:buClr>
                <a:srgbClr val="2D6B66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2D6B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9" name="Google Shape;19;p29"/>
          <p:cNvCxnSpPr/>
          <p:nvPr/>
        </p:nvCxnSpPr>
        <p:spPr>
          <a:xfrm>
            <a:off x="457200" y="4892040"/>
            <a:ext cx="3657600" cy="0"/>
          </a:xfrm>
          <a:prstGeom prst="straightConnector1">
            <a:avLst/>
          </a:prstGeom>
          <a:noFill/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29"/>
          <p:cNvSpPr txBox="1"/>
          <p:nvPr>
            <p:ph idx="2" type="body"/>
          </p:nvPr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29"/>
          <p:cNvSpPr txBox="1"/>
          <p:nvPr>
            <p:ph idx="3" type="body"/>
          </p:nvPr>
        </p:nvSpPr>
        <p:spPr>
          <a:xfrm>
            <a:off x="457200" y="5358384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5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29"/>
          <p:cNvSpPr txBox="1"/>
          <p:nvPr>
            <p:ph idx="4" type="body"/>
          </p:nvPr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5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/home/claude/pptx_build/images/logo_dark.png" id="23" name="Google Shape;2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945575" y="2331720"/>
            <a:ext cx="2286000" cy="2379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M_CONTENT">
  <p:cSld name="DIM_CONTENT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0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  <a:defRPr b="1" i="0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cxnSp>
        <p:nvCxnSpPr>
          <p:cNvPr id="27" name="Google Shape;27;p30"/>
          <p:cNvCxnSpPr/>
          <p:nvPr/>
        </p:nvCxnSpPr>
        <p:spPr>
          <a:xfrm>
            <a:off x="457200" y="1078992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30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9" name="Google Shape;29;p30"/>
          <p:cNvCxnSpPr/>
          <p:nvPr/>
        </p:nvCxnSpPr>
        <p:spPr>
          <a:xfrm>
            <a:off x="0" y="6291072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50B5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30"/>
          <p:cNvCxnSpPr/>
          <p:nvPr/>
        </p:nvCxnSpPr>
        <p:spPr>
          <a:xfrm>
            <a:off x="6575908" y="6291072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50B5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30"/>
          <p:cNvCxnSpPr/>
          <p:nvPr/>
        </p:nvCxnSpPr>
        <p:spPr>
          <a:xfrm>
            <a:off x="0" y="6341364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30"/>
          <p:cNvCxnSpPr/>
          <p:nvPr/>
        </p:nvCxnSpPr>
        <p:spPr>
          <a:xfrm>
            <a:off x="6575908" y="6341364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30"/>
          <p:cNvCxnSpPr/>
          <p:nvPr/>
        </p:nvCxnSpPr>
        <p:spPr>
          <a:xfrm>
            <a:off x="0" y="6391656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6DD2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30"/>
          <p:cNvCxnSpPr/>
          <p:nvPr/>
        </p:nvCxnSpPr>
        <p:spPr>
          <a:xfrm>
            <a:off x="6575908" y="6391656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6DD2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x_build/images/logo.png" id="35" name="Google Shape;3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11370" y="6236208"/>
            <a:ext cx="368954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0"/>
          <p:cNvSpPr txBox="1"/>
          <p:nvPr>
            <p:ph idx="12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M_IMAGE_TEXT">
  <p:cSld name="DIM_IMAGE_TEXT"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1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  <a:defRPr b="1" i="0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cxnSp>
        <p:nvCxnSpPr>
          <p:cNvPr id="40" name="Google Shape;40;p31"/>
          <p:cNvCxnSpPr/>
          <p:nvPr/>
        </p:nvCxnSpPr>
        <p:spPr>
          <a:xfrm>
            <a:off x="457200" y="1078992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31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solidFill>
            <a:srgbClr val="F4F8F6"/>
          </a:solidFill>
          <a:ln cap="flat" cmpd="sng" w="12700">
            <a:solidFill>
              <a:srgbClr val="D7E8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  <a:defRPr b="0" i="1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Arial"/>
              <a:buNone/>
              <a:defRPr b="0" i="0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4" name="Google Shape;44;p31"/>
          <p:cNvCxnSpPr/>
          <p:nvPr/>
        </p:nvCxnSpPr>
        <p:spPr>
          <a:xfrm>
            <a:off x="0" y="6291072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50B5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31"/>
          <p:cNvCxnSpPr/>
          <p:nvPr/>
        </p:nvCxnSpPr>
        <p:spPr>
          <a:xfrm>
            <a:off x="6575908" y="6291072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50B5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31"/>
          <p:cNvCxnSpPr/>
          <p:nvPr/>
        </p:nvCxnSpPr>
        <p:spPr>
          <a:xfrm>
            <a:off x="0" y="6341364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31"/>
          <p:cNvCxnSpPr/>
          <p:nvPr/>
        </p:nvCxnSpPr>
        <p:spPr>
          <a:xfrm>
            <a:off x="6575908" y="6341364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" name="Google Shape;48;p31"/>
          <p:cNvCxnSpPr/>
          <p:nvPr/>
        </p:nvCxnSpPr>
        <p:spPr>
          <a:xfrm>
            <a:off x="0" y="6391656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6DD2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31"/>
          <p:cNvCxnSpPr/>
          <p:nvPr/>
        </p:nvCxnSpPr>
        <p:spPr>
          <a:xfrm>
            <a:off x="6575908" y="6391656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6DD2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x_build/images/logo.png" id="50" name="Google Shape;5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11370" y="6236208"/>
            <a:ext cx="368954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1"/>
          <p:cNvSpPr txBox="1"/>
          <p:nvPr>
            <p:ph idx="12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M_TABLE">
  <p:cSld name="DIM_TABLE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2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  <a:defRPr b="1" i="0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cxnSp>
        <p:nvCxnSpPr>
          <p:cNvPr id="55" name="Google Shape;55;p32"/>
          <p:cNvCxnSpPr/>
          <p:nvPr/>
        </p:nvCxnSpPr>
        <p:spPr>
          <a:xfrm>
            <a:off x="457200" y="1078992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b="0" i="1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57" name="Google Shape;57;p32"/>
          <p:cNvCxnSpPr/>
          <p:nvPr/>
        </p:nvCxnSpPr>
        <p:spPr>
          <a:xfrm>
            <a:off x="0" y="6291072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50B5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32"/>
          <p:cNvCxnSpPr/>
          <p:nvPr/>
        </p:nvCxnSpPr>
        <p:spPr>
          <a:xfrm>
            <a:off x="6575908" y="6291072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50B5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32"/>
          <p:cNvCxnSpPr/>
          <p:nvPr/>
        </p:nvCxnSpPr>
        <p:spPr>
          <a:xfrm>
            <a:off x="0" y="6341364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32"/>
          <p:cNvCxnSpPr/>
          <p:nvPr/>
        </p:nvCxnSpPr>
        <p:spPr>
          <a:xfrm>
            <a:off x="6575908" y="6341364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32"/>
          <p:cNvCxnSpPr/>
          <p:nvPr/>
        </p:nvCxnSpPr>
        <p:spPr>
          <a:xfrm>
            <a:off x="0" y="6391656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6DD2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32"/>
          <p:cNvCxnSpPr/>
          <p:nvPr/>
        </p:nvCxnSpPr>
        <p:spPr>
          <a:xfrm>
            <a:off x="6575908" y="6391656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6DD2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x_build/images/logo.png" id="63" name="Google Shape;6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11370" y="6236208"/>
            <a:ext cx="368954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M_TWO_COL">
  <p:cSld name="DIM_TWO_COL"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3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  <a:defRPr b="1" i="0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cxnSp>
        <p:nvCxnSpPr>
          <p:cNvPr id="68" name="Google Shape;68;p33"/>
          <p:cNvCxnSpPr/>
          <p:nvPr/>
        </p:nvCxnSpPr>
        <p:spPr>
          <a:xfrm>
            <a:off x="457200" y="1078992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33"/>
          <p:cNvSpPr txBox="1"/>
          <p:nvPr>
            <p:ph idx="1" type="body"/>
          </p:nvPr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2D6B66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2D6B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33"/>
          <p:cNvSpPr txBox="1"/>
          <p:nvPr>
            <p:ph idx="2" type="body"/>
          </p:nvPr>
        </p:nvSpPr>
        <p:spPr>
          <a:xfrm>
            <a:off x="6400800" y="1298448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2D6B66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2D6B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71" name="Google Shape;71;p33"/>
          <p:cNvCxnSpPr/>
          <p:nvPr/>
        </p:nvCxnSpPr>
        <p:spPr>
          <a:xfrm>
            <a:off x="6199632" y="1417320"/>
            <a:ext cx="0" cy="3566160"/>
          </a:xfrm>
          <a:prstGeom prst="straightConnector1">
            <a:avLst/>
          </a:prstGeom>
          <a:noFill/>
          <a:ln cap="flat" cmpd="sng" w="12700">
            <a:solidFill>
              <a:srgbClr val="DADA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3"/>
          <p:cNvSpPr txBox="1"/>
          <p:nvPr>
            <p:ph idx="3" type="body"/>
          </p:nvPr>
        </p:nvSpPr>
        <p:spPr>
          <a:xfrm>
            <a:off x="457200" y="1737360"/>
            <a:ext cx="50749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90"/>
              </a:spcBef>
              <a:spcAft>
                <a:spcPts val="0"/>
              </a:spcAft>
              <a:buClr>
                <a:srgbClr val="262626"/>
              </a:buClr>
              <a:buSzPts val="1450"/>
              <a:buFont typeface="Arial"/>
              <a:buNone/>
              <a:defRPr b="0" i="0" sz="14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33"/>
          <p:cNvSpPr txBox="1"/>
          <p:nvPr>
            <p:ph idx="4" type="body"/>
          </p:nvPr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90"/>
              </a:spcBef>
              <a:spcAft>
                <a:spcPts val="0"/>
              </a:spcAft>
              <a:buClr>
                <a:srgbClr val="262626"/>
              </a:buClr>
              <a:buSzPts val="1450"/>
              <a:buFont typeface="Arial"/>
              <a:buNone/>
              <a:defRPr b="0" i="0" sz="14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74" name="Google Shape;74;p33"/>
          <p:cNvCxnSpPr/>
          <p:nvPr/>
        </p:nvCxnSpPr>
        <p:spPr>
          <a:xfrm>
            <a:off x="0" y="6291072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50B5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33"/>
          <p:cNvCxnSpPr/>
          <p:nvPr/>
        </p:nvCxnSpPr>
        <p:spPr>
          <a:xfrm>
            <a:off x="6575908" y="6291072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50B5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33"/>
          <p:cNvCxnSpPr/>
          <p:nvPr/>
        </p:nvCxnSpPr>
        <p:spPr>
          <a:xfrm>
            <a:off x="0" y="6341364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33"/>
          <p:cNvCxnSpPr/>
          <p:nvPr/>
        </p:nvCxnSpPr>
        <p:spPr>
          <a:xfrm>
            <a:off x="6575908" y="6341364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33"/>
          <p:cNvCxnSpPr/>
          <p:nvPr/>
        </p:nvCxnSpPr>
        <p:spPr>
          <a:xfrm>
            <a:off x="0" y="6391656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6DD2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" name="Google Shape;79;p33"/>
          <p:cNvCxnSpPr/>
          <p:nvPr/>
        </p:nvCxnSpPr>
        <p:spPr>
          <a:xfrm>
            <a:off x="6575908" y="6391656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6DD2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x_build/images/logo.png" id="80" name="Google Shape;8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11370" y="6236208"/>
            <a:ext cx="368954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3"/>
          <p:cNvSpPr txBox="1"/>
          <p:nvPr>
            <p:ph idx="12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M_CONCLUSION">
  <p:cSld name="DIM_CONCLUSION"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B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4"/>
          <p:cNvSpPr/>
          <p:nvPr/>
        </p:nvSpPr>
        <p:spPr>
          <a:xfrm>
            <a:off x="457200" y="411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6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4"/>
          <p:cNvSpPr txBox="1"/>
          <p:nvPr>
            <p:ph type="title"/>
          </p:nvPr>
        </p:nvSpPr>
        <p:spPr>
          <a:xfrm>
            <a:off x="457200" y="804672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00"/>
              <a:buFont typeface="Calibri"/>
              <a:buNone/>
              <a:defRPr b="1" i="0" sz="2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34"/>
          <p:cNvSpPr txBox="1"/>
          <p:nvPr>
            <p:ph idx="1" type="body"/>
          </p:nvPr>
        </p:nvSpPr>
        <p:spPr>
          <a:xfrm>
            <a:off x="457200" y="1508760"/>
            <a:ext cx="11277295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262626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87" name="Google Shape;87;p34"/>
          <p:cNvCxnSpPr/>
          <p:nvPr/>
        </p:nvCxnSpPr>
        <p:spPr>
          <a:xfrm>
            <a:off x="0" y="6291072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50B5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34"/>
          <p:cNvCxnSpPr/>
          <p:nvPr/>
        </p:nvCxnSpPr>
        <p:spPr>
          <a:xfrm>
            <a:off x="6575908" y="6291072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50B5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34"/>
          <p:cNvCxnSpPr/>
          <p:nvPr/>
        </p:nvCxnSpPr>
        <p:spPr>
          <a:xfrm>
            <a:off x="0" y="6341364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34"/>
          <p:cNvCxnSpPr/>
          <p:nvPr/>
        </p:nvCxnSpPr>
        <p:spPr>
          <a:xfrm>
            <a:off x="6575908" y="6341364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34"/>
          <p:cNvCxnSpPr/>
          <p:nvPr/>
        </p:nvCxnSpPr>
        <p:spPr>
          <a:xfrm>
            <a:off x="0" y="6391656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6DD2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34"/>
          <p:cNvCxnSpPr/>
          <p:nvPr/>
        </p:nvCxnSpPr>
        <p:spPr>
          <a:xfrm>
            <a:off x="6575908" y="6391656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6DD2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x_build/images/logo.png" id="93" name="Google Shape;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11370" y="6236208"/>
            <a:ext cx="368954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4"/>
          <p:cNvSpPr txBox="1"/>
          <p:nvPr>
            <p:ph idx="12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M_THANKYOU">
  <p:cSld name="DIM_THANKYOU">
    <p:bg>
      <p:bgPr>
        <a:solidFill>
          <a:srgbClr val="2D6B66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5"/>
          <p:cNvSpPr/>
          <p:nvPr/>
        </p:nvSpPr>
        <p:spPr>
          <a:xfrm>
            <a:off x="0" y="6528816"/>
            <a:ext cx="12191695" cy="91440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5"/>
          <p:cNvSpPr/>
          <p:nvPr/>
        </p:nvSpPr>
        <p:spPr>
          <a:xfrm>
            <a:off x="0" y="6620256"/>
            <a:ext cx="12191695" cy="91440"/>
          </a:xfrm>
          <a:prstGeom prst="rect">
            <a:avLst/>
          </a:prstGeom>
          <a:solidFill>
            <a:srgbClr val="F6DD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5"/>
          <p:cNvSpPr txBox="1"/>
          <p:nvPr>
            <p:ph type="title"/>
          </p:nvPr>
        </p:nvSpPr>
        <p:spPr>
          <a:xfrm>
            <a:off x="0" y="2057400"/>
            <a:ext cx="1219169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b="1" i="0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9" name="Google Shape;99;p35"/>
          <p:cNvSpPr txBox="1"/>
          <p:nvPr>
            <p:ph idx="1" type="body"/>
          </p:nvPr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400"/>
              </a:spcBef>
              <a:spcAft>
                <a:spcPts val="0"/>
              </a:spcAft>
              <a:buClr>
                <a:srgbClr val="E6F5F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6F5F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35"/>
          <p:cNvSpPr txBox="1"/>
          <p:nvPr>
            <p:ph idx="2" type="body"/>
          </p:nvPr>
        </p:nvSpPr>
        <p:spPr>
          <a:xfrm>
            <a:off x="0" y="4023360"/>
            <a:ext cx="121916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57142"/>
              </a:lnSpc>
              <a:spcBef>
                <a:spcPts val="280"/>
              </a:spcBef>
              <a:spcAft>
                <a:spcPts val="0"/>
              </a:spcAft>
              <a:buClr>
                <a:srgbClr val="CFEDE3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CFEDE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/home/claude/pptx_build/images/logo_dark.png" id="101" name="Google Shape;10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01488" y="4892040"/>
            <a:ext cx="1188720" cy="123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M_SECTION">
  <p:cSld name="DIM_SECTION">
    <p:bg>
      <p:bgPr>
        <a:solidFill>
          <a:srgbClr val="2D6B66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7"/>
          <p:cNvSpPr/>
          <p:nvPr/>
        </p:nvSpPr>
        <p:spPr>
          <a:xfrm>
            <a:off x="457200" y="23317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E9D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FE9DC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7"/>
          <p:cNvSpPr txBox="1"/>
          <p:nvPr>
            <p:ph type="title"/>
          </p:nvPr>
        </p:nvSpPr>
        <p:spPr>
          <a:xfrm>
            <a:off x="457200" y="2743200"/>
            <a:ext cx="8778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6" name="Google Shape;106;p37"/>
          <p:cNvSpPr txBox="1"/>
          <p:nvPr>
            <p:ph idx="1" type="body"/>
          </p:nvPr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E6F5F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E6F5F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07" name="Google Shape;107;p37"/>
          <p:cNvCxnSpPr/>
          <p:nvPr/>
        </p:nvCxnSpPr>
        <p:spPr>
          <a:xfrm>
            <a:off x="0" y="6291072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37"/>
          <p:cNvCxnSpPr/>
          <p:nvPr/>
        </p:nvCxnSpPr>
        <p:spPr>
          <a:xfrm>
            <a:off x="6575908" y="6291072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37"/>
          <p:cNvCxnSpPr/>
          <p:nvPr/>
        </p:nvCxnSpPr>
        <p:spPr>
          <a:xfrm>
            <a:off x="0" y="6341364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37"/>
          <p:cNvCxnSpPr/>
          <p:nvPr/>
        </p:nvCxnSpPr>
        <p:spPr>
          <a:xfrm>
            <a:off x="6575908" y="6341364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37"/>
          <p:cNvCxnSpPr/>
          <p:nvPr/>
        </p:nvCxnSpPr>
        <p:spPr>
          <a:xfrm>
            <a:off x="0" y="6391656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6DD2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37"/>
          <p:cNvCxnSpPr/>
          <p:nvPr/>
        </p:nvCxnSpPr>
        <p:spPr>
          <a:xfrm>
            <a:off x="6575908" y="6391656"/>
            <a:ext cx="5615788" cy="0"/>
          </a:xfrm>
          <a:prstGeom prst="straightConnector1">
            <a:avLst/>
          </a:prstGeom>
          <a:noFill/>
          <a:ln cap="flat" cmpd="sng" w="17775">
            <a:solidFill>
              <a:srgbClr val="F6DD2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x_build/images/logo_dark.png" id="113" name="Google Shape;11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11370" y="6236208"/>
            <a:ext cx="368954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7"/>
          <p:cNvSpPr txBox="1"/>
          <p:nvPr>
            <p:ph idx="12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DCEFE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title"/>
          </p:nvPr>
        </p:nvSpPr>
        <p:spPr>
          <a:xfrm>
            <a:off x="457200" y="2655094"/>
            <a:ext cx="7040880" cy="12311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INTE 22283 – Mobile Application Development</a:t>
            </a:r>
            <a:endParaRPr/>
          </a:p>
        </p:txBody>
      </p:sp>
      <p:sp>
        <p:nvSpPr>
          <p:cNvPr id="120" name="Google Shape;120;p1"/>
          <p:cNvSpPr txBox="1"/>
          <p:nvPr>
            <p:ph idx="1" type="body"/>
          </p:nvPr>
        </p:nvSpPr>
        <p:spPr>
          <a:xfrm>
            <a:off x="457200" y="3977640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D6B66"/>
              </a:buClr>
              <a:buSzPts val="1700"/>
              <a:buNone/>
            </a:pPr>
            <a:r>
              <a:rPr lang="en-US" sz="1700">
                <a:solidFill>
                  <a:srgbClr val="2D6B66"/>
                </a:solidFill>
                <a:latin typeface="Calibri"/>
                <a:ea typeface="Calibri"/>
                <a:cs typeface="Calibri"/>
                <a:sym typeface="Calibri"/>
              </a:rPr>
              <a:t>Week 2: Mobile Operating Systems</a:t>
            </a:r>
            <a:endParaRPr/>
          </a:p>
        </p:txBody>
      </p:sp>
      <p:sp>
        <p:nvSpPr>
          <p:cNvPr id="121" name="Google Shape;121;p1"/>
          <p:cNvSpPr txBox="1"/>
          <p:nvPr>
            <p:ph idx="2" type="body"/>
          </p:nvPr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Sammani Maddumahewage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 txBox="1"/>
          <p:nvPr>
            <p:ph idx="3" type="body"/>
          </p:nvPr>
        </p:nvSpPr>
        <p:spPr>
          <a:xfrm>
            <a:off x="457200" y="5358384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Lecturer (Probationary)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 txBox="1"/>
          <p:nvPr>
            <p:ph idx="4" type="body"/>
          </p:nvPr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None/>
            </a:pPr>
            <a:r>
              <a:rPr lang="en-US" sz="1250">
                <a:latin typeface="Calibri"/>
                <a:ea typeface="Calibri"/>
                <a:cs typeface="Calibri"/>
                <a:sym typeface="Calibri"/>
              </a:rPr>
              <a:t>BSc (Hons) in Information Technology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Today's Learning Outcomes</a:t>
            </a:r>
            <a:endParaRPr/>
          </a:p>
        </p:txBody>
      </p:sp>
      <p:sp>
        <p:nvSpPr>
          <p:cNvPr id="129" name="Google Shape;129;p2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Describe the architecture of the Android operating system (kernel, runtime, framework, application layers)</a:t>
            </a:r>
            <a:endParaRPr/>
          </a:p>
          <a:p>
            <a:pPr indent="-342900" lvl="0" marL="342900" rtl="0" algn="l">
              <a:spcBef>
                <a:spcPts val="131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Describe the architecture of iOS and compare it with Android</a:t>
            </a:r>
            <a:endParaRPr/>
          </a:p>
          <a:p>
            <a:pPr indent="-342900" lvl="0" marL="342900" rtl="0" algn="l">
              <a:spcBef>
                <a:spcPts val="131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Identify other mobile operating systems and their market relevance</a:t>
            </a:r>
            <a:endParaRPr/>
          </a:p>
          <a:p>
            <a:pPr indent="-342900" lvl="0" marL="342900" rtl="0" algn="l">
              <a:spcBef>
                <a:spcPts val="131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Explain the Android application lifecycle and process model</a:t>
            </a:r>
            <a:endParaRPr/>
          </a:p>
          <a:p>
            <a:pPr indent="-342900" lvl="0" marL="342900" rtl="0" algn="l">
              <a:spcBef>
                <a:spcPts val="131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Discuss permission models and sandboxing in mobile operating systems</a:t>
            </a:r>
            <a:endParaRPr/>
          </a:p>
          <a:p>
            <a:pPr indent="-342900" lvl="0" marL="342900" rtl="0" algn="l">
              <a:spcBef>
                <a:spcPts val="131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Compare update cycles, fragmentation, and device compatibility issues</a:t>
            </a:r>
            <a:endParaRPr/>
          </a:p>
          <a:p>
            <a:pPr indent="-342900" lvl="0" marL="342900" rtl="0" algn="l">
              <a:spcBef>
                <a:spcPts val="131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Set up the Android Studio development environment and emulator</a:t>
            </a:r>
            <a:endParaRPr/>
          </a:p>
          <a:p>
            <a:pPr indent="-342900" lvl="0" marL="342900" rtl="0" algn="l">
              <a:spcBef>
                <a:spcPts val="131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Explore the structure of a basic Android project</a:t>
            </a:r>
            <a:endParaRPr/>
          </a:p>
        </p:txBody>
      </p:sp>
      <p:sp>
        <p:nvSpPr>
          <p:cNvPr id="130" name="Google Shape;130;p2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Recap: Where We Are in the Module</a:t>
            </a:r>
            <a:endParaRPr/>
          </a:p>
        </p:txBody>
      </p:sp>
      <p:sp>
        <p:nvSpPr>
          <p:cNvPr id="136" name="Google Shape;136;p3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Char char="•"/>
            </a:pPr>
            <a:r>
              <a:rPr b="1"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Last week: </a:t>
            </a:r>
            <a:r>
              <a:rPr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We covered mobile computing fundamentals and how mobile networks connect devices</a:t>
            </a:r>
            <a:endParaRPr/>
          </a:p>
          <a:p>
            <a:pPr indent="-342900" lvl="0" marL="342900" rtl="0" algn="l">
              <a:spcBef>
                <a:spcPts val="1940"/>
              </a:spcBef>
              <a:spcAft>
                <a:spcPts val="0"/>
              </a:spcAft>
              <a:buClr>
                <a:srgbClr val="262626"/>
              </a:buClr>
              <a:buSzPts val="1700"/>
              <a:buChar char="•"/>
            </a:pPr>
            <a:r>
              <a:rPr b="1"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This week: </a:t>
            </a:r>
            <a:r>
              <a:rPr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We move from the network layer up to the operating system — the software platform that every mobile app runs on top of</a:t>
            </a:r>
            <a:endParaRPr/>
          </a:p>
          <a:p>
            <a:pPr indent="-342900" lvl="0" marL="342900" rtl="0" algn="l">
              <a:spcBef>
                <a:spcPts val="1940"/>
              </a:spcBef>
              <a:spcAft>
                <a:spcPts val="0"/>
              </a:spcAft>
              <a:buClr>
                <a:srgbClr val="262626"/>
              </a:buClr>
              <a:buSzPts val="1700"/>
              <a:buChar char="•"/>
            </a:pPr>
            <a:r>
              <a:rPr b="1"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Why this matters: </a:t>
            </a:r>
            <a:r>
              <a:rPr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Every design decision in later weeks (UI, architecture, APIs, security) depends on which OS the app targets and how that OS manages apps, permissions, and resources</a:t>
            </a:r>
            <a:endParaRPr/>
          </a:p>
        </p:txBody>
      </p:sp>
      <p:sp>
        <p:nvSpPr>
          <p:cNvPr id="137" name="Google Shape;137;p3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What Is a Mobile Operating System?</a:t>
            </a:r>
            <a:endParaRPr/>
          </a:p>
        </p:txBody>
      </p:sp>
      <p:sp>
        <p:nvSpPr>
          <p:cNvPr id="143" name="Google Shape;143;p4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Char char="•"/>
            </a:pPr>
            <a:r>
              <a:rPr b="1"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Definition: </a:t>
            </a:r>
            <a:r>
              <a:rPr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System software that manages hardware resources, provides a runtime environment for apps, and exposes APIs that developers use to build applications</a:t>
            </a:r>
            <a:endParaRPr/>
          </a:p>
          <a:p>
            <a:pPr indent="-342900" lvl="0" marL="342900" rtl="0" algn="l">
              <a:spcBef>
                <a:spcPts val="1940"/>
              </a:spcBef>
              <a:spcAft>
                <a:spcPts val="0"/>
              </a:spcAft>
              <a:buClr>
                <a:srgbClr val="262626"/>
              </a:buClr>
              <a:buSzPts val="1700"/>
              <a:buChar char="•"/>
            </a:pPr>
            <a:r>
              <a:rPr b="1"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Core responsibilities: </a:t>
            </a:r>
            <a:r>
              <a:rPr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Process management, memory management, security enforcement, hardware abstraction, and user interface services</a:t>
            </a:r>
            <a:endParaRPr/>
          </a:p>
          <a:p>
            <a:pPr indent="-342900" lvl="0" marL="342900" rtl="0" algn="l">
              <a:spcBef>
                <a:spcPts val="1940"/>
              </a:spcBef>
              <a:spcAft>
                <a:spcPts val="0"/>
              </a:spcAft>
              <a:buClr>
                <a:srgbClr val="262626"/>
              </a:buClr>
              <a:buSzPts val="1700"/>
              <a:buChar char="•"/>
            </a:pPr>
            <a:r>
              <a:rPr b="1"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Why mobile OS design differs from desktop: </a:t>
            </a:r>
            <a:r>
              <a:rPr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Mobile OSes must operate under strict battery, memory, and storage constraints while keeping the device responsive and secure</a:t>
            </a:r>
            <a:endParaRPr/>
          </a:p>
        </p:txBody>
      </p:sp>
      <p:sp>
        <p:nvSpPr>
          <p:cNvPr id="144" name="Google Shape;144;p4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Architecture: The Software Stack</a:t>
            </a:r>
            <a:endParaRPr/>
          </a:p>
        </p:txBody>
      </p:sp>
      <p:sp>
        <p:nvSpPr>
          <p:cNvPr id="150" name="Google Shape;150;p5"/>
          <p:cNvSpPr txBox="1"/>
          <p:nvPr>
            <p:ph idx="1" type="body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i="1" lang="en-US" sz="11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Figure 1: Android is organized into five layers, each building on the one below it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F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FB5"/>
                </a:solidFill>
                <a:latin typeface="Calibri"/>
                <a:ea typeface="Calibri"/>
                <a:cs typeface="Calibri"/>
                <a:sym typeface="Calibri"/>
              </a:rPr>
              <a:t>[ INSERT IMAGE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>
            <p:ph idx="2" type="body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50"/>
              <a:buChar char="•"/>
            </a:pPr>
            <a:r>
              <a:rPr b="1"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Applications: </a:t>
            </a:r>
            <a:r>
              <a:rPr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apps users actually open and interact with</a:t>
            </a:r>
            <a:endParaRPr/>
          </a:p>
          <a:p>
            <a:pPr indent="-342900" lvl="0" marL="342900" rtl="0" algn="l">
              <a:spcBef>
                <a:spcPts val="1290"/>
              </a:spcBef>
              <a:spcAft>
                <a:spcPts val="0"/>
              </a:spcAft>
              <a:buClr>
                <a:srgbClr val="262626"/>
              </a:buClr>
              <a:buSzPts val="1450"/>
              <a:buChar char="•"/>
            </a:pPr>
            <a:r>
              <a:rPr b="1"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Application Framework: </a:t>
            </a:r>
            <a:r>
              <a:rPr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Reusable APIs (Activity Manager, Content Providers, Views) that apps are built on</a:t>
            </a:r>
            <a:endParaRPr/>
          </a:p>
          <a:p>
            <a:pPr indent="-342900" lvl="0" marL="342900" rtl="0" algn="l">
              <a:spcBef>
                <a:spcPts val="1290"/>
              </a:spcBef>
              <a:spcAft>
                <a:spcPts val="0"/>
              </a:spcAft>
              <a:buClr>
                <a:srgbClr val="262626"/>
              </a:buClr>
              <a:buSzPts val="1450"/>
              <a:buChar char="•"/>
            </a:pPr>
            <a:r>
              <a:rPr b="1"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Libraries &amp; ART: </a:t>
            </a:r>
            <a:r>
              <a:rPr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Native libraries plus the Android Runtime that compiles and executes app code</a:t>
            </a:r>
            <a:endParaRPr/>
          </a:p>
          <a:p>
            <a:pPr indent="-342900" lvl="0" marL="342900" rtl="0" algn="l">
              <a:spcBef>
                <a:spcPts val="1290"/>
              </a:spcBef>
              <a:spcAft>
                <a:spcPts val="0"/>
              </a:spcAft>
              <a:buClr>
                <a:srgbClr val="262626"/>
              </a:buClr>
              <a:buSzPts val="1450"/>
              <a:buChar char="•"/>
            </a:pPr>
            <a:r>
              <a:rPr b="1"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HAL &amp; Linux Kernel: </a:t>
            </a:r>
            <a:r>
              <a:rPr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hardware abstraction layer and kernel that manage drivers, memory, and processes</a:t>
            </a:r>
            <a:endParaRPr/>
          </a:p>
        </p:txBody>
      </p:sp>
      <p:sp>
        <p:nvSpPr>
          <p:cNvPr id="153" name="Google Shape;153;p5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ndroid_architecture.png" id="154" name="Google Shape;1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5029200" cy="3383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Architecture Layers </a:t>
            </a:r>
            <a:endParaRPr/>
          </a:p>
        </p:txBody>
      </p:sp>
      <p:sp>
        <p:nvSpPr>
          <p:cNvPr id="160" name="Google Shape;160;p6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Linux Kernel</a:t>
            </a:r>
            <a:endParaRPr/>
          </a:p>
          <a:p>
            <a:pPr indent="-228600" lvl="0" marL="685800" rtl="0" algn="l">
              <a:spcBef>
                <a:spcPts val="14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–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Provides core system services: process management, memory management, device drivers, and security</a:t>
            </a:r>
            <a:endParaRPr/>
          </a:p>
          <a:p>
            <a:pPr indent="-342900" lvl="0" marL="342900" rtl="0" algn="l">
              <a:spcBef>
                <a:spcPts val="15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Hardware Abstraction Layer (HAL)</a:t>
            </a:r>
            <a:endParaRPr/>
          </a:p>
          <a:p>
            <a:pPr indent="-228600" lvl="0" marL="685800" rtl="0" algn="l">
              <a:spcBef>
                <a:spcPts val="14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–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Standard interfaces that let higher layers use hardware (camera, sensors, audio) without knowing device-specific details</a:t>
            </a:r>
            <a:endParaRPr/>
          </a:p>
          <a:p>
            <a:pPr indent="-342900" lvl="0" marL="342900" rtl="0" algn="l">
              <a:spcBef>
                <a:spcPts val="15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Runtime (ART) and Native Libraries</a:t>
            </a:r>
            <a:endParaRPr/>
          </a:p>
          <a:p>
            <a:pPr indent="-228600" lvl="0" marL="685800" rtl="0" algn="l">
              <a:spcBef>
                <a:spcPts val="14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–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ART compiles app bytecode to native instructions; libraries provide functionality like SQLite, WebKit, and SSL</a:t>
            </a:r>
            <a:endParaRPr/>
          </a:p>
          <a:p>
            <a:pPr indent="-342900" lvl="0" marL="342900" rtl="0" algn="l">
              <a:spcBef>
                <a:spcPts val="15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Application Framework</a:t>
            </a:r>
            <a:endParaRPr/>
          </a:p>
          <a:p>
            <a:pPr indent="-228600" lvl="0" marL="685800" rtl="0" algn="l">
              <a:spcBef>
                <a:spcPts val="14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–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Java/Kotlin APIs that apps use directly: Activity Manager, Window Manager, Content Providers, Notification Manager</a:t>
            </a:r>
            <a:endParaRPr/>
          </a:p>
          <a:p>
            <a:pPr indent="-342900" lvl="0" marL="342900" rtl="0" algn="l">
              <a:spcBef>
                <a:spcPts val="15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  <a:p>
            <a:pPr indent="-228600" lvl="0" marL="685800" rtl="0" algn="l">
              <a:spcBef>
                <a:spcPts val="14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–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Both system apps (Phone, Settings) and third-party apps installed by the user, all running on the same framework</a:t>
            </a:r>
            <a:endParaRPr/>
          </a:p>
        </p:txBody>
      </p:sp>
      <p:sp>
        <p:nvSpPr>
          <p:cNvPr id="161" name="Google Shape;161;p6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iOS Architecture Overview</a:t>
            </a:r>
            <a:endParaRPr/>
          </a:p>
        </p:txBody>
      </p:sp>
      <p:sp>
        <p:nvSpPr>
          <p:cNvPr id="167" name="Google Shape;167;p7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Core OS layer: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lowest level — kernel (XNU, based on Darwin/BSD), drivers, and core hardware services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Core Services layer: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Fundamental system services such as networking, location, and data management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Media layer: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Graphics, audio, and video technologies (Core Graphics, Core Animation, AVFoundation)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Cocoa Touch layer: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topmost layer providing the UI frameworks (UIKit, SwiftUI) that apps are built with directly</a:t>
            </a:r>
            <a:endParaRPr/>
          </a:p>
        </p:txBody>
      </p:sp>
      <p:sp>
        <p:nvSpPr>
          <p:cNvPr id="168" name="Google Shape;168;p7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vs. iOS: Architectural Comparison</a:t>
            </a:r>
            <a:endParaRPr/>
          </a:p>
        </p:txBody>
      </p:sp>
      <p:sp>
        <p:nvSpPr>
          <p:cNvPr id="174" name="Google Shape;174;p8"/>
          <p:cNvSpPr txBox="1"/>
          <p:nvPr>
            <p:ph idx="1" type="body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</a:pPr>
            <a:r>
              <a:rPr i="1"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Table 1: Key architectural and ecosystem differences between the two dominant mobile platforms</a:t>
            </a:r>
            <a:endParaRPr/>
          </a:p>
        </p:txBody>
      </p:sp>
      <p:sp>
        <p:nvSpPr>
          <p:cNvPr id="175" name="Google Shape;175;p8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8"/>
          <p:cNvGraphicFramePr/>
          <p:nvPr/>
        </p:nvGraphicFramePr>
        <p:xfrm>
          <a:off x="457200" y="169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{FAB28F87-C7C9-4314-82F6-509CF1A6192A}</a:tableStyleId>
              </a:tblPr>
              <a:tblGrid>
                <a:gridCol w="3759100"/>
                <a:gridCol w="3759100"/>
                <a:gridCol w="3759100"/>
              </a:tblGrid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Android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D6B6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Kernel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Linux kernel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XNU (Darwin/BSD-based)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languages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Kotlin, Java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Swift, Objective-C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8F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distribution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Play + sideloading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Store only (largely)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 vendors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Many (Samsung, Xiaomi, etc.)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Apple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8F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Customization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(open ecosystem)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(tightly controlled)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Why the Architectural Differences Matter</a:t>
            </a:r>
            <a:endParaRPr/>
          </a:p>
        </p:txBody>
      </p:sp>
      <p:sp>
        <p:nvSpPr>
          <p:cNvPr id="182" name="Google Shape;182;p9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Openness vs. control: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Android's open-source, multi-vendor model enables device diversity but creates the fragmentation challenges discussed shortly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Single-vendor consistency: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Apple's tight hardware-software integration in iOS gives more predictable performance and update behavior, at the cost of platform flexibility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Developer implication: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Targeting both platforms generally requires either two native codebases or a cross-platform framework — the subject of Week 3 and Week 12</a:t>
            </a:r>
            <a:endParaRPr/>
          </a:p>
        </p:txBody>
      </p:sp>
      <p:sp>
        <p:nvSpPr>
          <p:cNvPr id="183" name="Google Shape;183;p9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Other Mobile Operating Systems and Market Relevance</a:t>
            </a:r>
            <a:endParaRPr/>
          </a:p>
        </p:txBody>
      </p:sp>
      <p:sp>
        <p:nvSpPr>
          <p:cNvPr id="189" name="Google Shape;189;p10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HarmonyOS (Huawei):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Developed after Huawei lost access to Google services; growing market share primarily in China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KaiOS: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 lightweight OS for feature phones, significant in emerging markets where smartphones remain costly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Historical context: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Platforms like Windows Phone and BlackBerry OS once held meaningful market share but have been discontinued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Practical takeaway: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and iOS together account for the overwhelming majority of the global market — this module focuses primarily on Android for hands-on development</a:t>
            </a:r>
            <a:endParaRPr/>
          </a:p>
        </p:txBody>
      </p:sp>
      <p:sp>
        <p:nvSpPr>
          <p:cNvPr id="190" name="Google Shape;190;p10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Why Lifecycle Management Exists</a:t>
            </a:r>
            <a:endParaRPr/>
          </a:p>
        </p:txBody>
      </p:sp>
      <p:sp>
        <p:nvSpPr>
          <p:cNvPr id="196" name="Google Shape;196;p11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Char char="•"/>
            </a:pPr>
            <a:r>
              <a:rPr b="1"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problem: </a:t>
            </a:r>
            <a:r>
              <a:rPr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Mobile devices have limited memory, and users frequently switch between apps, receive calls, or lock their screens</a:t>
            </a:r>
            <a:endParaRPr/>
          </a:p>
          <a:p>
            <a:pPr indent="-342900" lvl="0" marL="342900" rtl="0" algn="l">
              <a:spcBef>
                <a:spcPts val="1940"/>
              </a:spcBef>
              <a:spcAft>
                <a:spcPts val="0"/>
              </a:spcAft>
              <a:buClr>
                <a:srgbClr val="262626"/>
              </a:buClr>
              <a:buSzPts val="1700"/>
              <a:buChar char="•"/>
            </a:pPr>
            <a:r>
              <a:rPr b="1"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OS's job: </a:t>
            </a:r>
            <a:r>
              <a:rPr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must decide which apps stay in memory, which get paused, and which get terminated — without losing user data or confusing the user</a:t>
            </a:r>
            <a:endParaRPr/>
          </a:p>
          <a:p>
            <a:pPr indent="-342900" lvl="0" marL="342900" rtl="0" algn="l">
              <a:spcBef>
                <a:spcPts val="1940"/>
              </a:spcBef>
              <a:spcAft>
                <a:spcPts val="0"/>
              </a:spcAft>
              <a:buClr>
                <a:srgbClr val="262626"/>
              </a:buClr>
              <a:buSzPts val="1700"/>
              <a:buChar char="•"/>
            </a:pPr>
            <a:r>
              <a:rPr b="1"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developer's job: </a:t>
            </a:r>
            <a:r>
              <a:rPr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Apps must correctly respond to lifecycle events so they save state, release resources, and resume correctly</a:t>
            </a:r>
            <a:endParaRPr/>
          </a:p>
        </p:txBody>
      </p:sp>
      <p:sp>
        <p:nvSpPr>
          <p:cNvPr id="197" name="Google Shape;197;p11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Activity Lifecycle</a:t>
            </a:r>
            <a:endParaRPr/>
          </a:p>
        </p:txBody>
      </p:sp>
      <p:sp>
        <p:nvSpPr>
          <p:cNvPr id="203" name="Google Shape;203;p12"/>
          <p:cNvSpPr txBox="1"/>
          <p:nvPr>
            <p:ph idx="1" type="body"/>
          </p:nvPr>
        </p:nvSpPr>
        <p:spPr>
          <a:xfrm>
            <a:off x="457200" y="481888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None/>
            </a:pPr>
            <a:r>
              <a:rPr i="1" lang="en-US" sz="11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Figure 2: Every Activity moves through a well-defined sequence of states, each with a corresponding callback method</a:t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457200" y="1371600"/>
            <a:ext cx="50292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F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FB5"/>
                </a:solidFill>
                <a:latin typeface="Calibri"/>
                <a:ea typeface="Calibri"/>
                <a:cs typeface="Calibri"/>
                <a:sym typeface="Calibri"/>
              </a:rPr>
              <a:t>[ INSERT IMAGE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 txBox="1"/>
          <p:nvPr>
            <p:ph idx="2" type="body"/>
          </p:nvPr>
        </p:nvSpPr>
        <p:spPr>
          <a:xfrm>
            <a:off x="6263640" y="1371600"/>
            <a:ext cx="521208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50"/>
              <a:buChar char="•"/>
            </a:pPr>
            <a:r>
              <a:rPr b="1"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Created → Started → Resumed: </a:t>
            </a:r>
            <a:r>
              <a:rPr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activity becomes visible and interactive</a:t>
            </a:r>
            <a:endParaRPr/>
          </a:p>
          <a:p>
            <a:pPr indent="-342900" lvl="0" marL="342900" rtl="0" algn="l">
              <a:spcBef>
                <a:spcPts val="1290"/>
              </a:spcBef>
              <a:spcAft>
                <a:spcPts val="0"/>
              </a:spcAft>
              <a:buClr>
                <a:srgbClr val="262626"/>
              </a:buClr>
              <a:buSzPts val="1450"/>
              <a:buChar char="•"/>
            </a:pPr>
            <a:r>
              <a:rPr b="1"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Paused: </a:t>
            </a:r>
            <a:r>
              <a:rPr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Activity is partially visible but not in focus (e.g., a dialog appears)</a:t>
            </a:r>
            <a:endParaRPr/>
          </a:p>
          <a:p>
            <a:pPr indent="-342900" lvl="0" marL="342900" rtl="0" algn="l">
              <a:spcBef>
                <a:spcPts val="1290"/>
              </a:spcBef>
              <a:spcAft>
                <a:spcPts val="0"/>
              </a:spcAft>
              <a:buClr>
                <a:srgbClr val="262626"/>
              </a:buClr>
              <a:buSzPts val="1450"/>
              <a:buChar char="•"/>
            </a:pPr>
            <a:r>
              <a:rPr b="1"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Stopped: </a:t>
            </a:r>
            <a:r>
              <a:rPr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Activity is no longer visible (e.g., user switched apps)</a:t>
            </a:r>
            <a:endParaRPr/>
          </a:p>
          <a:p>
            <a:pPr indent="-342900" lvl="0" marL="342900" rtl="0" algn="l">
              <a:spcBef>
                <a:spcPts val="1290"/>
              </a:spcBef>
              <a:spcAft>
                <a:spcPts val="0"/>
              </a:spcAft>
              <a:buClr>
                <a:srgbClr val="262626"/>
              </a:buClr>
              <a:buSzPts val="1450"/>
              <a:buChar char="•"/>
            </a:pPr>
            <a:r>
              <a:rPr b="1"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Destroyed: </a:t>
            </a:r>
            <a:r>
              <a:rPr lang="en-US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Activity's resources are released, either by the user or the system</a:t>
            </a:r>
            <a:endParaRPr/>
          </a:p>
        </p:txBody>
      </p:sp>
      <p:sp>
        <p:nvSpPr>
          <p:cNvPr id="206" name="Google Shape;206;p12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ctivity_lifecycle.png" id="207" name="Google Shape;2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5029200" cy="3383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Key Lifecycle Callback Methods</a:t>
            </a:r>
            <a:endParaRPr/>
          </a:p>
        </p:txBody>
      </p:sp>
      <p:sp>
        <p:nvSpPr>
          <p:cNvPr id="213" name="Google Shape;213;p13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onCreate()</a:t>
            </a:r>
            <a:endParaRPr/>
          </a:p>
          <a:p>
            <a:pPr indent="-228600" lvl="0" marL="685800" rtl="0" algn="l">
              <a:spcBef>
                <a:spcPts val="14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–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Called once when the Activity is first created; used to initialize UI and data</a:t>
            </a:r>
            <a:endParaRPr/>
          </a:p>
          <a:p>
            <a:pPr indent="-342900" lvl="0" marL="342900" rtl="0" algn="l">
              <a:spcBef>
                <a:spcPts val="15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onStart() / onResume()</a:t>
            </a:r>
            <a:endParaRPr/>
          </a:p>
          <a:p>
            <a:pPr indent="-228600" lvl="0" marL="685800" rtl="0" algn="l">
              <a:spcBef>
                <a:spcPts val="14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–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Activity becomes visible (onStart) and then interactive (onResume)</a:t>
            </a:r>
            <a:endParaRPr/>
          </a:p>
          <a:p>
            <a:pPr indent="-342900" lvl="0" marL="342900" rtl="0" algn="l">
              <a:spcBef>
                <a:spcPts val="15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onPause()</a:t>
            </a:r>
            <a:endParaRPr/>
          </a:p>
          <a:p>
            <a:pPr indent="-228600" lvl="0" marL="685800" rtl="0" algn="l">
              <a:spcBef>
                <a:spcPts val="14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–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Called when the activity loses focus; used to save lightweight state and pause ongoing actions (e.g., video playback)</a:t>
            </a:r>
            <a:endParaRPr/>
          </a:p>
          <a:p>
            <a:pPr indent="-342900" lvl="0" marL="342900" rtl="0" algn="l">
              <a:spcBef>
                <a:spcPts val="15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onStop()</a:t>
            </a:r>
            <a:endParaRPr/>
          </a:p>
          <a:p>
            <a:pPr indent="-228600" lvl="0" marL="685800" rtl="0" algn="l">
              <a:spcBef>
                <a:spcPts val="14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–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Called when the activity is no longer visible; used to release resources not needed while hidden</a:t>
            </a:r>
            <a:endParaRPr/>
          </a:p>
          <a:p>
            <a:pPr indent="-342900" lvl="0" marL="342900" rtl="0" algn="l">
              <a:spcBef>
                <a:spcPts val="15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onDestroy()</a:t>
            </a:r>
            <a:endParaRPr/>
          </a:p>
          <a:p>
            <a:pPr indent="-228600" lvl="0" marL="685800" rtl="0" algn="l">
              <a:spcBef>
                <a:spcPts val="14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–"/>
            </a:pP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Final cleanup before the activity is removed from memory</a:t>
            </a:r>
            <a:endParaRPr/>
          </a:p>
        </p:txBody>
      </p:sp>
      <p:sp>
        <p:nvSpPr>
          <p:cNvPr id="214" name="Google Shape;214;p13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Android Process Model</a:t>
            </a:r>
            <a:endParaRPr/>
          </a:p>
        </p:txBody>
      </p:sp>
      <p:sp>
        <p:nvSpPr>
          <p:cNvPr id="220" name="Google Shape;220;p14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Each app runs in its own process: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By default, every Android app runs in its own Linux process with a unique user ID, isolating it from other apps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Process priority levels: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ranks processes (foreground, visible, service, background, empty) and kills lower-priority processes first when memory is needed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Why this matters for developers: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 app moved to the background can be killed at any time — robust apps must persist important state so users don't lose progress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Multi-process apps: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Some apps deliberately run components in separate processes (e.g., isolating a crash-prone library) for stability</a:t>
            </a:r>
            <a:endParaRPr/>
          </a:p>
        </p:txBody>
      </p:sp>
      <p:sp>
        <p:nvSpPr>
          <p:cNvPr id="221" name="Google Shape;221;p14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Sandbox Model</a:t>
            </a:r>
            <a:endParaRPr/>
          </a:p>
        </p:txBody>
      </p:sp>
      <p:sp>
        <p:nvSpPr>
          <p:cNvPr id="227" name="Google Shape;227;p15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Definition: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Each app runs in an isolated environment with restricted access to system resources and other apps' data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Android's implementation: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Each app is assigned a unique Linux user ID (UID); the kernel enforces that one app's files and memory cannot be accessed by another app directly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iOS's implementation: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Apps run in a similar sandbox enforced by the kernel, with strict entitlements controlling what system resources an app can use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Why sandboxing matters: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It limits the damage a malicious or buggy app can do — this is a foundational security mechanism we revisit in depth in Week 13</a:t>
            </a:r>
            <a:endParaRPr/>
          </a:p>
        </p:txBody>
      </p:sp>
      <p:sp>
        <p:nvSpPr>
          <p:cNvPr id="228" name="Google Shape;228;p15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Permission Models: Install-Time vs. Runtime</a:t>
            </a:r>
            <a:endParaRPr/>
          </a:p>
        </p:txBody>
      </p:sp>
      <p:sp>
        <p:nvSpPr>
          <p:cNvPr id="234" name="Google Shape;234;p16"/>
          <p:cNvSpPr txBox="1"/>
          <p:nvPr>
            <p:ph idx="1" type="body"/>
          </p:nvPr>
        </p:nvSpPr>
        <p:spPr>
          <a:xfrm>
            <a:off x="457200" y="1298448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D6B66"/>
              </a:buClr>
              <a:buSzPts val="1500"/>
              <a:buNone/>
            </a:pPr>
            <a:r>
              <a:rPr b="1" lang="en-US" sz="1500">
                <a:solidFill>
                  <a:srgbClr val="2D6B66"/>
                </a:solidFill>
                <a:latin typeface="Calibri"/>
                <a:ea typeface="Calibri"/>
                <a:cs typeface="Calibri"/>
                <a:sym typeface="Calibri"/>
              </a:rPr>
              <a:t>Install-Time Permissions</a:t>
            </a:r>
            <a:endParaRPr/>
          </a:p>
        </p:txBody>
      </p:sp>
      <p:sp>
        <p:nvSpPr>
          <p:cNvPr id="235" name="Google Shape;235;p16"/>
          <p:cNvSpPr txBox="1"/>
          <p:nvPr>
            <p:ph idx="2" type="body"/>
          </p:nvPr>
        </p:nvSpPr>
        <p:spPr>
          <a:xfrm>
            <a:off x="6400800" y="1298448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D6B66"/>
              </a:buClr>
              <a:buSzPts val="1500"/>
              <a:buNone/>
            </a:pPr>
            <a:r>
              <a:rPr b="1" lang="en-US" sz="1500">
                <a:solidFill>
                  <a:srgbClr val="2D6B66"/>
                </a:solidFill>
                <a:latin typeface="Calibri"/>
                <a:ea typeface="Calibri"/>
                <a:cs typeface="Calibri"/>
                <a:sym typeface="Calibri"/>
              </a:rPr>
              <a:t>Runtime Permissions</a:t>
            </a:r>
            <a:endParaRPr/>
          </a:p>
        </p:txBody>
      </p:sp>
      <p:sp>
        <p:nvSpPr>
          <p:cNvPr id="236" name="Google Shape;236;p16"/>
          <p:cNvSpPr txBox="1"/>
          <p:nvPr>
            <p:ph idx="3" type="body"/>
          </p:nvPr>
        </p:nvSpPr>
        <p:spPr>
          <a:xfrm>
            <a:off x="457200" y="1737360"/>
            <a:ext cx="50749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</a:pPr>
            <a:r>
              <a:rPr b="1"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Used for: </a:t>
            </a: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Low-risk permissions (e.g., internet access)</a:t>
            </a:r>
            <a:endParaRPr/>
          </a:p>
          <a:p>
            <a:pPr indent="-342900" lvl="0" marL="342900" rtl="0" algn="l">
              <a:spcBef>
                <a:spcPts val="12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</a:pPr>
            <a:r>
              <a:rPr b="1"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Behavior: </a:t>
            </a: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Granted automatically when the app is installed</a:t>
            </a:r>
            <a:endParaRPr/>
          </a:p>
          <a:p>
            <a:pPr indent="-342900" lvl="0" marL="342900" rtl="0" algn="l">
              <a:spcBef>
                <a:spcPts val="12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</a:pPr>
            <a:r>
              <a:rPr b="1"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User control: </a:t>
            </a: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Limited — user can only choose not to install the app</a:t>
            </a:r>
            <a:endParaRPr/>
          </a:p>
        </p:txBody>
      </p:sp>
      <p:sp>
        <p:nvSpPr>
          <p:cNvPr id="237" name="Google Shape;237;p16"/>
          <p:cNvSpPr txBox="1"/>
          <p:nvPr>
            <p:ph idx="4" type="body"/>
          </p:nvPr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</a:pPr>
            <a:r>
              <a:rPr b="1"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Used for: </a:t>
            </a: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Sensitive permissions (camera, location, contacts)</a:t>
            </a:r>
            <a:endParaRPr/>
          </a:p>
          <a:p>
            <a:pPr indent="-342900" lvl="0" marL="342900" rtl="0" algn="l">
              <a:spcBef>
                <a:spcPts val="12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</a:pPr>
            <a:r>
              <a:rPr b="1"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Behavior: </a:t>
            </a: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 must request permission while running; user approves or denies</a:t>
            </a:r>
            <a:endParaRPr/>
          </a:p>
          <a:p>
            <a:pPr indent="-342900" lvl="0" marL="342900" rtl="0" algn="l">
              <a:spcBef>
                <a:spcPts val="128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</a:pPr>
            <a:r>
              <a:rPr b="1"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User control: </a:t>
            </a:r>
            <a:r>
              <a:rPr lang="en-US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High — permissions can be revoked at any time in system settings</a:t>
            </a:r>
            <a:endParaRPr/>
          </a:p>
        </p:txBody>
      </p:sp>
      <p:sp>
        <p:nvSpPr>
          <p:cNvPr id="238" name="Google Shape;238;p16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Why Modern Permission Models Evolved This Way</a:t>
            </a:r>
            <a:endParaRPr/>
          </a:p>
        </p:txBody>
      </p:sp>
      <p:sp>
        <p:nvSpPr>
          <p:cNvPr id="244" name="Google Shape;244;p17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Early Android (pre-6.0):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Used install-time-only permissions — users had to accept everything or not install the app at all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Modern Android (6.0+) and iOS: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 runtime permission requests for sensitive capabilities, giving users granular, revocable control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Principle of least privilege: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Well-designed apps should request only the permissions they actually need, when they need them — this is both a security best practice and an app-store review requirement</a:t>
            </a:r>
            <a:endParaRPr/>
          </a:p>
        </p:txBody>
      </p:sp>
      <p:sp>
        <p:nvSpPr>
          <p:cNvPr id="245" name="Google Shape;245;p17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Fragmentation</a:t>
            </a:r>
            <a:endParaRPr/>
          </a:p>
        </p:txBody>
      </p:sp>
      <p:sp>
        <p:nvSpPr>
          <p:cNvPr id="251" name="Google Shape;251;p18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Definition: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wide variety of Android OS versions, screen sizes, and hardware capabilities in active use simultaneously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Root cause: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updates depend on device manufacturers and carriers to distribute them, leading to long delays or many devices never receiving updates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Practical consequence for developers: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Apps must be tested across multiple OS versions and screen configurations, and gracefully handle missing newer-API features on older devices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iOS comparison: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Apple controls hardware and software together, so iOS updates reach the vast majority of supported devices quickly, greatly reducing fragmentation</a:t>
            </a:r>
            <a:endParaRPr/>
          </a:p>
        </p:txBody>
      </p:sp>
      <p:sp>
        <p:nvSpPr>
          <p:cNvPr id="252" name="Google Shape;252;p18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Managing Compatibility in Android Development</a:t>
            </a:r>
            <a:endParaRPr/>
          </a:p>
        </p:txBody>
      </p:sp>
      <p:sp>
        <p:nvSpPr>
          <p:cNvPr id="258" name="Google Shape;258;p19"/>
          <p:cNvSpPr txBox="1"/>
          <p:nvPr>
            <p:ph idx="1" type="body"/>
          </p:nvPr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</a:pPr>
            <a:r>
              <a:rPr i="1"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Table 2: Common tools developers use to handle fragmentation</a:t>
            </a:r>
            <a:endParaRPr/>
          </a:p>
        </p:txBody>
      </p:sp>
      <p:sp>
        <p:nvSpPr>
          <p:cNvPr id="259" name="Google Shape;259;p19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0" name="Google Shape;260;p19"/>
          <p:cNvGraphicFramePr/>
          <p:nvPr/>
        </p:nvGraphicFramePr>
        <p:xfrm>
          <a:off x="457200" y="169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{FAB28F87-C7C9-4314-82F6-509CF1A6192A}</a:tableStyleId>
              </a:tblPr>
              <a:tblGrid>
                <a:gridCol w="5638650"/>
                <a:gridCol w="5638650"/>
              </a:tblGrid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 / Concept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D6B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D6B6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minSdkVersion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Sets the oldest Android version the app supports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targetSdkVersion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Declares the version the app is optimized and tested for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8F6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AndroidX libraries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Backward-compatible APIs that work across many OS versions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Responsive layouts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Layouts that adapt to different screen sizes and densities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8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Worked Example: An App Losing Data on Rotation</a:t>
            </a:r>
            <a:endParaRPr/>
          </a:p>
        </p:txBody>
      </p:sp>
      <p:sp>
        <p:nvSpPr>
          <p:cNvPr id="266" name="Google Shape;266;p20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 user fills out a form, rotates their phone, and the form data disappears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What actually happened: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Screen rotation destroys and recreates the Activity by default — triggering onDestroy() and a fresh onCreate()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Root cause: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developer didn't save the form data during the lifecycle transition</a:t>
            </a:r>
            <a:endParaRPr/>
          </a:p>
          <a:p>
            <a:pPr indent="-342900" lvl="0" marL="342900" rtl="0" algn="l">
              <a:spcBef>
                <a:spcPts val="16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b="1"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Correct fix: </a:t>
            </a: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Save transient UI state in onSaveInstanceState() and restore it in onCreate(), or use a lifecycle-aware ViewModel that survives configuration changes</a:t>
            </a:r>
            <a:endParaRPr/>
          </a:p>
        </p:txBody>
      </p:sp>
      <p:sp>
        <p:nvSpPr>
          <p:cNvPr id="267" name="Google Shape;267;p20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Worked Example: A Permission Denied at Runtime</a:t>
            </a:r>
            <a:endParaRPr/>
          </a:p>
        </p:txBody>
      </p:sp>
      <p:sp>
        <p:nvSpPr>
          <p:cNvPr id="273" name="Google Shape;273;p21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 camera app requests camera access; the user denies it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What the OS does: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does not crash the app — it simply does not grant access, and the app must handle this case explicitly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Poor design: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 app that crashes or freezes when permission is denied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Good design: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app explains why the permission is needed and offers an alternative path (e.g., manually entering data) if permission is refused</a:t>
            </a:r>
            <a:endParaRPr/>
          </a:p>
        </p:txBody>
      </p:sp>
      <p:sp>
        <p:nvSpPr>
          <p:cNvPr id="274" name="Google Shape;274;p21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Setting Up the Android Studio Environment</a:t>
            </a:r>
            <a:endParaRPr/>
          </a:p>
        </p:txBody>
      </p:sp>
      <p:sp>
        <p:nvSpPr>
          <p:cNvPr id="280" name="Google Shape;280;p22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Studio: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official IDE for Android development, built on JetBrains' IntelliJ platform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SDK: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Software Development Kit containing the libraries and tools needed to build, debug, and run Android apps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 Virtual Device (AVD) / Emulator: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 simulated Android device used to test apps without physical hardware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b="1"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Gradle: </a:t>
            </a: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build system Android Studio uses to compile code, manage dependencies, and package the app</a:t>
            </a:r>
            <a:endParaRPr/>
          </a:p>
        </p:txBody>
      </p:sp>
      <p:sp>
        <p:nvSpPr>
          <p:cNvPr id="281" name="Google Shape;281;p22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Structure of a Basic Android Project</a:t>
            </a:r>
            <a:endParaRPr/>
          </a:p>
        </p:txBody>
      </p:sp>
      <p:sp>
        <p:nvSpPr>
          <p:cNvPr id="287" name="Google Shape;287;p23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b="1"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manifests/AndroidManifest.xml</a:t>
            </a:r>
            <a:endParaRPr/>
          </a:p>
          <a:p>
            <a:pPr indent="-228600" lvl="0" marL="685800" rtl="0" algn="l">
              <a:spcBef>
                <a:spcPts val="1470"/>
              </a:spcBef>
              <a:spcAft>
                <a:spcPts val="0"/>
              </a:spcAft>
              <a:buClr>
                <a:srgbClr val="262626"/>
              </a:buClr>
              <a:buSzPts val="1350"/>
              <a:buChar char="–"/>
            </a:pPr>
            <a:r>
              <a:rPr lang="en-US" sz="13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Declares the app's components, permissions, and metadata the OS needs to run it</a:t>
            </a:r>
            <a:endParaRPr/>
          </a:p>
          <a:p>
            <a:pPr indent="-342900" lvl="0" marL="342900" rtl="0" algn="l">
              <a:spcBef>
                <a:spcPts val="151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b="1"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java/ (or kotlin/)</a:t>
            </a:r>
            <a:endParaRPr/>
          </a:p>
          <a:p>
            <a:pPr indent="-228600" lvl="0" marL="685800" rtl="0" algn="l">
              <a:spcBef>
                <a:spcPts val="1470"/>
              </a:spcBef>
              <a:spcAft>
                <a:spcPts val="0"/>
              </a:spcAft>
              <a:buClr>
                <a:srgbClr val="262626"/>
              </a:buClr>
              <a:buSzPts val="1350"/>
              <a:buChar char="–"/>
            </a:pPr>
            <a:r>
              <a:rPr lang="en-US" sz="13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Contains the source code: Activities, Fragments, and supporting classes</a:t>
            </a:r>
            <a:endParaRPr/>
          </a:p>
          <a:p>
            <a:pPr indent="-342900" lvl="0" marL="342900" rtl="0" algn="l">
              <a:spcBef>
                <a:spcPts val="151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b="1"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res/ (resources)</a:t>
            </a:r>
            <a:endParaRPr/>
          </a:p>
          <a:p>
            <a:pPr indent="-228600" lvl="0" marL="685800" rtl="0" algn="l">
              <a:spcBef>
                <a:spcPts val="1470"/>
              </a:spcBef>
              <a:spcAft>
                <a:spcPts val="0"/>
              </a:spcAft>
              <a:buClr>
                <a:srgbClr val="262626"/>
              </a:buClr>
              <a:buSzPts val="1350"/>
              <a:buChar char="–"/>
            </a:pPr>
            <a:r>
              <a:rPr lang="en-US" sz="13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Layout XML files, images, strings, and other non-code assets, organized by type</a:t>
            </a:r>
            <a:endParaRPr/>
          </a:p>
          <a:p>
            <a:pPr indent="-342900" lvl="0" marL="342900" rtl="0" algn="l">
              <a:spcBef>
                <a:spcPts val="151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b="1"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build.gradle (module and project level)</a:t>
            </a:r>
            <a:endParaRPr/>
          </a:p>
          <a:p>
            <a:pPr indent="-228600" lvl="0" marL="685800" rtl="0" algn="l">
              <a:spcBef>
                <a:spcPts val="1470"/>
              </a:spcBef>
              <a:spcAft>
                <a:spcPts val="0"/>
              </a:spcAft>
              <a:buClr>
                <a:srgbClr val="262626"/>
              </a:buClr>
              <a:buSzPts val="1350"/>
              <a:buChar char="–"/>
            </a:pPr>
            <a:r>
              <a:rPr lang="en-US" sz="13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Configures dependencies, SDK versions, and build settings</a:t>
            </a:r>
            <a:endParaRPr/>
          </a:p>
          <a:p>
            <a:pPr indent="-342900" lvl="0" marL="342900" rtl="0" algn="l">
              <a:spcBef>
                <a:spcPts val="1510"/>
              </a:spcBef>
              <a:spcAft>
                <a:spcPts val="0"/>
              </a:spcAft>
              <a:buClr>
                <a:srgbClr val="262626"/>
              </a:buClr>
              <a:buSzPts val="1550"/>
              <a:buChar char="•"/>
            </a:pPr>
            <a:r>
              <a:rPr b="1" lang="en-US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Gradle Scripts</a:t>
            </a:r>
            <a:endParaRPr/>
          </a:p>
          <a:p>
            <a:pPr indent="-228600" lvl="0" marL="685800" rtl="0" algn="l">
              <a:spcBef>
                <a:spcPts val="1470"/>
              </a:spcBef>
              <a:spcAft>
                <a:spcPts val="0"/>
              </a:spcAft>
              <a:buClr>
                <a:srgbClr val="262626"/>
              </a:buClr>
              <a:buSzPts val="1350"/>
              <a:buChar char="–"/>
            </a:pPr>
            <a:r>
              <a:rPr lang="en-US" sz="13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Supporting build configuration files generated and managed by Android Studio</a:t>
            </a:r>
            <a:endParaRPr/>
          </a:p>
        </p:txBody>
      </p:sp>
      <p:sp>
        <p:nvSpPr>
          <p:cNvPr id="288" name="Google Shape;288;p23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 txBox="1"/>
          <p:nvPr>
            <p:ph type="title"/>
          </p:nvPr>
        </p:nvSpPr>
        <p:spPr>
          <a:xfrm>
            <a:off x="457200" y="804672"/>
            <a:ext cx="112772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/>
          </a:p>
        </p:txBody>
      </p:sp>
      <p:sp>
        <p:nvSpPr>
          <p:cNvPr id="294" name="Google Shape;294;p24"/>
          <p:cNvSpPr txBox="1"/>
          <p:nvPr>
            <p:ph idx="1" type="body"/>
          </p:nvPr>
        </p:nvSpPr>
        <p:spPr>
          <a:xfrm>
            <a:off x="457200" y="1508760"/>
            <a:ext cx="11277295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Android's architecture is a layered stack: Linux kernel, HAL, libraries/ART, application framework, and applications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iOS uses a comparable layered model but with tighter hardware-software integration and a more controlled distribution model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 Activity lifecycle (Created, Started, Resumed, Paused, Stopped, Destroyed) governs how apps respond to system and user events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Sandboxing isolates each app for security; permission models (install-time vs. runtime) control access to sensitive resources</a:t>
            </a:r>
            <a:endParaRPr/>
          </a:p>
          <a:p>
            <a:pPr indent="-342900" lvl="0" marL="342900" rtl="0" algn="l">
              <a:spcBef>
                <a:spcPts val="17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Fragmentation is a major practical challenge in Android development, managed through SDK version targeting and compatibility libraries</a:t>
            </a:r>
            <a:endParaRPr/>
          </a:p>
        </p:txBody>
      </p:sp>
      <p:sp>
        <p:nvSpPr>
          <p:cNvPr id="295" name="Google Shape;295;p24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301" name="Google Shape;301;p25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This week moved from the network layer to the operating system layer, examining how Android and iOS are architected, how apps move through a managed lifecycle, and how sandboxing and permissions protect users.</a:t>
            </a:r>
            <a:endParaRPr/>
          </a:p>
          <a:p>
            <a:pPr indent="-342900" lvl="0" marL="342900" rtl="0" algn="l">
              <a:spcBef>
                <a:spcPts val="19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We also looked at why fragmentation is a uniquely significant challenge for Android developers, and set up the practical foundation — Android Studio and project structure — needed for hands-on development.</a:t>
            </a:r>
            <a:endParaRPr/>
          </a:p>
          <a:p>
            <a:pPr indent="-342900" lvl="0" marL="342900" rtl="0" algn="l">
              <a:spcBef>
                <a:spcPts val="1930"/>
              </a:spcBef>
              <a:spcAft>
                <a:spcPts val="0"/>
              </a:spcAft>
              <a:buClr>
                <a:srgbClr val="262626"/>
              </a:buClr>
              <a:buSzPts val="1650"/>
              <a:buChar char="•"/>
            </a:pPr>
            <a:r>
              <a:rPr lang="en-US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Next week, we build on this foundation by comparing native, hybrid, and cross-platform approaches to actually building mobile applications.</a:t>
            </a:r>
            <a:endParaRPr/>
          </a:p>
        </p:txBody>
      </p:sp>
      <p:sp>
        <p:nvSpPr>
          <p:cNvPr id="302" name="Google Shape;302;p25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/>
          <p:nvPr>
            <p:ph type="title"/>
          </p:nvPr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Discussion Questions</a:t>
            </a:r>
            <a:endParaRPr/>
          </a:p>
        </p:txBody>
      </p:sp>
      <p:sp>
        <p:nvSpPr>
          <p:cNvPr id="308" name="Google Shape;308;p26"/>
          <p:cNvSpPr txBox="1"/>
          <p:nvPr>
            <p:ph idx="1" type="body"/>
          </p:nvPr>
        </p:nvSpPr>
        <p:spPr>
          <a:xfrm>
            <a:off x="457200" y="1325880"/>
            <a:ext cx="1127729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Why might Apple's tightly controlled ecosystem lead to less fragmentation than Android's open ecosystem? Is this purely an advantage, or are there trade-offs?</a:t>
            </a:r>
            <a:endParaRPr/>
          </a:p>
          <a:p>
            <a:pPr indent="-342900" lvl="0" marL="342900" rtl="0" algn="l">
              <a:spcBef>
                <a:spcPts val="19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Consider an app that plays music. Which lifecycle callback(s) should it use to pause music when the user switches apps, and why?</a:t>
            </a:r>
            <a:endParaRPr/>
          </a:p>
          <a:p>
            <a:pPr indent="-342900" lvl="0" marL="342900" rtl="0" algn="l">
              <a:spcBef>
                <a:spcPts val="19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 weather app requests location permission the moment it opens, before explaining why. How might this affect user trust, and how would you redesign the request flow?</a:t>
            </a:r>
            <a:endParaRPr/>
          </a:p>
          <a:p>
            <a:pPr indent="-342900" lvl="0" marL="342900" rtl="0" algn="l">
              <a:spcBef>
                <a:spcPts val="192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lang="en-U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If you were choosing between developing for Android first or iOS first for a new startup, what factors from today's lecture would influence your decision?</a:t>
            </a:r>
            <a:endParaRPr/>
          </a:p>
        </p:txBody>
      </p:sp>
      <p:sp>
        <p:nvSpPr>
          <p:cNvPr id="309" name="Google Shape;309;p26"/>
          <p:cNvSpPr txBox="1"/>
          <p:nvPr>
            <p:ph idx="4294967295" type="sldNum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 txBox="1"/>
          <p:nvPr>
            <p:ph type="title"/>
          </p:nvPr>
        </p:nvSpPr>
        <p:spPr>
          <a:xfrm>
            <a:off x="0" y="2057400"/>
            <a:ext cx="1219169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 !</a:t>
            </a:r>
            <a:endParaRPr/>
          </a:p>
        </p:txBody>
      </p:sp>
      <p:sp>
        <p:nvSpPr>
          <p:cNvPr id="315" name="Google Shape;315;p27"/>
          <p:cNvSpPr txBox="1"/>
          <p:nvPr>
            <p:ph idx="1" type="body"/>
          </p:nvPr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6F5F0"/>
              </a:buClr>
              <a:buSzPts val="2000"/>
              <a:buNone/>
            </a:pPr>
            <a:r>
              <a:rPr lang="en-US" sz="2000">
                <a:solidFill>
                  <a:srgbClr val="E6F5F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  <p:sp>
        <p:nvSpPr>
          <p:cNvPr id="316" name="Google Shape;316;p27"/>
          <p:cNvSpPr txBox="1"/>
          <p:nvPr>
            <p:ph idx="2" type="body"/>
          </p:nvPr>
        </p:nvSpPr>
        <p:spPr>
          <a:xfrm>
            <a:off x="0" y="4023360"/>
            <a:ext cx="121916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FEDE3"/>
              </a:buClr>
              <a:buSzPts val="1400"/>
              <a:buNone/>
            </a:pPr>
            <a:r>
              <a:rPr lang="en-US" sz="1400">
                <a:solidFill>
                  <a:srgbClr val="CFEDE3"/>
                </a:solidFill>
                <a:latin typeface="Calibri"/>
                <a:ea typeface="Calibri"/>
                <a:cs typeface="Calibri"/>
                <a:sym typeface="Calibri"/>
              </a:rPr>
              <a:t>Email: Sammani@kln.ac.lk   |   Department of Industrial Management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2026-06-20T14:42:21Z</dcterms:created>
  <dc:creator>Department of Industrial Management</dc:creator>
</cp:coreProperties>
</file>