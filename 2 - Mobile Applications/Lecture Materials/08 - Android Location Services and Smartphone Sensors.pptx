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914400"/>
            <a:ext cx="2926080" cy="2926080"/>
          </a:xfrm>
          <a:prstGeom prst="ellipse">
            <a:avLst/>
          </a:prstGeom>
          <a:solidFill>
            <a:srgbClr val="50B5A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5120640"/>
            <a:ext cx="2377440" cy="2377440"/>
          </a:xfrm>
          <a:prstGeom prst="ellipse">
            <a:avLst/>
          </a:prstGeom>
          <a:solidFill>
            <a:srgbClr val="50B5A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54696" y="0"/>
            <a:ext cx="128016" cy="6858000"/>
          </a:xfrm>
          <a:prstGeom prst="rect">
            <a:avLst/>
          </a:prstGeom>
          <a:solidFill>
            <a:srgbClr val="F6DD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82712" y="0"/>
            <a:ext cx="18288" cy="6858000"/>
          </a:xfrm>
          <a:prstGeom prst="rect">
            <a:avLst/>
          </a:prstGeom>
          <a:solidFill>
            <a:srgbClr val="66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MODULE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Android Location Services &amp; Smartphone Sensors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APIs, Google Maps, Geofencing and the Android Sensor Framework</a:t>
            </a:r>
            <a:endParaRPr lang="en-US" sz="1900" dirty="0"/>
          </a:p>
        </p:txBody>
      </p:sp>
      <p:pic>
        <p:nvPicPr>
          <p:cNvPr id="11" name="Image 0" descr="/home/claude/work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743200"/>
            <a:ext cx="141732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2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103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Learning Outcomes</a:t>
            </a:r>
          </a:p>
        </p:txBody>
      </p:sp>
      <p:sp>
        <p:nvSpPr>
          <p:cNvPr id="104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5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2 / 32</a:t>
            </a:r>
          </a:p>
        </p:txBody>
      </p:sp>
      <p:sp>
        <p:nvSpPr>
          <p:cNvPr id="106" name="Badge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07" name="BadgeTxt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108" name="Text"/>
          <p:cNvSpPr/>
          <p:nvPr/>
        </p:nvSpPr>
        <p:spPr>
          <a:xfrm>
            <a:off x="1066800" y="1473200"/>
            <a:ext cx="1066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Explain how Android applications obtain and use device location.</a:t>
            </a:r>
          </a:p>
        </p:txBody>
      </p:sp>
      <p:sp>
        <p:nvSpPr>
          <p:cNvPr id="109" name="Badge"/>
          <p:cNvSpPr/>
          <p:nvPr/>
        </p:nvSpPr>
        <p:spPr>
          <a:xfrm>
            <a:off x="457200" y="2349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0" name="BadgeTxt"/>
          <p:cNvSpPr/>
          <p:nvPr/>
        </p:nvSpPr>
        <p:spPr>
          <a:xfrm>
            <a:off x="457200" y="23495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11" name="Text"/>
          <p:cNvSpPr/>
          <p:nvPr/>
        </p:nvSpPr>
        <p:spPr>
          <a:xfrm>
            <a:off x="1066800" y="2311400"/>
            <a:ext cx="1066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Understand Fused Location Provider, Google Maps and geofencing.</a:t>
            </a:r>
          </a:p>
        </p:txBody>
      </p:sp>
      <p:sp>
        <p:nvSpPr>
          <p:cNvPr id="112" name="Badge"/>
          <p:cNvSpPr/>
          <p:nvPr/>
        </p:nvSpPr>
        <p:spPr>
          <a:xfrm>
            <a:off x="457200" y="31877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3" name="BadgeTxt"/>
          <p:cNvSpPr/>
          <p:nvPr/>
        </p:nvSpPr>
        <p:spPr>
          <a:xfrm>
            <a:off x="457200" y="31877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14" name="Text"/>
          <p:cNvSpPr/>
          <p:nvPr/>
        </p:nvSpPr>
        <p:spPr>
          <a:xfrm>
            <a:off x="1066800" y="3149600"/>
            <a:ext cx="1066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Explain the Android Sensor Framework and its main components.</a:t>
            </a:r>
          </a:p>
        </p:txBody>
      </p:sp>
      <p:sp>
        <p:nvSpPr>
          <p:cNvPr id="115" name="Badge"/>
          <p:cNvSpPr/>
          <p:nvPr/>
        </p:nvSpPr>
        <p:spPr>
          <a:xfrm>
            <a:off x="457200" y="40259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6" name="BadgeTxt"/>
          <p:cNvSpPr/>
          <p:nvPr/>
        </p:nvSpPr>
        <p:spPr>
          <a:xfrm>
            <a:off x="457200" y="40259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17" name="Text"/>
          <p:cNvSpPr/>
          <p:nvPr/>
        </p:nvSpPr>
        <p:spPr>
          <a:xfrm>
            <a:off x="1066800" y="3987800"/>
            <a:ext cx="1066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Distinguish accelerometer, gyroscope and proximity sensor use cases.</a:t>
            </a:r>
          </a:p>
        </p:txBody>
      </p:sp>
      <p:sp>
        <p:nvSpPr>
          <p:cNvPr id="118" name="Badge"/>
          <p:cNvSpPr/>
          <p:nvPr/>
        </p:nvSpPr>
        <p:spPr>
          <a:xfrm>
            <a:off x="457200" y="48641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9" name="BadgeTxt"/>
          <p:cNvSpPr/>
          <p:nvPr/>
        </p:nvSpPr>
        <p:spPr>
          <a:xfrm>
            <a:off x="457200" y="48641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120" name="Text"/>
          <p:cNvSpPr/>
          <p:nvPr/>
        </p:nvSpPr>
        <p:spPr>
          <a:xfrm>
            <a:off x="1066800" y="4826000"/>
            <a:ext cx="1066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Apply location and sensor concepts to a simple mobile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2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123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Lecture Roadmap</a:t>
            </a:r>
          </a:p>
        </p:txBody>
      </p:sp>
      <p:sp>
        <p:nvSpPr>
          <p:cNvPr id="124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5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3 / 32</a:t>
            </a:r>
          </a:p>
        </p:txBody>
      </p:sp>
      <p:sp>
        <p:nvSpPr>
          <p:cNvPr id="126" name="Badge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27" name="BadgeTxt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128" name="Text"/>
          <p:cNvSpPr/>
          <p:nvPr/>
        </p:nvSpPr>
        <p:spPr>
          <a:xfrm>
            <a:off x="1066800" y="1473200"/>
            <a:ext cx="10668000" cy="68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Location-based services and Android location APIs</a:t>
            </a:r>
          </a:p>
        </p:txBody>
      </p:sp>
      <p:sp>
        <p:nvSpPr>
          <p:cNvPr id="129" name="Badge"/>
          <p:cNvSpPr/>
          <p:nvPr/>
        </p:nvSpPr>
        <p:spPr>
          <a:xfrm>
            <a:off x="457200" y="2294467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30" name="BadgeTxt"/>
          <p:cNvSpPr/>
          <p:nvPr/>
        </p:nvSpPr>
        <p:spPr>
          <a:xfrm>
            <a:off x="457200" y="2294467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31" name="Text"/>
          <p:cNvSpPr/>
          <p:nvPr/>
        </p:nvSpPr>
        <p:spPr>
          <a:xfrm>
            <a:off x="1066800" y="2256367"/>
            <a:ext cx="10668000" cy="68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Location permissions and current location</a:t>
            </a:r>
          </a:p>
        </p:txBody>
      </p:sp>
      <p:sp>
        <p:nvSpPr>
          <p:cNvPr id="132" name="Badge"/>
          <p:cNvSpPr/>
          <p:nvPr/>
        </p:nvSpPr>
        <p:spPr>
          <a:xfrm>
            <a:off x="457200" y="3077633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33" name="BadgeTxt"/>
          <p:cNvSpPr/>
          <p:nvPr/>
        </p:nvSpPr>
        <p:spPr>
          <a:xfrm>
            <a:off x="457200" y="3077633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34" name="Text"/>
          <p:cNvSpPr/>
          <p:nvPr/>
        </p:nvSpPr>
        <p:spPr>
          <a:xfrm>
            <a:off x="1066800" y="3039533"/>
            <a:ext cx="10668000" cy="68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Google Maps and geofencing</a:t>
            </a:r>
          </a:p>
        </p:txBody>
      </p:sp>
      <p:sp>
        <p:nvSpPr>
          <p:cNvPr id="135" name="Badge"/>
          <p:cNvSpPr/>
          <p:nvPr/>
        </p:nvSpPr>
        <p:spPr>
          <a:xfrm>
            <a:off x="457200" y="38608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36" name="BadgeTxt"/>
          <p:cNvSpPr/>
          <p:nvPr/>
        </p:nvSpPr>
        <p:spPr>
          <a:xfrm>
            <a:off x="457200" y="38608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37" name="Text"/>
          <p:cNvSpPr/>
          <p:nvPr/>
        </p:nvSpPr>
        <p:spPr>
          <a:xfrm>
            <a:off x="1066800" y="3822700"/>
            <a:ext cx="10668000" cy="68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Android Sensor Framework</a:t>
            </a:r>
          </a:p>
        </p:txBody>
      </p:sp>
      <p:sp>
        <p:nvSpPr>
          <p:cNvPr id="138" name="Badge"/>
          <p:cNvSpPr/>
          <p:nvPr/>
        </p:nvSpPr>
        <p:spPr>
          <a:xfrm>
            <a:off x="457200" y="4643967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39" name="BadgeTxt"/>
          <p:cNvSpPr/>
          <p:nvPr/>
        </p:nvSpPr>
        <p:spPr>
          <a:xfrm>
            <a:off x="457200" y="4643967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140" name="Text"/>
          <p:cNvSpPr/>
          <p:nvPr/>
        </p:nvSpPr>
        <p:spPr>
          <a:xfrm>
            <a:off x="1066800" y="4605867"/>
            <a:ext cx="10668000" cy="68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Accelerometer, gyroscope, proximity and camera</a:t>
            </a:r>
          </a:p>
        </p:txBody>
      </p:sp>
      <p:sp>
        <p:nvSpPr>
          <p:cNvPr id="141" name="Badge"/>
          <p:cNvSpPr/>
          <p:nvPr/>
        </p:nvSpPr>
        <p:spPr>
          <a:xfrm>
            <a:off x="457200" y="5427133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2" name="BadgeTxt"/>
          <p:cNvSpPr/>
          <p:nvPr/>
        </p:nvSpPr>
        <p:spPr>
          <a:xfrm>
            <a:off x="457200" y="5427133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143" name="Text"/>
          <p:cNvSpPr/>
          <p:nvPr/>
        </p:nvSpPr>
        <p:spPr>
          <a:xfrm>
            <a:off x="1066800" y="5389033"/>
            <a:ext cx="10668000" cy="681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Design considerations and integrated campus 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5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146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Location-Based Services</a:t>
            </a:r>
          </a:p>
        </p:txBody>
      </p:sp>
      <p:sp>
        <p:nvSpPr>
          <p:cNvPr id="147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8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4 / 32</a:t>
            </a:r>
          </a:p>
        </p:txBody>
      </p:sp>
      <p:sp>
        <p:nvSpPr>
          <p:cNvPr id="149" name="Text"/>
          <p:cNvSpPr/>
          <p:nvPr/>
        </p:nvSpPr>
        <p:spPr>
          <a:xfrm>
            <a:off x="457200" y="2159000"/>
            <a:ext cx="279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8FB3B0"/>
                </a:solidFill>
                <a:latin typeface="Calibri Light" pitchFamily="34" charset="0"/>
                <a:cs typeface="Calibri Light" pitchFamily="34" charset="0"/>
              </a:rPr>
              <a:t>01</a:t>
            </a:r>
          </a:p>
        </p:txBody>
      </p:sp>
      <p:sp>
        <p:nvSpPr>
          <p:cNvPr id="150" name="SecRule"/>
          <p:cNvSpPr/>
          <p:nvPr/>
        </p:nvSpPr>
        <p:spPr>
          <a:xfrm>
            <a:off x="3175000" y="1778000"/>
            <a:ext cx="0" cy="3810000"/>
          </a:xfrm>
          <a:prstGeom prst="line">
            <a:avLst/>
          </a:prstGeom>
          <a:noFill/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51" name="Dot"/>
          <p:cNvSpPr/>
          <p:nvPr/>
        </p:nvSpPr>
        <p:spPr>
          <a:xfrm>
            <a:off x="3581400" y="1905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52" name="Text"/>
          <p:cNvSpPr/>
          <p:nvPr/>
        </p:nvSpPr>
        <p:spPr>
          <a:xfrm>
            <a:off x="3937000" y="1778000"/>
            <a:ext cx="7797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Location-Based Services (LBS) use the device's geographic position to provide context-aware features.</a:t>
            </a:r>
          </a:p>
        </p:txBody>
      </p:sp>
      <p:sp>
        <p:nvSpPr>
          <p:cNvPr id="153" name="Dot"/>
          <p:cNvSpPr/>
          <p:nvPr/>
        </p:nvSpPr>
        <p:spPr>
          <a:xfrm>
            <a:off x="3581400" y="2997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54" name="Text"/>
          <p:cNvSpPr/>
          <p:nvPr/>
        </p:nvSpPr>
        <p:spPr>
          <a:xfrm>
            <a:off x="3937000" y="2870200"/>
            <a:ext cx="7797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Common examples: navigation, ride-hailing, food delivery, fitness, weather and campus services.</a:t>
            </a:r>
          </a:p>
        </p:txBody>
      </p:sp>
      <p:sp>
        <p:nvSpPr>
          <p:cNvPr id="155" name="Dot"/>
          <p:cNvSpPr/>
          <p:nvPr/>
        </p:nvSpPr>
        <p:spPr>
          <a:xfrm>
            <a:off x="3581400" y="4089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56" name="Text"/>
          <p:cNvSpPr/>
          <p:nvPr/>
        </p:nvSpPr>
        <p:spPr>
          <a:xfrm>
            <a:off x="3937000" y="3962400"/>
            <a:ext cx="7797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Core idea: the application receives location data and uses it to make a decision or display information.</a:t>
            </a:r>
          </a:p>
        </p:txBody>
      </p:sp>
      <p:sp>
        <p:nvSpPr>
          <p:cNvPr id="157" name="Dot"/>
          <p:cNvSpPr/>
          <p:nvPr/>
        </p:nvSpPr>
        <p:spPr>
          <a:xfrm>
            <a:off x="3581400" y="5181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58" name="Text"/>
          <p:cNvSpPr/>
          <p:nvPr/>
        </p:nvSpPr>
        <p:spPr>
          <a:xfrm>
            <a:off x="3937000" y="5054600"/>
            <a:ext cx="7797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Example: a campus app can show the user's position and identify whether the user is inside campus.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0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161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How Does a Phone Know Its Location?</a:t>
            </a:r>
          </a:p>
        </p:txBody>
      </p:sp>
      <p:sp>
        <p:nvSpPr>
          <p:cNvPr id="162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3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5 / 32</a:t>
            </a:r>
          </a:p>
        </p:txBody>
      </p:sp>
      <p:sp>
        <p:nvSpPr>
          <p:cNvPr id="164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65" name="Text"/>
          <p:cNvSpPr/>
          <p:nvPr/>
        </p:nvSpPr>
        <p:spPr>
          <a:xfrm>
            <a:off x="838200" y="14732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GPS/GNSS can estimate position using signals from navigation satellites.</a:t>
            </a:r>
          </a:p>
        </p:txBody>
      </p:sp>
      <p:sp>
        <p:nvSpPr>
          <p:cNvPr id="166" name="Dot"/>
          <p:cNvSpPr/>
          <p:nvPr/>
        </p:nvSpPr>
        <p:spPr>
          <a:xfrm>
            <a:off x="482600" y="2514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67" name="Text"/>
          <p:cNvSpPr/>
          <p:nvPr/>
        </p:nvSpPr>
        <p:spPr>
          <a:xfrm>
            <a:off x="838200" y="23876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Android can also use other available location sources, including network-based information.</a:t>
            </a:r>
          </a:p>
        </p:txBody>
      </p:sp>
      <p:sp>
        <p:nvSpPr>
          <p:cNvPr id="168" name="Dot"/>
          <p:cNvSpPr/>
          <p:nvPr/>
        </p:nvSpPr>
        <p:spPr>
          <a:xfrm>
            <a:off x="482600" y="3429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69" name="Text"/>
          <p:cNvSpPr/>
          <p:nvPr/>
        </p:nvSpPr>
        <p:spPr>
          <a:xfrm>
            <a:off x="838200" y="33020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Applications normally do not implement satellite calculations themselves.</a:t>
            </a:r>
          </a:p>
        </p:txBody>
      </p:sp>
      <p:sp>
        <p:nvSpPr>
          <p:cNvPr id="170" name="Dot"/>
          <p:cNvSpPr/>
          <p:nvPr/>
        </p:nvSpPr>
        <p:spPr>
          <a:xfrm>
            <a:off x="482600" y="4343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1" name="Text"/>
          <p:cNvSpPr/>
          <p:nvPr/>
        </p:nvSpPr>
        <p:spPr>
          <a:xfrm>
            <a:off x="838200" y="42164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Android location APIs provide a common interface for requesting and receiving location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17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Android Location Architecture</a:t>
            </a:r>
          </a:p>
        </p:txBody>
      </p:sp>
      <p:sp>
        <p:nvSpPr>
          <p:cNvPr id="17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6 / 32</a:t>
            </a:r>
          </a:p>
        </p:txBody>
      </p:sp>
      <p:sp>
        <p:nvSpPr>
          <p:cNvPr id="177" name="Node"/>
          <p:cNvSpPr/>
          <p:nvPr/>
        </p:nvSpPr>
        <p:spPr>
          <a:xfrm>
            <a:off x="1778000" y="1473200"/>
            <a:ext cx="6350000" cy="9652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8" name="Text"/>
          <p:cNvSpPr/>
          <p:nvPr/>
        </p:nvSpPr>
        <p:spPr>
          <a:xfrm>
            <a:off x="1981200" y="1473200"/>
            <a:ext cx="5943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Mobile Application</a:t>
            </a:r>
          </a:p>
        </p:txBody>
      </p:sp>
      <p:sp>
        <p:nvSpPr>
          <p:cNvPr id="179" name="Arrow"/>
          <p:cNvSpPr/>
          <p:nvPr/>
        </p:nvSpPr>
        <p:spPr>
          <a:xfrm>
            <a:off x="4838700" y="24917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80" name="Text"/>
          <p:cNvSpPr/>
          <p:nvPr/>
        </p:nvSpPr>
        <p:spPr>
          <a:xfrm>
            <a:off x="8331200" y="2336800"/>
            <a:ext cx="317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Requests location through Android location APIs</a:t>
            </a:r>
          </a:p>
        </p:txBody>
      </p:sp>
      <p:sp>
        <p:nvSpPr>
          <p:cNvPr id="181" name="Node"/>
          <p:cNvSpPr/>
          <p:nvPr/>
        </p:nvSpPr>
        <p:spPr>
          <a:xfrm>
            <a:off x="1778000" y="2794000"/>
            <a:ext cx="6350000" cy="965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82" name="Text"/>
          <p:cNvSpPr/>
          <p:nvPr/>
        </p:nvSpPr>
        <p:spPr>
          <a:xfrm>
            <a:off x="1981200" y="2794000"/>
            <a:ext cx="5943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Android Location Services</a:t>
            </a:r>
          </a:p>
        </p:txBody>
      </p:sp>
      <p:sp>
        <p:nvSpPr>
          <p:cNvPr id="183" name="Arrow"/>
          <p:cNvSpPr/>
          <p:nvPr/>
        </p:nvSpPr>
        <p:spPr>
          <a:xfrm>
            <a:off x="4838700" y="38125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84" name="Text"/>
          <p:cNvSpPr/>
          <p:nvPr/>
        </p:nvSpPr>
        <p:spPr>
          <a:xfrm>
            <a:off x="8331200" y="3657600"/>
            <a:ext cx="317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Uses available location sources</a:t>
            </a:r>
          </a:p>
        </p:txBody>
      </p:sp>
      <p:sp>
        <p:nvSpPr>
          <p:cNvPr id="185" name="Node"/>
          <p:cNvSpPr/>
          <p:nvPr/>
        </p:nvSpPr>
        <p:spPr>
          <a:xfrm>
            <a:off x="1778000" y="4114800"/>
            <a:ext cx="6350000" cy="9652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86" name="Text"/>
          <p:cNvSpPr/>
          <p:nvPr/>
        </p:nvSpPr>
        <p:spPr>
          <a:xfrm>
            <a:off x="1981200" y="4114800"/>
            <a:ext cx="5943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Location result: latitude · longitude · accuracy · timestamp</a:t>
            </a:r>
          </a:p>
        </p:txBody>
      </p:sp>
      <p:sp>
        <p:nvSpPr>
          <p:cNvPr id="187" name="Text"/>
          <p:cNvSpPr/>
          <p:nvPr/>
        </p:nvSpPr>
        <p:spPr>
          <a:xfrm>
            <a:off x="457200" y="5384800"/>
            <a:ext cx="1127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Key idea: the app consumes a location result rather than directly controlling GPS hardware.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9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190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Location APIs: What Developers Use</a:t>
            </a:r>
          </a:p>
        </p:txBody>
      </p:sp>
      <p:sp>
        <p:nvSpPr>
          <p:cNvPr id="191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2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7 / 32</a:t>
            </a:r>
          </a:p>
        </p:txBody>
      </p:sp>
      <p:sp>
        <p:nvSpPr>
          <p:cNvPr id="193" name="Card"/>
          <p:cNvSpPr/>
          <p:nvPr/>
        </p:nvSpPr>
        <p:spPr>
          <a:xfrm>
            <a:off x="457200" y="1473199"/>
            <a:ext cx="5549900" cy="1727197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94" name="Text"/>
          <p:cNvSpPr/>
          <p:nvPr/>
        </p:nvSpPr>
        <p:spPr>
          <a:xfrm>
            <a:off x="660400" y="1651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LocationManager</a:t>
            </a:r>
          </a:p>
        </p:txBody>
      </p:sp>
      <p:sp>
        <p:nvSpPr>
          <p:cNvPr id="195" name="Text"/>
          <p:cNvSpPr/>
          <p:nvPr/>
        </p:nvSpPr>
        <p:spPr>
          <a:xfrm>
            <a:off x="660400" y="2209800"/>
            <a:ext cx="5143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framework API for accessing location services.</a:t>
            </a:r>
          </a:p>
        </p:txBody>
      </p:sp>
      <p:sp>
        <p:nvSpPr>
          <p:cNvPr id="196" name="Card"/>
          <p:cNvSpPr/>
          <p:nvPr/>
        </p:nvSpPr>
        <p:spPr>
          <a:xfrm>
            <a:off x="6184900" y="1473200"/>
            <a:ext cx="5549900" cy="172719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97" name="Text"/>
          <p:cNvSpPr/>
          <p:nvPr/>
        </p:nvSpPr>
        <p:spPr>
          <a:xfrm>
            <a:off x="6388100" y="1651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Fused Location Provider</a:t>
            </a:r>
          </a:p>
        </p:txBody>
      </p:sp>
      <p:sp>
        <p:nvSpPr>
          <p:cNvPr id="198" name="Text"/>
          <p:cNvSpPr/>
          <p:nvPr/>
        </p:nvSpPr>
        <p:spPr>
          <a:xfrm>
            <a:off x="6388100" y="2209800"/>
            <a:ext cx="5143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Google Play services API that combines available location signals.</a:t>
            </a:r>
          </a:p>
        </p:txBody>
      </p:sp>
      <p:sp>
        <p:nvSpPr>
          <p:cNvPr id="199" name="Dot"/>
          <p:cNvSpPr/>
          <p:nvPr/>
        </p:nvSpPr>
        <p:spPr>
          <a:xfrm>
            <a:off x="482600" y="377952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0" name="Text"/>
          <p:cNvSpPr/>
          <p:nvPr/>
        </p:nvSpPr>
        <p:spPr>
          <a:xfrm>
            <a:off x="838200" y="3632205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For many modern applications, Fused Location Provider is a convenient choice.</a:t>
            </a:r>
          </a:p>
        </p:txBody>
      </p:sp>
      <p:sp>
        <p:nvSpPr>
          <p:cNvPr id="201" name="Dot"/>
          <p:cNvSpPr/>
          <p:nvPr/>
        </p:nvSpPr>
        <p:spPr>
          <a:xfrm>
            <a:off x="482600" y="466852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2" name="Text"/>
          <p:cNvSpPr/>
          <p:nvPr/>
        </p:nvSpPr>
        <p:spPr>
          <a:xfrm>
            <a:off x="838200" y="4521205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Selection depends on application requirements, platform dependencies and required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4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205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Fused Location Provider: Basic Workflow</a:t>
            </a:r>
          </a:p>
        </p:txBody>
      </p:sp>
      <p:sp>
        <p:nvSpPr>
          <p:cNvPr id="206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7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8 / 32</a:t>
            </a:r>
          </a:p>
        </p:txBody>
      </p:sp>
      <p:sp>
        <p:nvSpPr>
          <p:cNvPr id="208" name="Step"/>
          <p:cNvSpPr/>
          <p:nvPr/>
        </p:nvSpPr>
        <p:spPr>
          <a:xfrm>
            <a:off x="457200" y="2057400"/>
            <a:ext cx="2133600" cy="2921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9" name="Badge"/>
          <p:cNvSpPr/>
          <p:nvPr/>
        </p:nvSpPr>
        <p:spPr>
          <a:xfrm>
            <a:off x="1314450" y="23114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10" name="BadgeTxt"/>
          <p:cNvSpPr/>
          <p:nvPr/>
        </p:nvSpPr>
        <p:spPr>
          <a:xfrm>
            <a:off x="1314450" y="23114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211" name="Text"/>
          <p:cNvSpPr/>
          <p:nvPr/>
        </p:nvSpPr>
        <p:spPr>
          <a:xfrm>
            <a:off x="635000" y="2946400"/>
            <a:ext cx="17780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Check location permission.</a:t>
            </a:r>
          </a:p>
        </p:txBody>
      </p:sp>
      <p:sp>
        <p:nvSpPr>
          <p:cNvPr id="212" name="Step"/>
          <p:cNvSpPr/>
          <p:nvPr/>
        </p:nvSpPr>
        <p:spPr>
          <a:xfrm>
            <a:off x="2743200" y="2057400"/>
            <a:ext cx="2133600" cy="2921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13" name="Badge"/>
          <p:cNvSpPr/>
          <p:nvPr/>
        </p:nvSpPr>
        <p:spPr>
          <a:xfrm>
            <a:off x="3600450" y="23114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14" name="BadgeTxt"/>
          <p:cNvSpPr/>
          <p:nvPr/>
        </p:nvSpPr>
        <p:spPr>
          <a:xfrm>
            <a:off x="3600450" y="23114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215" name="Text"/>
          <p:cNvSpPr/>
          <p:nvPr/>
        </p:nvSpPr>
        <p:spPr>
          <a:xfrm>
            <a:off x="2921000" y="2946400"/>
            <a:ext cx="17780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Create/access the fused location client.</a:t>
            </a:r>
          </a:p>
        </p:txBody>
      </p:sp>
      <p:sp>
        <p:nvSpPr>
          <p:cNvPr id="216" name="Step"/>
          <p:cNvSpPr/>
          <p:nvPr/>
        </p:nvSpPr>
        <p:spPr>
          <a:xfrm>
            <a:off x="5029200" y="2057400"/>
            <a:ext cx="2133600" cy="2921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17" name="Badge"/>
          <p:cNvSpPr/>
          <p:nvPr/>
        </p:nvSpPr>
        <p:spPr>
          <a:xfrm>
            <a:off x="5886450" y="23114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18" name="BadgeTxt"/>
          <p:cNvSpPr/>
          <p:nvPr/>
        </p:nvSpPr>
        <p:spPr>
          <a:xfrm>
            <a:off x="5886450" y="23114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219" name="Text"/>
          <p:cNvSpPr/>
          <p:nvPr/>
        </p:nvSpPr>
        <p:spPr>
          <a:xfrm>
            <a:off x="5207000" y="2946400"/>
            <a:ext cx="17780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Request current location or location updates.</a:t>
            </a:r>
          </a:p>
        </p:txBody>
      </p:sp>
      <p:sp>
        <p:nvSpPr>
          <p:cNvPr id="220" name="Step"/>
          <p:cNvSpPr/>
          <p:nvPr/>
        </p:nvSpPr>
        <p:spPr>
          <a:xfrm>
            <a:off x="7315200" y="2057400"/>
            <a:ext cx="2133600" cy="2921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21" name="Badge"/>
          <p:cNvSpPr/>
          <p:nvPr/>
        </p:nvSpPr>
        <p:spPr>
          <a:xfrm>
            <a:off x="8172450" y="23114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22" name="BadgeTxt"/>
          <p:cNvSpPr/>
          <p:nvPr/>
        </p:nvSpPr>
        <p:spPr>
          <a:xfrm>
            <a:off x="8172450" y="23114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223" name="Text"/>
          <p:cNvSpPr/>
          <p:nvPr/>
        </p:nvSpPr>
        <p:spPr>
          <a:xfrm>
            <a:off x="7493000" y="2946400"/>
            <a:ext cx="17780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Receive a Location result.</a:t>
            </a:r>
          </a:p>
        </p:txBody>
      </p:sp>
      <p:sp>
        <p:nvSpPr>
          <p:cNvPr id="224" name="Step"/>
          <p:cNvSpPr/>
          <p:nvPr/>
        </p:nvSpPr>
        <p:spPr>
          <a:xfrm>
            <a:off x="9601200" y="2057400"/>
            <a:ext cx="2133600" cy="2921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25" name="Badge"/>
          <p:cNvSpPr/>
          <p:nvPr/>
        </p:nvSpPr>
        <p:spPr>
          <a:xfrm>
            <a:off x="10458450" y="23114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26" name="BadgeTxt"/>
          <p:cNvSpPr/>
          <p:nvPr/>
        </p:nvSpPr>
        <p:spPr>
          <a:xfrm>
            <a:off x="10458450" y="23114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227" name="Text"/>
          <p:cNvSpPr/>
          <p:nvPr/>
        </p:nvSpPr>
        <p:spPr>
          <a:xfrm>
            <a:off x="9779000" y="2946400"/>
            <a:ext cx="17780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Use latitude, longitude and accuracy in the application.</a:t>
            </a:r>
          </a:p>
        </p:txBody>
      </p:sp>
      <p:sp>
        <p:nvSpPr>
          <p:cNvPr id="228" name="Text"/>
          <p:cNvSpPr/>
          <p:nvPr/>
        </p:nvSpPr>
        <p:spPr>
          <a:xfrm>
            <a:off x="457200" y="56896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Always handle unavailable location and permission-denied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0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231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Location Data</a:t>
            </a:r>
          </a:p>
        </p:txBody>
      </p:sp>
      <p:sp>
        <p:nvSpPr>
          <p:cNvPr id="232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3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9 / 32</a:t>
            </a:r>
          </a:p>
        </p:txBody>
      </p:sp>
      <p:sp>
        <p:nvSpPr>
          <p:cNvPr id="234" name="Card"/>
          <p:cNvSpPr/>
          <p:nvPr/>
        </p:nvSpPr>
        <p:spPr>
          <a:xfrm>
            <a:off x="457200" y="1473200"/>
            <a:ext cx="5549900" cy="195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35" name="Text"/>
          <p:cNvSpPr/>
          <p:nvPr/>
        </p:nvSpPr>
        <p:spPr>
          <a:xfrm>
            <a:off x="660400" y="1651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Latitude</a:t>
            </a:r>
          </a:p>
        </p:txBody>
      </p:sp>
      <p:sp>
        <p:nvSpPr>
          <p:cNvPr id="236" name="Text"/>
          <p:cNvSpPr/>
          <p:nvPr/>
        </p:nvSpPr>
        <p:spPr>
          <a:xfrm>
            <a:off x="660400" y="2209800"/>
            <a:ext cx="5143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north/south position expressed in degrees.</a:t>
            </a:r>
          </a:p>
        </p:txBody>
      </p:sp>
      <p:sp>
        <p:nvSpPr>
          <p:cNvPr id="237" name="Card"/>
          <p:cNvSpPr/>
          <p:nvPr/>
        </p:nvSpPr>
        <p:spPr>
          <a:xfrm>
            <a:off x="6184900" y="1473200"/>
            <a:ext cx="5549900" cy="195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38" name="Text"/>
          <p:cNvSpPr/>
          <p:nvPr/>
        </p:nvSpPr>
        <p:spPr>
          <a:xfrm>
            <a:off x="6388100" y="1651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Longitude</a:t>
            </a:r>
          </a:p>
        </p:txBody>
      </p:sp>
      <p:sp>
        <p:nvSpPr>
          <p:cNvPr id="239" name="Text"/>
          <p:cNvSpPr/>
          <p:nvPr/>
        </p:nvSpPr>
        <p:spPr>
          <a:xfrm>
            <a:off x="6388100" y="2209800"/>
            <a:ext cx="5143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east/west position expressed in degrees.</a:t>
            </a:r>
          </a:p>
        </p:txBody>
      </p:sp>
      <p:sp>
        <p:nvSpPr>
          <p:cNvPr id="240" name="Card"/>
          <p:cNvSpPr/>
          <p:nvPr/>
        </p:nvSpPr>
        <p:spPr>
          <a:xfrm>
            <a:off x="457200" y="3606800"/>
            <a:ext cx="5549900" cy="195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41" name="Text"/>
          <p:cNvSpPr/>
          <p:nvPr/>
        </p:nvSpPr>
        <p:spPr>
          <a:xfrm>
            <a:off x="660400" y="37846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Accuracy</a:t>
            </a:r>
          </a:p>
        </p:txBody>
      </p:sp>
      <p:sp>
        <p:nvSpPr>
          <p:cNvPr id="242" name="Text"/>
          <p:cNvSpPr/>
          <p:nvPr/>
        </p:nvSpPr>
        <p:spPr>
          <a:xfrm>
            <a:off x="660400" y="4343400"/>
            <a:ext cx="5143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estimated uncertainty of the reported position.</a:t>
            </a:r>
          </a:p>
        </p:txBody>
      </p:sp>
      <p:sp>
        <p:nvSpPr>
          <p:cNvPr id="243" name="Card"/>
          <p:cNvSpPr/>
          <p:nvPr/>
        </p:nvSpPr>
        <p:spPr>
          <a:xfrm>
            <a:off x="6184900" y="3606800"/>
            <a:ext cx="5549900" cy="195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44" name="Text"/>
          <p:cNvSpPr/>
          <p:nvPr/>
        </p:nvSpPr>
        <p:spPr>
          <a:xfrm>
            <a:off x="6388100" y="37846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Timestamp</a:t>
            </a:r>
          </a:p>
        </p:txBody>
      </p:sp>
      <p:sp>
        <p:nvSpPr>
          <p:cNvPr id="245" name="Text"/>
          <p:cNvSpPr/>
          <p:nvPr/>
        </p:nvSpPr>
        <p:spPr>
          <a:xfrm>
            <a:off x="6388100" y="4343400"/>
            <a:ext cx="5143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when the location was obtained.</a:t>
            </a:r>
          </a:p>
        </p:txBody>
      </p:sp>
      <p:sp>
        <p:nvSpPr>
          <p:cNvPr id="246" name="Text"/>
          <p:cNvSpPr/>
          <p:nvPr/>
        </p:nvSpPr>
        <p:spPr>
          <a:xfrm>
            <a:off x="457200" y="56896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These values support maps, distance calculations, geofencing and other location-aware logic.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48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249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Location Permissions</a:t>
            </a:r>
          </a:p>
        </p:txBody>
      </p:sp>
      <p:sp>
        <p:nvSpPr>
          <p:cNvPr id="250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51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10 / 32</a:t>
            </a:r>
          </a:p>
        </p:txBody>
      </p:sp>
      <p:sp>
        <p:nvSpPr>
          <p:cNvPr id="252" name="Text"/>
          <p:cNvSpPr/>
          <p:nvPr/>
        </p:nvSpPr>
        <p:spPr>
          <a:xfrm>
            <a:off x="457200" y="1473200"/>
            <a:ext cx="11226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Android protects location because it can reveal sensitive information about user movements.</a:t>
            </a:r>
          </a:p>
        </p:txBody>
      </p:sp>
      <p:sp>
        <p:nvSpPr>
          <p:cNvPr id="253" name="Card"/>
          <p:cNvSpPr/>
          <p:nvPr/>
        </p:nvSpPr>
        <p:spPr>
          <a:xfrm>
            <a:off x="457200" y="2235200"/>
            <a:ext cx="5549900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54" name="Text"/>
          <p:cNvSpPr/>
          <p:nvPr/>
        </p:nvSpPr>
        <p:spPr>
          <a:xfrm>
            <a:off x="660400" y="2413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ACCESS_COARSE_LOCATION</a:t>
            </a:r>
          </a:p>
        </p:txBody>
      </p:sp>
      <p:sp>
        <p:nvSpPr>
          <p:cNvPr id="255" name="Text"/>
          <p:cNvSpPr/>
          <p:nvPr/>
        </p:nvSpPr>
        <p:spPr>
          <a:xfrm>
            <a:off x="660400" y="2971800"/>
            <a:ext cx="51435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approximate location.</a:t>
            </a:r>
          </a:p>
        </p:txBody>
      </p:sp>
      <p:sp>
        <p:nvSpPr>
          <p:cNvPr id="256" name="Card"/>
          <p:cNvSpPr/>
          <p:nvPr/>
        </p:nvSpPr>
        <p:spPr>
          <a:xfrm>
            <a:off x="6184900" y="2235200"/>
            <a:ext cx="5549900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57" name="Text"/>
          <p:cNvSpPr/>
          <p:nvPr/>
        </p:nvSpPr>
        <p:spPr>
          <a:xfrm>
            <a:off x="6388100" y="2413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ACCESS_FINE_LOCATION</a:t>
            </a:r>
          </a:p>
        </p:txBody>
      </p:sp>
      <p:sp>
        <p:nvSpPr>
          <p:cNvPr id="258" name="Text"/>
          <p:cNvSpPr/>
          <p:nvPr/>
        </p:nvSpPr>
        <p:spPr>
          <a:xfrm>
            <a:off x="6388100" y="2971800"/>
            <a:ext cx="51435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precise location when available and permitted.</a:t>
            </a:r>
          </a:p>
        </p:txBody>
      </p:sp>
      <p:sp>
        <p:nvSpPr>
          <p:cNvPr id="259" name="Text"/>
          <p:cNvSpPr/>
          <p:nvPr/>
        </p:nvSpPr>
        <p:spPr>
          <a:xfrm>
            <a:off x="457200" y="56896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Runtime permission must be requested when required by the app. Request only the level of access needed for the feature.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61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262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Permission Workflow</a:t>
            </a:r>
          </a:p>
        </p:txBody>
      </p:sp>
      <p:sp>
        <p:nvSpPr>
          <p:cNvPr id="263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64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11 / 32</a:t>
            </a:r>
          </a:p>
        </p:txBody>
      </p:sp>
      <p:sp>
        <p:nvSpPr>
          <p:cNvPr id="265" name="Node"/>
          <p:cNvSpPr/>
          <p:nvPr/>
        </p:nvSpPr>
        <p:spPr>
          <a:xfrm>
            <a:off x="2286000" y="1473200"/>
            <a:ext cx="7620000" cy="486833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66" name="Text"/>
          <p:cNvSpPr/>
          <p:nvPr/>
        </p:nvSpPr>
        <p:spPr>
          <a:xfrm>
            <a:off x="2489200" y="1473200"/>
            <a:ext cx="72136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Application needs location</a:t>
            </a:r>
          </a:p>
        </p:txBody>
      </p:sp>
      <p:sp>
        <p:nvSpPr>
          <p:cNvPr id="267" name="Arrow"/>
          <p:cNvSpPr/>
          <p:nvPr/>
        </p:nvSpPr>
        <p:spPr>
          <a:xfrm>
            <a:off x="5981700" y="2013373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68" name="Node"/>
          <p:cNvSpPr/>
          <p:nvPr/>
        </p:nvSpPr>
        <p:spPr>
          <a:xfrm>
            <a:off x="2286000" y="2315633"/>
            <a:ext cx="7620000" cy="48683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69" name="Text"/>
          <p:cNvSpPr/>
          <p:nvPr/>
        </p:nvSpPr>
        <p:spPr>
          <a:xfrm>
            <a:off x="2489200" y="2315633"/>
            <a:ext cx="72136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Check whether permission is already granted</a:t>
            </a:r>
          </a:p>
        </p:txBody>
      </p:sp>
      <p:sp>
        <p:nvSpPr>
          <p:cNvPr id="270" name="Arrow"/>
          <p:cNvSpPr/>
          <p:nvPr/>
        </p:nvSpPr>
        <p:spPr>
          <a:xfrm>
            <a:off x="5981700" y="2855807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71" name="Node"/>
          <p:cNvSpPr/>
          <p:nvPr/>
        </p:nvSpPr>
        <p:spPr>
          <a:xfrm>
            <a:off x="2286000" y="3158067"/>
            <a:ext cx="7620000" cy="486833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72" name="Text"/>
          <p:cNvSpPr/>
          <p:nvPr/>
        </p:nvSpPr>
        <p:spPr>
          <a:xfrm>
            <a:off x="2489200" y="3158067"/>
            <a:ext cx="72136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If not, request permission</a:t>
            </a:r>
          </a:p>
        </p:txBody>
      </p:sp>
      <p:sp>
        <p:nvSpPr>
          <p:cNvPr id="273" name="Arrow"/>
          <p:cNvSpPr/>
          <p:nvPr/>
        </p:nvSpPr>
        <p:spPr>
          <a:xfrm>
            <a:off x="5981700" y="36982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74" name="Node"/>
          <p:cNvSpPr/>
          <p:nvPr/>
        </p:nvSpPr>
        <p:spPr>
          <a:xfrm>
            <a:off x="2286000" y="4000500"/>
            <a:ext cx="7620000" cy="48683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75" name="Text"/>
          <p:cNvSpPr/>
          <p:nvPr/>
        </p:nvSpPr>
        <p:spPr>
          <a:xfrm>
            <a:off x="2489200" y="4000500"/>
            <a:ext cx="72136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User grants or denies</a:t>
            </a:r>
          </a:p>
        </p:txBody>
      </p:sp>
      <p:sp>
        <p:nvSpPr>
          <p:cNvPr id="276" name="Arrow"/>
          <p:cNvSpPr/>
          <p:nvPr/>
        </p:nvSpPr>
        <p:spPr>
          <a:xfrm>
            <a:off x="5981700" y="4540673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77" name="Node"/>
          <p:cNvSpPr/>
          <p:nvPr/>
        </p:nvSpPr>
        <p:spPr>
          <a:xfrm>
            <a:off x="2286000" y="4842933"/>
            <a:ext cx="7620000" cy="486833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78" name="Text"/>
          <p:cNvSpPr/>
          <p:nvPr/>
        </p:nvSpPr>
        <p:spPr>
          <a:xfrm>
            <a:off x="2489200" y="4842933"/>
            <a:ext cx="72136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Granted: use the location API</a:t>
            </a:r>
          </a:p>
        </p:txBody>
      </p:sp>
      <p:sp>
        <p:nvSpPr>
          <p:cNvPr id="279" name="Arrow"/>
          <p:cNvSpPr/>
          <p:nvPr/>
        </p:nvSpPr>
        <p:spPr>
          <a:xfrm>
            <a:off x="5981700" y="5383107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80" name="Node"/>
          <p:cNvSpPr/>
          <p:nvPr/>
        </p:nvSpPr>
        <p:spPr>
          <a:xfrm>
            <a:off x="2286000" y="5685367"/>
            <a:ext cx="7620000" cy="48683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81" name="Text"/>
          <p:cNvSpPr/>
          <p:nvPr/>
        </p:nvSpPr>
        <p:spPr>
          <a:xfrm>
            <a:off x="2489200" y="5685367"/>
            <a:ext cx="72136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Denied: provide an appropriate alternative or explain the limitation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8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28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Kotlin: Requesting Location Permission</a:t>
            </a:r>
          </a:p>
        </p:txBody>
      </p:sp>
      <p:sp>
        <p:nvSpPr>
          <p:cNvPr id="28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8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12 / 32</a:t>
            </a:r>
          </a:p>
        </p:txBody>
      </p:sp>
      <p:sp>
        <p:nvSpPr>
          <p:cNvPr id="287" name="Text"/>
          <p:cNvSpPr/>
          <p:nvPr/>
        </p:nvSpPr>
        <p:spPr>
          <a:xfrm>
            <a:off x="457200" y="1473200"/>
            <a:ext cx="1122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Runtime permission must be checked before any protected location call.</a:t>
            </a:r>
          </a:p>
        </p:txBody>
      </p:sp>
      <p:sp>
        <p:nvSpPr>
          <p:cNvPr id="288" name="CodePanel"/>
          <p:cNvSpPr/>
          <p:nvPr/>
        </p:nvSpPr>
        <p:spPr>
          <a:xfrm>
            <a:off x="457200" y="2108200"/>
            <a:ext cx="11277600" cy="368300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89" name="Text"/>
          <p:cNvSpPr/>
          <p:nvPr/>
        </p:nvSpPr>
        <p:spPr>
          <a:xfrm>
            <a:off x="736600" y="2362200"/>
            <a:ext cx="1071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if (ActivityCompat.checkSelfPermission(this,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Manifest.permission.ACCESS_FINE_LOCATION) !=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PackageManager.PERMISSION_GRANTED)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ActivityCompat.requestPermissions(this,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arrayOf(Manifest.permission.ACCESS_FINE_LOCATION),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LOCATION_REQUEST)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return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6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</p:txBody>
      </p:sp>
      <p:sp>
        <p:nvSpPr>
          <p:cNvPr id="290" name="Text"/>
          <p:cNvSpPr/>
          <p:nvPr/>
        </p:nvSpPr>
        <p:spPr>
          <a:xfrm>
            <a:off x="457200" y="58928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Important: check permission before protected location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92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293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Getting the Current Location</a:t>
            </a:r>
          </a:p>
        </p:txBody>
      </p:sp>
      <p:sp>
        <p:nvSpPr>
          <p:cNvPr id="294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95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13 / 32</a:t>
            </a:r>
          </a:p>
        </p:txBody>
      </p:sp>
      <p:sp>
        <p:nvSpPr>
          <p:cNvPr id="296" name="Text"/>
          <p:cNvSpPr/>
          <p:nvPr/>
        </p:nvSpPr>
        <p:spPr>
          <a:xfrm>
            <a:off x="457200" y="1473200"/>
            <a:ext cx="11226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FusedLocationProviderClient provides access to the fused location service.</a:t>
            </a:r>
          </a:p>
        </p:txBody>
      </p:sp>
      <p:sp>
        <p:nvSpPr>
          <p:cNvPr id="297" name="Step"/>
          <p:cNvSpPr/>
          <p:nvPr/>
        </p:nvSpPr>
        <p:spPr>
          <a:xfrm>
            <a:off x="457200" y="2400300"/>
            <a:ext cx="2133600" cy="2921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98" name="Badge"/>
          <p:cNvSpPr/>
          <p:nvPr/>
        </p:nvSpPr>
        <p:spPr>
          <a:xfrm>
            <a:off x="1314450" y="2654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99" name="BadgeTxt"/>
          <p:cNvSpPr/>
          <p:nvPr/>
        </p:nvSpPr>
        <p:spPr>
          <a:xfrm>
            <a:off x="1314450" y="26543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300" name="Text"/>
          <p:cNvSpPr/>
          <p:nvPr/>
        </p:nvSpPr>
        <p:spPr>
          <a:xfrm>
            <a:off x="635000" y="3289300"/>
            <a:ext cx="17780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obtain the client</a:t>
            </a:r>
          </a:p>
        </p:txBody>
      </p:sp>
      <p:sp>
        <p:nvSpPr>
          <p:cNvPr id="301" name="Step"/>
          <p:cNvSpPr/>
          <p:nvPr/>
        </p:nvSpPr>
        <p:spPr>
          <a:xfrm>
            <a:off x="2743200" y="2400300"/>
            <a:ext cx="2133600" cy="2921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02" name="Badge"/>
          <p:cNvSpPr/>
          <p:nvPr/>
        </p:nvSpPr>
        <p:spPr>
          <a:xfrm>
            <a:off x="3600450" y="2654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03" name="BadgeTxt"/>
          <p:cNvSpPr/>
          <p:nvPr/>
        </p:nvSpPr>
        <p:spPr>
          <a:xfrm>
            <a:off x="3600450" y="26543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304" name="Text"/>
          <p:cNvSpPr/>
          <p:nvPr/>
        </p:nvSpPr>
        <p:spPr>
          <a:xfrm>
            <a:off x="2921000" y="3289300"/>
            <a:ext cx="17780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check permission</a:t>
            </a:r>
          </a:p>
        </p:txBody>
      </p:sp>
      <p:sp>
        <p:nvSpPr>
          <p:cNvPr id="305" name="Step"/>
          <p:cNvSpPr/>
          <p:nvPr/>
        </p:nvSpPr>
        <p:spPr>
          <a:xfrm>
            <a:off x="5029200" y="2400300"/>
            <a:ext cx="2133600" cy="2921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06" name="Badge"/>
          <p:cNvSpPr/>
          <p:nvPr/>
        </p:nvSpPr>
        <p:spPr>
          <a:xfrm>
            <a:off x="5886450" y="2654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07" name="BadgeTxt"/>
          <p:cNvSpPr/>
          <p:nvPr/>
        </p:nvSpPr>
        <p:spPr>
          <a:xfrm>
            <a:off x="5886450" y="26543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308" name="Text"/>
          <p:cNvSpPr/>
          <p:nvPr/>
        </p:nvSpPr>
        <p:spPr>
          <a:xfrm>
            <a:off x="5207000" y="3289300"/>
            <a:ext cx="17780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request a current location</a:t>
            </a:r>
          </a:p>
        </p:txBody>
      </p:sp>
      <p:sp>
        <p:nvSpPr>
          <p:cNvPr id="309" name="Step"/>
          <p:cNvSpPr/>
          <p:nvPr/>
        </p:nvSpPr>
        <p:spPr>
          <a:xfrm>
            <a:off x="7315200" y="2400300"/>
            <a:ext cx="2133600" cy="2921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10" name="Badge"/>
          <p:cNvSpPr/>
          <p:nvPr/>
        </p:nvSpPr>
        <p:spPr>
          <a:xfrm>
            <a:off x="8172450" y="2654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11" name="BadgeTxt"/>
          <p:cNvSpPr/>
          <p:nvPr/>
        </p:nvSpPr>
        <p:spPr>
          <a:xfrm>
            <a:off x="8172450" y="26543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312" name="Text"/>
          <p:cNvSpPr/>
          <p:nvPr/>
        </p:nvSpPr>
        <p:spPr>
          <a:xfrm>
            <a:off x="7493000" y="3289300"/>
            <a:ext cx="17780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read latitude / longitude</a:t>
            </a:r>
          </a:p>
        </p:txBody>
      </p:sp>
      <p:sp>
        <p:nvSpPr>
          <p:cNvPr id="313" name="Step"/>
          <p:cNvSpPr/>
          <p:nvPr/>
        </p:nvSpPr>
        <p:spPr>
          <a:xfrm>
            <a:off x="9601200" y="2400300"/>
            <a:ext cx="2133600" cy="2921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14" name="Badge"/>
          <p:cNvSpPr/>
          <p:nvPr/>
        </p:nvSpPr>
        <p:spPr>
          <a:xfrm>
            <a:off x="10458450" y="2654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15" name="BadgeTxt"/>
          <p:cNvSpPr/>
          <p:nvPr/>
        </p:nvSpPr>
        <p:spPr>
          <a:xfrm>
            <a:off x="10458450" y="26543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316" name="Text"/>
          <p:cNvSpPr/>
          <p:nvPr/>
        </p:nvSpPr>
        <p:spPr>
          <a:xfrm>
            <a:off x="9779000" y="3289300"/>
            <a:ext cx="17780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update the UI or application state</a:t>
            </a:r>
          </a:p>
        </p:txBody>
      </p:sp>
      <p:sp>
        <p:nvSpPr>
          <p:cNvPr id="317" name="Text"/>
          <p:cNvSpPr/>
          <p:nvPr/>
        </p:nvSpPr>
        <p:spPr>
          <a:xfrm>
            <a:off x="457200" y="56896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Keep implementation focused on the API flow rather than project boilerplate.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19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320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Google Maps in Android</a:t>
            </a:r>
          </a:p>
        </p:txBody>
      </p:sp>
      <p:sp>
        <p:nvSpPr>
          <p:cNvPr id="321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22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14 / 32</a:t>
            </a:r>
          </a:p>
        </p:txBody>
      </p:sp>
      <p:sp>
        <p:nvSpPr>
          <p:cNvPr id="323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24" name="Text"/>
          <p:cNvSpPr/>
          <p:nvPr/>
        </p:nvSpPr>
        <p:spPr>
          <a:xfrm>
            <a:off x="838200" y="14732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Google Maps SDK for Android allows an app to display and interact with a map.</a:t>
            </a:r>
          </a:p>
        </p:txBody>
      </p:sp>
      <p:sp>
        <p:nvSpPr>
          <p:cNvPr id="325" name="Dot"/>
          <p:cNvSpPr/>
          <p:nvPr/>
        </p:nvSpPr>
        <p:spPr>
          <a:xfrm>
            <a:off x="482600" y="2514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26" name="Text"/>
          <p:cNvSpPr/>
          <p:nvPr/>
        </p:nvSpPr>
        <p:spPr>
          <a:xfrm>
            <a:off x="838200" y="23876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Essential concepts: map, camera position, zoom, markers and user location.</a:t>
            </a:r>
          </a:p>
        </p:txBody>
      </p:sp>
      <p:sp>
        <p:nvSpPr>
          <p:cNvPr id="327" name="Dot"/>
          <p:cNvSpPr/>
          <p:nvPr/>
        </p:nvSpPr>
        <p:spPr>
          <a:xfrm>
            <a:off x="482600" y="3429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28" name="Text"/>
          <p:cNvSpPr/>
          <p:nvPr/>
        </p:nvSpPr>
        <p:spPr>
          <a:xfrm>
            <a:off x="838200" y="33020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Location APIs provide the location; Maps provides the visual map experience.</a:t>
            </a:r>
          </a:p>
        </p:txBody>
      </p:sp>
      <p:sp>
        <p:nvSpPr>
          <p:cNvPr id="329" name="Dot"/>
          <p:cNvSpPr/>
          <p:nvPr/>
        </p:nvSpPr>
        <p:spPr>
          <a:xfrm>
            <a:off x="482600" y="4343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30" name="Text"/>
          <p:cNvSpPr/>
          <p:nvPr/>
        </p:nvSpPr>
        <p:spPr>
          <a:xfrm>
            <a:off x="838200" y="42164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Use Maps when geographic information needs to be presented visually.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32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333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Location API vs. Google Maps</a:t>
            </a:r>
          </a:p>
        </p:txBody>
      </p:sp>
      <p:sp>
        <p:nvSpPr>
          <p:cNvPr id="334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35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15 / 32</a:t>
            </a:r>
          </a:p>
        </p:txBody>
      </p:sp>
      <p:sp>
        <p:nvSpPr>
          <p:cNvPr id="336" name="Card"/>
          <p:cNvSpPr/>
          <p:nvPr/>
        </p:nvSpPr>
        <p:spPr>
          <a:xfrm>
            <a:off x="457200" y="1473200"/>
            <a:ext cx="5549900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37" name="Text"/>
          <p:cNvSpPr/>
          <p:nvPr/>
        </p:nvSpPr>
        <p:spPr>
          <a:xfrm>
            <a:off x="660400" y="1651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LOCATION API</a:t>
            </a:r>
          </a:p>
        </p:txBody>
      </p:sp>
      <p:sp>
        <p:nvSpPr>
          <p:cNvPr id="338" name="Text"/>
          <p:cNvSpPr/>
          <p:nvPr/>
        </p:nvSpPr>
        <p:spPr>
          <a:xfrm>
            <a:off x="660400" y="2209800"/>
            <a:ext cx="51435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provides latitude, longitude, accuracy and other location information. Used for decisions, tracking, distance and location-aware logic.</a:t>
            </a:r>
          </a:p>
        </p:txBody>
      </p:sp>
      <p:sp>
        <p:nvSpPr>
          <p:cNvPr id="339" name="Card"/>
          <p:cNvSpPr/>
          <p:nvPr/>
        </p:nvSpPr>
        <p:spPr>
          <a:xfrm>
            <a:off x="6184900" y="1473200"/>
            <a:ext cx="5549900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40" name="Text"/>
          <p:cNvSpPr/>
          <p:nvPr/>
        </p:nvSpPr>
        <p:spPr>
          <a:xfrm>
            <a:off x="6388100" y="1651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GOOGLE MAPS SDK</a:t>
            </a:r>
          </a:p>
        </p:txBody>
      </p:sp>
      <p:sp>
        <p:nvSpPr>
          <p:cNvPr id="341" name="Text"/>
          <p:cNvSpPr/>
          <p:nvPr/>
        </p:nvSpPr>
        <p:spPr>
          <a:xfrm>
            <a:off x="6388100" y="2209800"/>
            <a:ext cx="51435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displays a map and supports markers, camera movement and visual interaction.</a:t>
            </a:r>
          </a:p>
        </p:txBody>
      </p:sp>
      <p:sp>
        <p:nvSpPr>
          <p:cNvPr id="342" name="Text"/>
          <p:cNvSpPr/>
          <p:nvPr/>
        </p:nvSpPr>
        <p:spPr>
          <a:xfrm>
            <a:off x="457200" y="56896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 application can use either independently or combine both.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44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345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Example: University Campus Map</a:t>
            </a:r>
          </a:p>
        </p:txBody>
      </p:sp>
      <p:sp>
        <p:nvSpPr>
          <p:cNvPr id="346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47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16 / 32</a:t>
            </a:r>
          </a:p>
        </p:txBody>
      </p:sp>
      <p:sp>
        <p:nvSpPr>
          <p:cNvPr id="348" name="Node"/>
          <p:cNvSpPr/>
          <p:nvPr/>
        </p:nvSpPr>
        <p:spPr>
          <a:xfrm>
            <a:off x="2286000" y="1473200"/>
            <a:ext cx="7620000" cy="486833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49" name="Text"/>
          <p:cNvSpPr/>
          <p:nvPr/>
        </p:nvSpPr>
        <p:spPr>
          <a:xfrm>
            <a:off x="2489200" y="1473200"/>
            <a:ext cx="72136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User opens the app</a:t>
            </a:r>
          </a:p>
        </p:txBody>
      </p:sp>
      <p:sp>
        <p:nvSpPr>
          <p:cNvPr id="350" name="Arrow"/>
          <p:cNvSpPr/>
          <p:nvPr/>
        </p:nvSpPr>
        <p:spPr>
          <a:xfrm>
            <a:off x="5981700" y="2013373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51" name="Node"/>
          <p:cNvSpPr/>
          <p:nvPr/>
        </p:nvSpPr>
        <p:spPr>
          <a:xfrm>
            <a:off x="2286000" y="2315633"/>
            <a:ext cx="7620000" cy="48683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52" name="Text"/>
          <p:cNvSpPr/>
          <p:nvPr/>
        </p:nvSpPr>
        <p:spPr>
          <a:xfrm>
            <a:off x="2489200" y="2315633"/>
            <a:ext cx="72136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 requests location permission</a:t>
            </a:r>
          </a:p>
        </p:txBody>
      </p:sp>
      <p:sp>
        <p:nvSpPr>
          <p:cNvPr id="353" name="Arrow"/>
          <p:cNvSpPr/>
          <p:nvPr/>
        </p:nvSpPr>
        <p:spPr>
          <a:xfrm>
            <a:off x="5981700" y="2855807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54" name="Node"/>
          <p:cNvSpPr/>
          <p:nvPr/>
        </p:nvSpPr>
        <p:spPr>
          <a:xfrm>
            <a:off x="2286000" y="3158067"/>
            <a:ext cx="7620000" cy="486833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55" name="Text"/>
          <p:cNvSpPr/>
          <p:nvPr/>
        </p:nvSpPr>
        <p:spPr>
          <a:xfrm>
            <a:off x="2489200" y="3158067"/>
            <a:ext cx="72136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Fused Location Provider obtains the current position</a:t>
            </a:r>
          </a:p>
        </p:txBody>
      </p:sp>
      <p:sp>
        <p:nvSpPr>
          <p:cNvPr id="356" name="Arrow"/>
          <p:cNvSpPr/>
          <p:nvPr/>
        </p:nvSpPr>
        <p:spPr>
          <a:xfrm>
            <a:off x="5981700" y="36982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57" name="Node"/>
          <p:cNvSpPr/>
          <p:nvPr/>
        </p:nvSpPr>
        <p:spPr>
          <a:xfrm>
            <a:off x="2286000" y="4000500"/>
            <a:ext cx="7620000" cy="48683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58" name="Text"/>
          <p:cNvSpPr/>
          <p:nvPr/>
        </p:nvSpPr>
        <p:spPr>
          <a:xfrm>
            <a:off x="2489200" y="4000500"/>
            <a:ext cx="72136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Google Maps displays the position</a:t>
            </a:r>
          </a:p>
        </p:txBody>
      </p:sp>
      <p:sp>
        <p:nvSpPr>
          <p:cNvPr id="359" name="Arrow"/>
          <p:cNvSpPr/>
          <p:nvPr/>
        </p:nvSpPr>
        <p:spPr>
          <a:xfrm>
            <a:off x="5981700" y="4540673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60" name="Node"/>
          <p:cNvSpPr/>
          <p:nvPr/>
        </p:nvSpPr>
        <p:spPr>
          <a:xfrm>
            <a:off x="2286000" y="4842933"/>
            <a:ext cx="7620000" cy="486833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61" name="Text"/>
          <p:cNvSpPr/>
          <p:nvPr/>
        </p:nvSpPr>
        <p:spPr>
          <a:xfrm>
            <a:off x="2489200" y="4842933"/>
            <a:ext cx="72136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Campus markers show important buildings</a:t>
            </a:r>
          </a:p>
        </p:txBody>
      </p:sp>
      <p:sp>
        <p:nvSpPr>
          <p:cNvPr id="362" name="Arrow"/>
          <p:cNvSpPr/>
          <p:nvPr/>
        </p:nvSpPr>
        <p:spPr>
          <a:xfrm>
            <a:off x="5981700" y="5383107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63" name="Node"/>
          <p:cNvSpPr/>
          <p:nvPr/>
        </p:nvSpPr>
        <p:spPr>
          <a:xfrm>
            <a:off x="2286000" y="5685367"/>
            <a:ext cx="7620000" cy="48683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64" name="Text"/>
          <p:cNvSpPr/>
          <p:nvPr/>
        </p:nvSpPr>
        <p:spPr>
          <a:xfrm>
            <a:off x="2489200" y="5685367"/>
            <a:ext cx="72136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The application can use the location for further campus features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66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367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Geofencing: Location as an Event</a:t>
            </a:r>
          </a:p>
        </p:txBody>
      </p:sp>
      <p:sp>
        <p:nvSpPr>
          <p:cNvPr id="368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69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17 / 32</a:t>
            </a:r>
          </a:p>
        </p:txBody>
      </p:sp>
      <p:sp>
        <p:nvSpPr>
          <p:cNvPr id="370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71" name="Text"/>
          <p:cNvSpPr/>
          <p:nvPr/>
        </p:nvSpPr>
        <p:spPr>
          <a:xfrm>
            <a:off x="838200" y="14732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 geofence defines a virtual geographic boundary around a real-world area.</a:t>
            </a:r>
          </a:p>
        </p:txBody>
      </p:sp>
      <p:sp>
        <p:nvSpPr>
          <p:cNvPr id="372" name="Dot"/>
          <p:cNvSpPr/>
          <p:nvPr/>
        </p:nvSpPr>
        <p:spPr>
          <a:xfrm>
            <a:off x="482600" y="2514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73" name="Text"/>
          <p:cNvSpPr/>
          <p:nvPr/>
        </p:nvSpPr>
        <p:spPr>
          <a:xfrm>
            <a:off x="838200" y="23876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Instead of continuously asking where the user is, the app can react when the user enters or leaves an area.</a:t>
            </a:r>
          </a:p>
        </p:txBody>
      </p:sp>
      <p:sp>
        <p:nvSpPr>
          <p:cNvPr id="374" name="Dot"/>
          <p:cNvSpPr/>
          <p:nvPr/>
        </p:nvSpPr>
        <p:spPr>
          <a:xfrm>
            <a:off x="482600" y="3429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75" name="Text"/>
          <p:cNvSpPr/>
          <p:nvPr/>
        </p:nvSpPr>
        <p:spPr>
          <a:xfrm>
            <a:off x="838200" y="33020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Typical transitions: ENTER, EXIT and DWELL.</a:t>
            </a:r>
          </a:p>
        </p:txBody>
      </p:sp>
      <p:sp>
        <p:nvSpPr>
          <p:cNvPr id="376" name="Dot"/>
          <p:cNvSpPr/>
          <p:nvPr/>
        </p:nvSpPr>
        <p:spPr>
          <a:xfrm>
            <a:off x="482600" y="4343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77" name="Text"/>
          <p:cNvSpPr/>
          <p:nvPr/>
        </p:nvSpPr>
        <p:spPr>
          <a:xfrm>
            <a:off x="838200" y="42164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Examples: campus attendance, store notifications, delivery zones and smart-home automation.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79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380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How Geofencing Works</a:t>
            </a:r>
          </a:p>
        </p:txBody>
      </p:sp>
      <p:sp>
        <p:nvSpPr>
          <p:cNvPr id="381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82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18 / 32</a:t>
            </a:r>
          </a:p>
        </p:txBody>
      </p:sp>
      <p:sp>
        <p:nvSpPr>
          <p:cNvPr id="383" name="Node"/>
          <p:cNvSpPr/>
          <p:nvPr/>
        </p:nvSpPr>
        <p:spPr>
          <a:xfrm>
            <a:off x="2286000" y="1473200"/>
            <a:ext cx="7620000" cy="65532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84" name="Text"/>
          <p:cNvSpPr/>
          <p:nvPr/>
        </p:nvSpPr>
        <p:spPr>
          <a:xfrm>
            <a:off x="2489200" y="1473200"/>
            <a:ext cx="7213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Define a geographic region</a:t>
            </a:r>
          </a:p>
        </p:txBody>
      </p:sp>
      <p:sp>
        <p:nvSpPr>
          <p:cNvPr id="385" name="Arrow"/>
          <p:cNvSpPr/>
          <p:nvPr/>
        </p:nvSpPr>
        <p:spPr>
          <a:xfrm>
            <a:off x="5981700" y="218186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86" name="Node"/>
          <p:cNvSpPr/>
          <p:nvPr/>
        </p:nvSpPr>
        <p:spPr>
          <a:xfrm>
            <a:off x="2286000" y="2484120"/>
            <a:ext cx="7620000" cy="6553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87" name="Text"/>
          <p:cNvSpPr/>
          <p:nvPr/>
        </p:nvSpPr>
        <p:spPr>
          <a:xfrm>
            <a:off x="2489200" y="2484120"/>
            <a:ext cx="7213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Register the geofence</a:t>
            </a:r>
          </a:p>
        </p:txBody>
      </p:sp>
      <p:sp>
        <p:nvSpPr>
          <p:cNvPr id="388" name="Arrow"/>
          <p:cNvSpPr/>
          <p:nvPr/>
        </p:nvSpPr>
        <p:spPr>
          <a:xfrm>
            <a:off x="5981700" y="319278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89" name="Node"/>
          <p:cNvSpPr/>
          <p:nvPr/>
        </p:nvSpPr>
        <p:spPr>
          <a:xfrm>
            <a:off x="2286000" y="3495040"/>
            <a:ext cx="7620000" cy="65532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90" name="Text"/>
          <p:cNvSpPr/>
          <p:nvPr/>
        </p:nvSpPr>
        <p:spPr>
          <a:xfrm>
            <a:off x="2489200" y="3495040"/>
            <a:ext cx="7213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Location services monitor the relevant boundary</a:t>
            </a:r>
          </a:p>
        </p:txBody>
      </p:sp>
      <p:sp>
        <p:nvSpPr>
          <p:cNvPr id="391" name="Arrow"/>
          <p:cNvSpPr/>
          <p:nvPr/>
        </p:nvSpPr>
        <p:spPr>
          <a:xfrm>
            <a:off x="5981700" y="420370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92" name="Node"/>
          <p:cNvSpPr/>
          <p:nvPr/>
        </p:nvSpPr>
        <p:spPr>
          <a:xfrm>
            <a:off x="2286000" y="4505960"/>
            <a:ext cx="7620000" cy="6553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93" name="Text"/>
          <p:cNvSpPr/>
          <p:nvPr/>
        </p:nvSpPr>
        <p:spPr>
          <a:xfrm>
            <a:off x="2489200" y="4505960"/>
            <a:ext cx="7213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Transition: ENTER / EXIT / DWELL</a:t>
            </a:r>
          </a:p>
        </p:txBody>
      </p:sp>
      <p:sp>
        <p:nvSpPr>
          <p:cNvPr id="394" name="Arrow"/>
          <p:cNvSpPr/>
          <p:nvPr/>
        </p:nvSpPr>
        <p:spPr>
          <a:xfrm>
            <a:off x="5981700" y="521462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95" name="Node"/>
          <p:cNvSpPr/>
          <p:nvPr/>
        </p:nvSpPr>
        <p:spPr>
          <a:xfrm>
            <a:off x="2286000" y="5516880"/>
            <a:ext cx="7620000" cy="65532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396" name="Text"/>
          <p:cNvSpPr/>
          <p:nvPr/>
        </p:nvSpPr>
        <p:spPr>
          <a:xfrm>
            <a:off x="2489200" y="5516880"/>
            <a:ext cx="7213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Application receives the event and performs an action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98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399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Geofencing Example: Campus</a:t>
            </a:r>
          </a:p>
        </p:txBody>
      </p:sp>
      <p:sp>
        <p:nvSpPr>
          <p:cNvPr id="400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01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19 / 32</a:t>
            </a:r>
          </a:p>
        </p:txBody>
      </p:sp>
      <p:sp>
        <p:nvSpPr>
          <p:cNvPr id="402" name="Text"/>
          <p:cNvSpPr/>
          <p:nvPr/>
        </p:nvSpPr>
        <p:spPr>
          <a:xfrm>
            <a:off x="457200" y="1473200"/>
            <a:ext cx="11226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Define campus center coordinates and a radius.</a:t>
            </a:r>
          </a:p>
        </p:txBody>
      </p:sp>
      <p:sp>
        <p:nvSpPr>
          <p:cNvPr id="403" name="Node"/>
          <p:cNvSpPr/>
          <p:nvPr/>
        </p:nvSpPr>
        <p:spPr>
          <a:xfrm>
            <a:off x="2286000" y="2133600"/>
            <a:ext cx="7620000" cy="608965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04" name="Text"/>
          <p:cNvSpPr/>
          <p:nvPr/>
        </p:nvSpPr>
        <p:spPr>
          <a:xfrm>
            <a:off x="2489200" y="2133600"/>
            <a:ext cx="7213600" cy="608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Student enters the boundary</a:t>
            </a:r>
          </a:p>
        </p:txBody>
      </p:sp>
      <p:sp>
        <p:nvSpPr>
          <p:cNvPr id="405" name="Arrow"/>
          <p:cNvSpPr/>
          <p:nvPr/>
        </p:nvSpPr>
        <p:spPr>
          <a:xfrm>
            <a:off x="5981700" y="2794762"/>
            <a:ext cx="228600" cy="243586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06" name="Node"/>
          <p:cNvSpPr/>
          <p:nvPr/>
        </p:nvSpPr>
        <p:spPr>
          <a:xfrm>
            <a:off x="2286000" y="3090545"/>
            <a:ext cx="7620000" cy="60896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07" name="Text"/>
          <p:cNvSpPr/>
          <p:nvPr/>
        </p:nvSpPr>
        <p:spPr>
          <a:xfrm>
            <a:off x="2489200" y="3090545"/>
            <a:ext cx="7213600" cy="608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ENTER event</a:t>
            </a:r>
          </a:p>
        </p:txBody>
      </p:sp>
      <p:sp>
        <p:nvSpPr>
          <p:cNvPr id="408" name="Arrow"/>
          <p:cNvSpPr/>
          <p:nvPr/>
        </p:nvSpPr>
        <p:spPr>
          <a:xfrm>
            <a:off x="5981700" y="3751707"/>
            <a:ext cx="228600" cy="243586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09" name="Node"/>
          <p:cNvSpPr/>
          <p:nvPr/>
        </p:nvSpPr>
        <p:spPr>
          <a:xfrm>
            <a:off x="2286000" y="4047490"/>
            <a:ext cx="7620000" cy="608965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10" name="Text"/>
          <p:cNvSpPr/>
          <p:nvPr/>
        </p:nvSpPr>
        <p:spPr>
          <a:xfrm>
            <a:off x="2489200" y="4047490"/>
            <a:ext cx="7213600" cy="608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Application receives the transition</a:t>
            </a:r>
          </a:p>
        </p:txBody>
      </p:sp>
      <p:sp>
        <p:nvSpPr>
          <p:cNvPr id="411" name="Arrow"/>
          <p:cNvSpPr/>
          <p:nvPr/>
        </p:nvSpPr>
        <p:spPr>
          <a:xfrm>
            <a:off x="5981700" y="4708652"/>
            <a:ext cx="228600" cy="243586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12" name="Node"/>
          <p:cNvSpPr/>
          <p:nvPr/>
        </p:nvSpPr>
        <p:spPr>
          <a:xfrm>
            <a:off x="2286000" y="5004435"/>
            <a:ext cx="7620000" cy="60896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13" name="Text"/>
          <p:cNvSpPr/>
          <p:nvPr/>
        </p:nvSpPr>
        <p:spPr>
          <a:xfrm>
            <a:off x="2489200" y="5004435"/>
            <a:ext cx="7213600" cy="608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 can show a notification or trigger a campus feature.</a:t>
            </a:r>
          </a:p>
        </p:txBody>
      </p:sp>
      <p:sp>
        <p:nvSpPr>
          <p:cNvPr id="414" name="Text"/>
          <p:cNvSpPr/>
          <p:nvPr/>
        </p:nvSpPr>
        <p:spPr>
          <a:xfrm>
            <a:off x="457200" y="5715000"/>
            <a:ext cx="1127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Geofencing is event-driven; it is different from continuously displaying location.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16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417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Smartphone Sensors</a:t>
            </a:r>
          </a:p>
        </p:txBody>
      </p:sp>
      <p:sp>
        <p:nvSpPr>
          <p:cNvPr id="418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19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20 / 32</a:t>
            </a:r>
          </a:p>
        </p:txBody>
      </p:sp>
      <p:sp>
        <p:nvSpPr>
          <p:cNvPr id="420" name="Text"/>
          <p:cNvSpPr/>
          <p:nvPr/>
        </p:nvSpPr>
        <p:spPr>
          <a:xfrm>
            <a:off x="457200" y="2159000"/>
            <a:ext cx="279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8FB3B0"/>
                </a:solidFill>
                <a:latin typeface="Calibri Light" pitchFamily="34" charset="0"/>
                <a:cs typeface="Calibri Light" pitchFamily="34" charset="0"/>
              </a:rPr>
              <a:t>02</a:t>
            </a:r>
          </a:p>
        </p:txBody>
      </p:sp>
      <p:sp>
        <p:nvSpPr>
          <p:cNvPr id="421" name="SecRule"/>
          <p:cNvSpPr/>
          <p:nvPr/>
        </p:nvSpPr>
        <p:spPr>
          <a:xfrm>
            <a:off x="3175000" y="1778000"/>
            <a:ext cx="0" cy="3810000"/>
          </a:xfrm>
          <a:prstGeom prst="line">
            <a:avLst/>
          </a:prstGeom>
          <a:noFill/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22" name="Dot"/>
          <p:cNvSpPr/>
          <p:nvPr/>
        </p:nvSpPr>
        <p:spPr>
          <a:xfrm>
            <a:off x="3581400" y="1905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23" name="Text"/>
          <p:cNvSpPr/>
          <p:nvPr/>
        </p:nvSpPr>
        <p:spPr>
          <a:xfrm>
            <a:off x="3937000" y="1778000"/>
            <a:ext cx="7797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Smartphones contain sensors that measure movement, position or environmental conditions.</a:t>
            </a:r>
          </a:p>
        </p:txBody>
      </p:sp>
      <p:sp>
        <p:nvSpPr>
          <p:cNvPr id="424" name="Dot"/>
          <p:cNvSpPr/>
          <p:nvPr/>
        </p:nvSpPr>
        <p:spPr>
          <a:xfrm>
            <a:off x="3581400" y="2997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25" name="Text"/>
          <p:cNvSpPr/>
          <p:nvPr/>
        </p:nvSpPr>
        <p:spPr>
          <a:xfrm>
            <a:off x="3937000" y="2870200"/>
            <a:ext cx="7797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Examples include accelerometer, gyroscope, proximity, light and magnetic-field sensors.</a:t>
            </a:r>
          </a:p>
        </p:txBody>
      </p:sp>
      <p:sp>
        <p:nvSpPr>
          <p:cNvPr id="426" name="Dot"/>
          <p:cNvSpPr/>
          <p:nvPr/>
        </p:nvSpPr>
        <p:spPr>
          <a:xfrm>
            <a:off x="3581400" y="4089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27" name="Text"/>
          <p:cNvSpPr/>
          <p:nvPr/>
        </p:nvSpPr>
        <p:spPr>
          <a:xfrm>
            <a:off x="3937000" y="3962400"/>
            <a:ext cx="7797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Android provides a common Sensor Framework for accessing supported sensors.</a:t>
            </a:r>
          </a:p>
        </p:txBody>
      </p:sp>
      <p:sp>
        <p:nvSpPr>
          <p:cNvPr id="428" name="Dot"/>
          <p:cNvSpPr/>
          <p:nvPr/>
        </p:nvSpPr>
        <p:spPr>
          <a:xfrm>
            <a:off x="3581400" y="5181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29" name="Text"/>
          <p:cNvSpPr/>
          <p:nvPr/>
        </p:nvSpPr>
        <p:spPr>
          <a:xfrm>
            <a:off x="3937000" y="5054600"/>
            <a:ext cx="7797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Before using a sensor, check whether the device actually provides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31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432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Android Sensor Framework</a:t>
            </a:r>
          </a:p>
        </p:txBody>
      </p:sp>
      <p:sp>
        <p:nvSpPr>
          <p:cNvPr id="433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34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21 / 32</a:t>
            </a:r>
          </a:p>
        </p:txBody>
      </p:sp>
      <p:sp>
        <p:nvSpPr>
          <p:cNvPr id="435" name="Node"/>
          <p:cNvSpPr/>
          <p:nvPr/>
        </p:nvSpPr>
        <p:spPr>
          <a:xfrm>
            <a:off x="2286000" y="1473200"/>
            <a:ext cx="7620000" cy="65532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36" name="Text"/>
          <p:cNvSpPr/>
          <p:nvPr/>
        </p:nvSpPr>
        <p:spPr>
          <a:xfrm>
            <a:off x="2489200" y="1473200"/>
            <a:ext cx="7213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Sensor hardware</a:t>
            </a:r>
          </a:p>
        </p:txBody>
      </p:sp>
      <p:sp>
        <p:nvSpPr>
          <p:cNvPr id="437" name="Arrow"/>
          <p:cNvSpPr/>
          <p:nvPr/>
        </p:nvSpPr>
        <p:spPr>
          <a:xfrm>
            <a:off x="5981700" y="218186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38" name="Node"/>
          <p:cNvSpPr/>
          <p:nvPr/>
        </p:nvSpPr>
        <p:spPr>
          <a:xfrm>
            <a:off x="2286000" y="2484120"/>
            <a:ext cx="7620000" cy="6553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39" name="Text"/>
          <p:cNvSpPr/>
          <p:nvPr/>
        </p:nvSpPr>
        <p:spPr>
          <a:xfrm>
            <a:off x="2489200" y="2484120"/>
            <a:ext cx="7213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SensorManager</a:t>
            </a:r>
          </a:p>
        </p:txBody>
      </p:sp>
      <p:sp>
        <p:nvSpPr>
          <p:cNvPr id="440" name="Arrow"/>
          <p:cNvSpPr/>
          <p:nvPr/>
        </p:nvSpPr>
        <p:spPr>
          <a:xfrm>
            <a:off x="5981700" y="319278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41" name="Node"/>
          <p:cNvSpPr/>
          <p:nvPr/>
        </p:nvSpPr>
        <p:spPr>
          <a:xfrm>
            <a:off x="2286000" y="3495040"/>
            <a:ext cx="7620000" cy="65532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42" name="Text"/>
          <p:cNvSpPr/>
          <p:nvPr/>
        </p:nvSpPr>
        <p:spPr>
          <a:xfrm>
            <a:off x="2489200" y="3495040"/>
            <a:ext cx="7213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Sensor + SensorEventListener</a:t>
            </a:r>
          </a:p>
        </p:txBody>
      </p:sp>
      <p:sp>
        <p:nvSpPr>
          <p:cNvPr id="443" name="Arrow"/>
          <p:cNvSpPr/>
          <p:nvPr/>
        </p:nvSpPr>
        <p:spPr>
          <a:xfrm>
            <a:off x="5981700" y="420370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44" name="Node"/>
          <p:cNvSpPr/>
          <p:nvPr/>
        </p:nvSpPr>
        <p:spPr>
          <a:xfrm>
            <a:off x="2286000" y="4505960"/>
            <a:ext cx="7620000" cy="6553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45" name="Text"/>
          <p:cNvSpPr/>
          <p:nvPr/>
        </p:nvSpPr>
        <p:spPr>
          <a:xfrm>
            <a:off x="2489200" y="4505960"/>
            <a:ext cx="7213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SensorEvent contains measured values</a:t>
            </a:r>
          </a:p>
        </p:txBody>
      </p:sp>
      <p:sp>
        <p:nvSpPr>
          <p:cNvPr id="446" name="Arrow"/>
          <p:cNvSpPr/>
          <p:nvPr/>
        </p:nvSpPr>
        <p:spPr>
          <a:xfrm>
            <a:off x="5981700" y="521462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47" name="Node"/>
          <p:cNvSpPr/>
          <p:nvPr/>
        </p:nvSpPr>
        <p:spPr>
          <a:xfrm>
            <a:off x="2286000" y="5516880"/>
            <a:ext cx="7620000" cy="65532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48" name="Text"/>
          <p:cNvSpPr/>
          <p:nvPr/>
        </p:nvSpPr>
        <p:spPr>
          <a:xfrm>
            <a:off x="2489200" y="5516880"/>
            <a:ext cx="72136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Application uses the values to respond, calculate or update the UI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50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451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Key Sensor APIs</a:t>
            </a:r>
          </a:p>
        </p:txBody>
      </p:sp>
      <p:sp>
        <p:nvSpPr>
          <p:cNvPr id="452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53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22 / 32</a:t>
            </a:r>
          </a:p>
        </p:txBody>
      </p:sp>
      <p:sp>
        <p:nvSpPr>
          <p:cNvPr id="454" name="Card"/>
          <p:cNvSpPr/>
          <p:nvPr/>
        </p:nvSpPr>
        <p:spPr>
          <a:xfrm>
            <a:off x="457200" y="1473200"/>
            <a:ext cx="5549900" cy="195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55" name="Text"/>
          <p:cNvSpPr/>
          <p:nvPr/>
        </p:nvSpPr>
        <p:spPr>
          <a:xfrm>
            <a:off x="660400" y="1651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SensorManager</a:t>
            </a:r>
          </a:p>
        </p:txBody>
      </p:sp>
      <p:sp>
        <p:nvSpPr>
          <p:cNvPr id="456" name="Text"/>
          <p:cNvSpPr/>
          <p:nvPr/>
        </p:nvSpPr>
        <p:spPr>
          <a:xfrm>
            <a:off x="660400" y="2209800"/>
            <a:ext cx="5143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manages access to available sensors.</a:t>
            </a:r>
          </a:p>
        </p:txBody>
      </p:sp>
      <p:sp>
        <p:nvSpPr>
          <p:cNvPr id="457" name="Card"/>
          <p:cNvSpPr/>
          <p:nvPr/>
        </p:nvSpPr>
        <p:spPr>
          <a:xfrm>
            <a:off x="6184900" y="1473200"/>
            <a:ext cx="5549900" cy="195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58" name="Text"/>
          <p:cNvSpPr/>
          <p:nvPr/>
        </p:nvSpPr>
        <p:spPr>
          <a:xfrm>
            <a:off x="6388100" y="1651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Sensor</a:t>
            </a:r>
          </a:p>
        </p:txBody>
      </p:sp>
      <p:sp>
        <p:nvSpPr>
          <p:cNvPr id="459" name="Text"/>
          <p:cNvSpPr/>
          <p:nvPr/>
        </p:nvSpPr>
        <p:spPr>
          <a:xfrm>
            <a:off x="6388100" y="2209800"/>
            <a:ext cx="5143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represents a specific sensor.</a:t>
            </a:r>
          </a:p>
        </p:txBody>
      </p:sp>
      <p:sp>
        <p:nvSpPr>
          <p:cNvPr id="460" name="Card"/>
          <p:cNvSpPr/>
          <p:nvPr/>
        </p:nvSpPr>
        <p:spPr>
          <a:xfrm>
            <a:off x="457200" y="3606800"/>
            <a:ext cx="5549900" cy="195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61" name="Text"/>
          <p:cNvSpPr/>
          <p:nvPr/>
        </p:nvSpPr>
        <p:spPr>
          <a:xfrm>
            <a:off x="660400" y="37846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SensorEvent</a:t>
            </a:r>
          </a:p>
        </p:txBody>
      </p:sp>
      <p:sp>
        <p:nvSpPr>
          <p:cNvPr id="462" name="Text"/>
          <p:cNvSpPr/>
          <p:nvPr/>
        </p:nvSpPr>
        <p:spPr>
          <a:xfrm>
            <a:off x="660400" y="4343400"/>
            <a:ext cx="5143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contains sensor readings and a timestamp.</a:t>
            </a:r>
          </a:p>
        </p:txBody>
      </p:sp>
      <p:sp>
        <p:nvSpPr>
          <p:cNvPr id="463" name="Card"/>
          <p:cNvSpPr/>
          <p:nvPr/>
        </p:nvSpPr>
        <p:spPr>
          <a:xfrm>
            <a:off x="6184900" y="3606800"/>
            <a:ext cx="5549900" cy="195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64" name="Text"/>
          <p:cNvSpPr/>
          <p:nvPr/>
        </p:nvSpPr>
        <p:spPr>
          <a:xfrm>
            <a:off x="6388100" y="37846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SensorEventListener</a:t>
            </a:r>
          </a:p>
        </p:txBody>
      </p:sp>
      <p:sp>
        <p:nvSpPr>
          <p:cNvPr id="465" name="Text"/>
          <p:cNvSpPr/>
          <p:nvPr/>
        </p:nvSpPr>
        <p:spPr>
          <a:xfrm>
            <a:off x="6388100" y="4343400"/>
            <a:ext cx="5143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receives sensor accuracy and value changes.</a:t>
            </a:r>
          </a:p>
        </p:txBody>
      </p:sp>
      <p:sp>
        <p:nvSpPr>
          <p:cNvPr id="466" name="Text"/>
          <p:cNvSpPr/>
          <p:nvPr/>
        </p:nvSpPr>
        <p:spPr>
          <a:xfrm>
            <a:off x="457200" y="56896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Register listeners when needed and unregister them when the feature is no longer needed.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68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469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Accelerometer</a:t>
            </a:r>
          </a:p>
        </p:txBody>
      </p:sp>
      <p:sp>
        <p:nvSpPr>
          <p:cNvPr id="470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71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23 / 32</a:t>
            </a:r>
          </a:p>
        </p:txBody>
      </p:sp>
      <p:sp>
        <p:nvSpPr>
          <p:cNvPr id="472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73" name="Text"/>
          <p:cNvSpPr/>
          <p:nvPr/>
        </p:nvSpPr>
        <p:spPr>
          <a:xfrm>
            <a:off x="838200" y="14732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Measures acceleration along the device's X, Y and Z axes.</a:t>
            </a:r>
          </a:p>
        </p:txBody>
      </p:sp>
      <p:sp>
        <p:nvSpPr>
          <p:cNvPr id="474" name="Dot"/>
          <p:cNvSpPr/>
          <p:nvPr/>
        </p:nvSpPr>
        <p:spPr>
          <a:xfrm>
            <a:off x="482600" y="2514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75" name="Text"/>
          <p:cNvSpPr/>
          <p:nvPr/>
        </p:nvSpPr>
        <p:spPr>
          <a:xfrm>
            <a:off x="838200" y="23876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Values are affected by device movement and gravity.</a:t>
            </a:r>
          </a:p>
        </p:txBody>
      </p:sp>
      <p:sp>
        <p:nvSpPr>
          <p:cNvPr id="476" name="Dot"/>
          <p:cNvSpPr/>
          <p:nvPr/>
        </p:nvSpPr>
        <p:spPr>
          <a:xfrm>
            <a:off x="482600" y="3429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77" name="Text"/>
          <p:cNvSpPr/>
          <p:nvPr/>
        </p:nvSpPr>
        <p:spPr>
          <a:xfrm>
            <a:off x="838200" y="33020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Useful for movement, tilt changes and gesture-based interaction.</a:t>
            </a:r>
          </a:p>
        </p:txBody>
      </p:sp>
      <p:sp>
        <p:nvSpPr>
          <p:cNvPr id="478" name="Dot"/>
          <p:cNvSpPr/>
          <p:nvPr/>
        </p:nvSpPr>
        <p:spPr>
          <a:xfrm>
            <a:off x="482600" y="4343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79" name="Text"/>
          <p:cNvSpPr/>
          <p:nvPr/>
        </p:nvSpPr>
        <p:spPr>
          <a:xfrm>
            <a:off x="838200" y="42164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Examples: shake detection, games, motion-aware interfaces and activity features.</a:t>
            </a:r>
          </a:p>
        </p:txBody>
      </p:sp>
      <p:sp>
        <p:nvSpPr>
          <p:cNvPr id="480" name="Dot"/>
          <p:cNvSpPr/>
          <p:nvPr/>
        </p:nvSpPr>
        <p:spPr>
          <a:xfrm>
            <a:off x="482600" y="52578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81" name="Text"/>
          <p:cNvSpPr/>
          <p:nvPr/>
        </p:nvSpPr>
        <p:spPr>
          <a:xfrm>
            <a:off x="838200" y="51308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Think: “How is the device accelerating or moving?”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8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48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Accelerometer: X, Y, Z</a:t>
            </a:r>
          </a:p>
        </p:txBody>
      </p:sp>
      <p:sp>
        <p:nvSpPr>
          <p:cNvPr id="48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8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24 / 32</a:t>
            </a:r>
          </a:p>
        </p:txBody>
      </p:sp>
      <p:sp>
        <p:nvSpPr>
          <p:cNvPr id="487" name="Card"/>
          <p:cNvSpPr/>
          <p:nvPr/>
        </p:nvSpPr>
        <p:spPr>
          <a:xfrm>
            <a:off x="457200" y="1473200"/>
            <a:ext cx="3640667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88" name="Text"/>
          <p:cNvSpPr/>
          <p:nvPr/>
        </p:nvSpPr>
        <p:spPr>
          <a:xfrm>
            <a:off x="660400" y="1651000"/>
            <a:ext cx="3234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X axis</a:t>
            </a:r>
          </a:p>
        </p:txBody>
      </p:sp>
      <p:sp>
        <p:nvSpPr>
          <p:cNvPr id="489" name="Text"/>
          <p:cNvSpPr/>
          <p:nvPr/>
        </p:nvSpPr>
        <p:spPr>
          <a:xfrm>
            <a:off x="660400" y="2209800"/>
            <a:ext cx="3234267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left / right</a:t>
            </a:r>
          </a:p>
        </p:txBody>
      </p:sp>
      <p:sp>
        <p:nvSpPr>
          <p:cNvPr id="490" name="Card"/>
          <p:cNvSpPr/>
          <p:nvPr/>
        </p:nvSpPr>
        <p:spPr>
          <a:xfrm>
            <a:off x="4275667" y="1473200"/>
            <a:ext cx="3640667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91" name="Text"/>
          <p:cNvSpPr/>
          <p:nvPr/>
        </p:nvSpPr>
        <p:spPr>
          <a:xfrm>
            <a:off x="4478867" y="1651000"/>
            <a:ext cx="3234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Y axis</a:t>
            </a:r>
          </a:p>
        </p:txBody>
      </p:sp>
      <p:sp>
        <p:nvSpPr>
          <p:cNvPr id="492" name="Text"/>
          <p:cNvSpPr/>
          <p:nvPr/>
        </p:nvSpPr>
        <p:spPr>
          <a:xfrm>
            <a:off x="4478867" y="2209800"/>
            <a:ext cx="3234267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up / down</a:t>
            </a:r>
          </a:p>
        </p:txBody>
      </p:sp>
      <p:sp>
        <p:nvSpPr>
          <p:cNvPr id="493" name="Card"/>
          <p:cNvSpPr/>
          <p:nvPr/>
        </p:nvSpPr>
        <p:spPr>
          <a:xfrm>
            <a:off x="8094133" y="1473200"/>
            <a:ext cx="3640667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494" name="Text"/>
          <p:cNvSpPr/>
          <p:nvPr/>
        </p:nvSpPr>
        <p:spPr>
          <a:xfrm>
            <a:off x="8297333" y="1651000"/>
            <a:ext cx="3234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Z axis</a:t>
            </a:r>
          </a:p>
        </p:txBody>
      </p:sp>
      <p:sp>
        <p:nvSpPr>
          <p:cNvPr id="495" name="Text"/>
          <p:cNvSpPr/>
          <p:nvPr/>
        </p:nvSpPr>
        <p:spPr>
          <a:xfrm>
            <a:off x="8297333" y="2209800"/>
            <a:ext cx="3234267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toward / away from the device surface</a:t>
            </a:r>
          </a:p>
        </p:txBody>
      </p:sp>
      <p:sp>
        <p:nvSpPr>
          <p:cNvPr id="496" name="Text"/>
          <p:cNvSpPr/>
          <p:nvPr/>
        </p:nvSpPr>
        <p:spPr>
          <a:xfrm>
            <a:off x="457200" y="56896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Interpretation depends on Android's device coordinate system and orientation. Sensor readings are typically delivered through SensorEvent.values[].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98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499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Gyroscope</a:t>
            </a:r>
          </a:p>
        </p:txBody>
      </p:sp>
      <p:sp>
        <p:nvSpPr>
          <p:cNvPr id="500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501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25 / 32</a:t>
            </a:r>
          </a:p>
        </p:txBody>
      </p:sp>
      <p:sp>
        <p:nvSpPr>
          <p:cNvPr id="502" name="Text"/>
          <p:cNvSpPr/>
          <p:nvPr/>
        </p:nvSpPr>
        <p:spPr>
          <a:xfrm>
            <a:off x="457200" y="1473200"/>
            <a:ext cx="11226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Measures angular velocity — how quickly the device is rotating. Reports rotation around the X, Y and Z axes.</a:t>
            </a:r>
          </a:p>
        </p:txBody>
      </p:sp>
      <p:sp>
        <p:nvSpPr>
          <p:cNvPr id="503" name="Card"/>
          <p:cNvSpPr/>
          <p:nvPr/>
        </p:nvSpPr>
        <p:spPr>
          <a:xfrm>
            <a:off x="457200" y="2235200"/>
            <a:ext cx="5549900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04" name="Text"/>
          <p:cNvSpPr/>
          <p:nvPr/>
        </p:nvSpPr>
        <p:spPr>
          <a:xfrm>
            <a:off x="660400" y="2413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Accelerometer</a:t>
            </a:r>
          </a:p>
        </p:txBody>
      </p:sp>
      <p:sp>
        <p:nvSpPr>
          <p:cNvPr id="505" name="Text"/>
          <p:cNvSpPr/>
          <p:nvPr/>
        </p:nvSpPr>
        <p:spPr>
          <a:xfrm>
            <a:off x="660400" y="2971800"/>
            <a:ext cx="51435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linear acceleration / movement</a:t>
            </a:r>
          </a:p>
        </p:txBody>
      </p:sp>
      <p:sp>
        <p:nvSpPr>
          <p:cNvPr id="506" name="Card"/>
          <p:cNvSpPr/>
          <p:nvPr/>
        </p:nvSpPr>
        <p:spPr>
          <a:xfrm>
            <a:off x="6184900" y="2235200"/>
            <a:ext cx="5549900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07" name="Text"/>
          <p:cNvSpPr/>
          <p:nvPr/>
        </p:nvSpPr>
        <p:spPr>
          <a:xfrm>
            <a:off x="6388100" y="2413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Gyroscope</a:t>
            </a:r>
          </a:p>
        </p:txBody>
      </p:sp>
      <p:sp>
        <p:nvSpPr>
          <p:cNvPr id="508" name="Text"/>
          <p:cNvSpPr/>
          <p:nvPr/>
        </p:nvSpPr>
        <p:spPr>
          <a:xfrm>
            <a:off x="6388100" y="2971800"/>
            <a:ext cx="51435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rotational movement</a:t>
            </a:r>
          </a:p>
        </p:txBody>
      </p:sp>
      <p:sp>
        <p:nvSpPr>
          <p:cNvPr id="509" name="Text"/>
          <p:cNvSpPr/>
          <p:nvPr/>
        </p:nvSpPr>
        <p:spPr>
          <a:xfrm>
            <a:off x="457200" y="56896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Useful for games, AR, motion interaction and orientation-related features.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511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512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Proximity Sensor</a:t>
            </a:r>
          </a:p>
        </p:txBody>
      </p:sp>
      <p:sp>
        <p:nvSpPr>
          <p:cNvPr id="513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514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26 / 32</a:t>
            </a:r>
          </a:p>
        </p:txBody>
      </p:sp>
      <p:sp>
        <p:nvSpPr>
          <p:cNvPr id="515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16" name="Text"/>
          <p:cNvSpPr/>
          <p:nvPr/>
        </p:nvSpPr>
        <p:spPr>
          <a:xfrm>
            <a:off x="838200" y="14732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Detects whether an object is close to the device.</a:t>
            </a:r>
          </a:p>
        </p:txBody>
      </p:sp>
      <p:sp>
        <p:nvSpPr>
          <p:cNvPr id="517" name="Dot"/>
          <p:cNvSpPr/>
          <p:nvPr/>
        </p:nvSpPr>
        <p:spPr>
          <a:xfrm>
            <a:off x="482600" y="2514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18" name="Text"/>
          <p:cNvSpPr/>
          <p:nvPr/>
        </p:nvSpPr>
        <p:spPr>
          <a:xfrm>
            <a:off x="838200" y="23876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May report distance or a near/far state depending on the sensor.</a:t>
            </a:r>
          </a:p>
        </p:txBody>
      </p:sp>
      <p:sp>
        <p:nvSpPr>
          <p:cNvPr id="519" name="Dot"/>
          <p:cNvSpPr/>
          <p:nvPr/>
        </p:nvSpPr>
        <p:spPr>
          <a:xfrm>
            <a:off x="482600" y="3429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20" name="Text"/>
          <p:cNvSpPr/>
          <p:nvPr/>
        </p:nvSpPr>
        <p:spPr>
          <a:xfrm>
            <a:off x="838200" y="33020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Classic example: during a phone call, the display can respond when the device is near the user's face.</a:t>
            </a:r>
          </a:p>
        </p:txBody>
      </p:sp>
      <p:sp>
        <p:nvSpPr>
          <p:cNvPr id="521" name="Dot"/>
          <p:cNvSpPr/>
          <p:nvPr/>
        </p:nvSpPr>
        <p:spPr>
          <a:xfrm>
            <a:off x="482600" y="4343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22" name="Text"/>
          <p:cNvSpPr/>
          <p:nvPr/>
        </p:nvSpPr>
        <p:spPr>
          <a:xfrm>
            <a:off x="838200" y="42164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Useful for simple context-aware interactions.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524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525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Camera + Sensor Framework</a:t>
            </a:r>
          </a:p>
        </p:txBody>
      </p:sp>
      <p:sp>
        <p:nvSpPr>
          <p:cNvPr id="526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527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27 / 32</a:t>
            </a:r>
          </a:p>
        </p:txBody>
      </p:sp>
      <p:sp>
        <p:nvSpPr>
          <p:cNvPr id="528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29" name="Text"/>
          <p:cNvSpPr/>
          <p:nvPr/>
        </p:nvSpPr>
        <p:spPr>
          <a:xfrm>
            <a:off x="838200" y="14732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Camera and sensors are smartphone hardware capabilities accessed through different Android APIs.</a:t>
            </a:r>
          </a:p>
        </p:txBody>
      </p:sp>
      <p:sp>
        <p:nvSpPr>
          <p:cNvPr id="530" name="Dot"/>
          <p:cNvSpPr/>
          <p:nvPr/>
        </p:nvSpPr>
        <p:spPr>
          <a:xfrm>
            <a:off x="482600" y="2514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31" name="Text"/>
          <p:cNvSpPr/>
          <p:nvPr/>
        </p:nvSpPr>
        <p:spPr>
          <a:xfrm>
            <a:off x="838200" y="23876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CameraX provides a modern approach for common camera use cases.</a:t>
            </a:r>
          </a:p>
        </p:txBody>
      </p:sp>
      <p:sp>
        <p:nvSpPr>
          <p:cNvPr id="532" name="Dot"/>
          <p:cNvSpPr/>
          <p:nvPr/>
        </p:nvSpPr>
        <p:spPr>
          <a:xfrm>
            <a:off x="482600" y="3429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33" name="Text"/>
          <p:cNvSpPr/>
          <p:nvPr/>
        </p:nvSpPr>
        <p:spPr>
          <a:xfrm>
            <a:off x="838200" y="33020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Camera applications need appropriate permission and lifecycle handling.</a:t>
            </a:r>
          </a:p>
        </p:txBody>
      </p:sp>
      <p:sp>
        <p:nvSpPr>
          <p:cNvPr id="534" name="Dot"/>
          <p:cNvSpPr/>
          <p:nvPr/>
        </p:nvSpPr>
        <p:spPr>
          <a:xfrm>
            <a:off x="482600" y="4343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35" name="Text"/>
          <p:cNvSpPr/>
          <p:nvPr/>
        </p:nvSpPr>
        <p:spPr>
          <a:xfrm>
            <a:off x="838200" y="42164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Examples: QR scanning, document capture, image capture and augmented reality.</a:t>
            </a:r>
          </a:p>
        </p:txBody>
      </p:sp>
      <p:sp>
        <p:nvSpPr>
          <p:cNvPr id="536" name="Dot"/>
          <p:cNvSpPr/>
          <p:nvPr/>
        </p:nvSpPr>
        <p:spPr>
          <a:xfrm>
            <a:off x="482600" y="52578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37" name="Text"/>
          <p:cNvSpPr/>
          <p:nvPr/>
        </p:nvSpPr>
        <p:spPr>
          <a:xfrm>
            <a:off x="838200" y="5130800"/>
            <a:ext cx="10871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Camera → visual data; Sensor Framework → sensor measurements.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539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540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Sensor Code Pattern</a:t>
            </a:r>
          </a:p>
        </p:txBody>
      </p:sp>
      <p:sp>
        <p:nvSpPr>
          <p:cNvPr id="541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542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28 / 32</a:t>
            </a:r>
          </a:p>
        </p:txBody>
      </p:sp>
      <p:sp>
        <p:nvSpPr>
          <p:cNvPr id="543" name="Badge"/>
          <p:cNvSpPr/>
          <p:nvPr/>
        </p:nvSpPr>
        <p:spPr>
          <a:xfrm>
            <a:off x="457200" y="14986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44" name="BadgeTxt"/>
          <p:cNvSpPr/>
          <p:nvPr/>
        </p:nvSpPr>
        <p:spPr>
          <a:xfrm>
            <a:off x="457200" y="14986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545" name="Text"/>
          <p:cNvSpPr/>
          <p:nvPr/>
        </p:nvSpPr>
        <p:spPr>
          <a:xfrm>
            <a:off x="1066800" y="1473200"/>
            <a:ext cx="10668000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Get SensorManager.</a:t>
            </a:r>
          </a:p>
        </p:txBody>
      </p:sp>
      <p:sp>
        <p:nvSpPr>
          <p:cNvPr id="546" name="Badge"/>
          <p:cNvSpPr/>
          <p:nvPr/>
        </p:nvSpPr>
        <p:spPr>
          <a:xfrm>
            <a:off x="457200" y="2169886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47" name="BadgeTxt"/>
          <p:cNvSpPr/>
          <p:nvPr/>
        </p:nvSpPr>
        <p:spPr>
          <a:xfrm>
            <a:off x="457200" y="2169886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548" name="Text"/>
          <p:cNvSpPr/>
          <p:nvPr/>
        </p:nvSpPr>
        <p:spPr>
          <a:xfrm>
            <a:off x="1066800" y="2144486"/>
            <a:ext cx="10668000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Obtain the required Sensor.</a:t>
            </a:r>
          </a:p>
        </p:txBody>
      </p:sp>
      <p:sp>
        <p:nvSpPr>
          <p:cNvPr id="549" name="Badge"/>
          <p:cNvSpPr/>
          <p:nvPr/>
        </p:nvSpPr>
        <p:spPr>
          <a:xfrm>
            <a:off x="457200" y="2841171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50" name="BadgeTxt"/>
          <p:cNvSpPr/>
          <p:nvPr/>
        </p:nvSpPr>
        <p:spPr>
          <a:xfrm>
            <a:off x="457200" y="2841171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551" name="Text"/>
          <p:cNvSpPr/>
          <p:nvPr/>
        </p:nvSpPr>
        <p:spPr>
          <a:xfrm>
            <a:off x="1066800" y="2815771"/>
            <a:ext cx="10668000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Check whether the sensor exists.</a:t>
            </a:r>
          </a:p>
        </p:txBody>
      </p:sp>
      <p:sp>
        <p:nvSpPr>
          <p:cNvPr id="552" name="Badge"/>
          <p:cNvSpPr/>
          <p:nvPr/>
        </p:nvSpPr>
        <p:spPr>
          <a:xfrm>
            <a:off x="457200" y="3512457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53" name="BadgeTxt"/>
          <p:cNvSpPr/>
          <p:nvPr/>
        </p:nvSpPr>
        <p:spPr>
          <a:xfrm>
            <a:off x="457200" y="3512457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554" name="Text"/>
          <p:cNvSpPr/>
          <p:nvPr/>
        </p:nvSpPr>
        <p:spPr>
          <a:xfrm>
            <a:off x="1066800" y="3487057"/>
            <a:ext cx="10668000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Register SensorEventListener.</a:t>
            </a:r>
          </a:p>
        </p:txBody>
      </p:sp>
      <p:sp>
        <p:nvSpPr>
          <p:cNvPr id="555" name="Badge"/>
          <p:cNvSpPr/>
          <p:nvPr/>
        </p:nvSpPr>
        <p:spPr>
          <a:xfrm>
            <a:off x="457200" y="4183743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56" name="BadgeTxt"/>
          <p:cNvSpPr/>
          <p:nvPr/>
        </p:nvSpPr>
        <p:spPr>
          <a:xfrm>
            <a:off x="457200" y="4183743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557" name="Text"/>
          <p:cNvSpPr/>
          <p:nvPr/>
        </p:nvSpPr>
        <p:spPr>
          <a:xfrm>
            <a:off x="1066800" y="4158343"/>
            <a:ext cx="10668000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Read SensorEvent values.</a:t>
            </a:r>
          </a:p>
        </p:txBody>
      </p:sp>
      <p:sp>
        <p:nvSpPr>
          <p:cNvPr id="558" name="Badge"/>
          <p:cNvSpPr/>
          <p:nvPr/>
        </p:nvSpPr>
        <p:spPr>
          <a:xfrm>
            <a:off x="457200" y="4855029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59" name="BadgeTxt"/>
          <p:cNvSpPr/>
          <p:nvPr/>
        </p:nvSpPr>
        <p:spPr>
          <a:xfrm>
            <a:off x="457200" y="4855029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6</a:t>
            </a:r>
          </a:p>
        </p:txBody>
      </p:sp>
      <p:sp>
        <p:nvSpPr>
          <p:cNvPr id="560" name="Text"/>
          <p:cNvSpPr/>
          <p:nvPr/>
        </p:nvSpPr>
        <p:spPr>
          <a:xfrm>
            <a:off x="1066800" y="4829629"/>
            <a:ext cx="10668000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Use the readings in the application.</a:t>
            </a:r>
          </a:p>
        </p:txBody>
      </p:sp>
      <p:sp>
        <p:nvSpPr>
          <p:cNvPr id="561" name="Badge"/>
          <p:cNvSpPr/>
          <p:nvPr/>
        </p:nvSpPr>
        <p:spPr>
          <a:xfrm>
            <a:off x="457200" y="5526314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62" name="BadgeTxt"/>
          <p:cNvSpPr/>
          <p:nvPr/>
        </p:nvSpPr>
        <p:spPr>
          <a:xfrm>
            <a:off x="457200" y="5526314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7</a:t>
            </a:r>
          </a:p>
        </p:txBody>
      </p:sp>
      <p:sp>
        <p:nvSpPr>
          <p:cNvPr id="563" name="Text"/>
          <p:cNvSpPr/>
          <p:nvPr/>
        </p:nvSpPr>
        <p:spPr>
          <a:xfrm>
            <a:off x="1066800" y="5500914"/>
            <a:ext cx="10668000" cy="59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Unregister the listener when it is no longer needed.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565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566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Design Considerations</a:t>
            </a:r>
          </a:p>
        </p:txBody>
      </p:sp>
      <p:sp>
        <p:nvSpPr>
          <p:cNvPr id="567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568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29 / 32</a:t>
            </a:r>
          </a:p>
        </p:txBody>
      </p:sp>
      <p:sp>
        <p:nvSpPr>
          <p:cNvPr id="569" name="Card"/>
          <p:cNvSpPr/>
          <p:nvPr/>
        </p:nvSpPr>
        <p:spPr>
          <a:xfrm>
            <a:off x="457200" y="1473200"/>
            <a:ext cx="3640667" cy="22606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70" name="Text"/>
          <p:cNvSpPr/>
          <p:nvPr/>
        </p:nvSpPr>
        <p:spPr>
          <a:xfrm>
            <a:off x="660400" y="1651000"/>
            <a:ext cx="3234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PRIVACY</a:t>
            </a:r>
          </a:p>
        </p:txBody>
      </p:sp>
      <p:sp>
        <p:nvSpPr>
          <p:cNvPr id="571" name="Text"/>
          <p:cNvSpPr/>
          <p:nvPr/>
        </p:nvSpPr>
        <p:spPr>
          <a:xfrm>
            <a:off x="660400" y="2209800"/>
            <a:ext cx="3234267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request only necessary location access and explain its purpose.</a:t>
            </a:r>
          </a:p>
        </p:txBody>
      </p:sp>
      <p:sp>
        <p:nvSpPr>
          <p:cNvPr id="572" name="Card"/>
          <p:cNvSpPr/>
          <p:nvPr/>
        </p:nvSpPr>
        <p:spPr>
          <a:xfrm>
            <a:off x="4275667" y="1473200"/>
            <a:ext cx="3640667" cy="22606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73" name="Text"/>
          <p:cNvSpPr/>
          <p:nvPr/>
        </p:nvSpPr>
        <p:spPr>
          <a:xfrm>
            <a:off x="4478867" y="1651000"/>
            <a:ext cx="3234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BATTERY</a:t>
            </a:r>
          </a:p>
        </p:txBody>
      </p:sp>
      <p:sp>
        <p:nvSpPr>
          <p:cNvPr id="574" name="Text"/>
          <p:cNvSpPr/>
          <p:nvPr/>
        </p:nvSpPr>
        <p:spPr>
          <a:xfrm>
            <a:off x="4478867" y="2209800"/>
            <a:ext cx="3234267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avoid unnecessary continuous location updates or high-frequency sensor sampling.</a:t>
            </a:r>
          </a:p>
        </p:txBody>
      </p:sp>
      <p:sp>
        <p:nvSpPr>
          <p:cNvPr id="575" name="Card"/>
          <p:cNvSpPr/>
          <p:nvPr/>
        </p:nvSpPr>
        <p:spPr>
          <a:xfrm>
            <a:off x="8094133" y="1473200"/>
            <a:ext cx="3640667" cy="22606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76" name="Text"/>
          <p:cNvSpPr/>
          <p:nvPr/>
        </p:nvSpPr>
        <p:spPr>
          <a:xfrm>
            <a:off x="8297333" y="1651000"/>
            <a:ext cx="3234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AVAILABILITY</a:t>
            </a:r>
          </a:p>
        </p:txBody>
      </p:sp>
      <p:sp>
        <p:nvSpPr>
          <p:cNvPr id="577" name="Text"/>
          <p:cNvSpPr/>
          <p:nvPr/>
        </p:nvSpPr>
        <p:spPr>
          <a:xfrm>
            <a:off x="8297333" y="2209800"/>
            <a:ext cx="3234267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not every device contains every sensor.</a:t>
            </a:r>
          </a:p>
        </p:txBody>
      </p:sp>
      <p:sp>
        <p:nvSpPr>
          <p:cNvPr id="578" name="Card"/>
          <p:cNvSpPr/>
          <p:nvPr/>
        </p:nvSpPr>
        <p:spPr>
          <a:xfrm>
            <a:off x="457200" y="3911600"/>
            <a:ext cx="3640667" cy="22606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79" name="Text"/>
          <p:cNvSpPr/>
          <p:nvPr/>
        </p:nvSpPr>
        <p:spPr>
          <a:xfrm>
            <a:off x="660400" y="4089400"/>
            <a:ext cx="3234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ACCURACY</a:t>
            </a:r>
          </a:p>
        </p:txBody>
      </p:sp>
      <p:sp>
        <p:nvSpPr>
          <p:cNvPr id="580" name="Text"/>
          <p:cNvSpPr/>
          <p:nvPr/>
        </p:nvSpPr>
        <p:spPr>
          <a:xfrm>
            <a:off x="660400" y="4648200"/>
            <a:ext cx="3234267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location and sensor readings are measurements, not perfect values.</a:t>
            </a:r>
          </a:p>
        </p:txBody>
      </p:sp>
      <p:sp>
        <p:nvSpPr>
          <p:cNvPr id="581" name="Card"/>
          <p:cNvSpPr/>
          <p:nvPr/>
        </p:nvSpPr>
        <p:spPr>
          <a:xfrm>
            <a:off x="4275667" y="3911600"/>
            <a:ext cx="3640667" cy="22606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82" name="Text"/>
          <p:cNvSpPr/>
          <p:nvPr/>
        </p:nvSpPr>
        <p:spPr>
          <a:xfrm>
            <a:off x="4478867" y="4089400"/>
            <a:ext cx="3234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LIFECYCLE</a:t>
            </a:r>
          </a:p>
        </p:txBody>
      </p:sp>
      <p:sp>
        <p:nvSpPr>
          <p:cNvPr id="583" name="Text"/>
          <p:cNvSpPr/>
          <p:nvPr/>
        </p:nvSpPr>
        <p:spPr>
          <a:xfrm>
            <a:off x="4478867" y="4648200"/>
            <a:ext cx="3234267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register/unregister listeners and manage location updates appropriately.</a:t>
            </a:r>
          </a:p>
        </p:txBody>
      </p:sp>
      <p:sp>
        <p:nvSpPr>
          <p:cNvPr id="584" name="Card"/>
          <p:cNvSpPr/>
          <p:nvPr/>
        </p:nvSpPr>
        <p:spPr>
          <a:xfrm>
            <a:off x="8094133" y="3911600"/>
            <a:ext cx="3640667" cy="22606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85" name="Text"/>
          <p:cNvSpPr/>
          <p:nvPr/>
        </p:nvSpPr>
        <p:spPr>
          <a:xfrm>
            <a:off x="8297333" y="4089400"/>
            <a:ext cx="3234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RESILIENCE</a:t>
            </a:r>
          </a:p>
        </p:txBody>
      </p:sp>
      <p:sp>
        <p:nvSpPr>
          <p:cNvPr id="586" name="Text"/>
          <p:cNvSpPr/>
          <p:nvPr/>
        </p:nvSpPr>
        <p:spPr>
          <a:xfrm>
            <a:off x="8297333" y="4648200"/>
            <a:ext cx="3234267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handle denied permissions, unavailable sensors and missing location data.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588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589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Integrated Case: Smart University Campus App</a:t>
            </a:r>
          </a:p>
        </p:txBody>
      </p:sp>
      <p:sp>
        <p:nvSpPr>
          <p:cNvPr id="590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591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30 / 32</a:t>
            </a:r>
          </a:p>
        </p:txBody>
      </p:sp>
      <p:sp>
        <p:nvSpPr>
          <p:cNvPr id="592" name="Card"/>
          <p:cNvSpPr/>
          <p:nvPr/>
        </p:nvSpPr>
        <p:spPr>
          <a:xfrm>
            <a:off x="457200" y="1473200"/>
            <a:ext cx="5549900" cy="195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93" name="Text"/>
          <p:cNvSpPr/>
          <p:nvPr/>
        </p:nvSpPr>
        <p:spPr>
          <a:xfrm>
            <a:off x="660400" y="1651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Google Maps</a:t>
            </a:r>
          </a:p>
        </p:txBody>
      </p:sp>
      <p:sp>
        <p:nvSpPr>
          <p:cNvPr id="594" name="Text"/>
          <p:cNvSpPr/>
          <p:nvPr/>
        </p:nvSpPr>
        <p:spPr>
          <a:xfrm>
            <a:off x="660400" y="2209800"/>
            <a:ext cx="5143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displays campus and important locations.</a:t>
            </a:r>
          </a:p>
        </p:txBody>
      </p:sp>
      <p:sp>
        <p:nvSpPr>
          <p:cNvPr id="595" name="Card"/>
          <p:cNvSpPr/>
          <p:nvPr/>
        </p:nvSpPr>
        <p:spPr>
          <a:xfrm>
            <a:off x="6184900" y="1473200"/>
            <a:ext cx="5549900" cy="195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96" name="Text"/>
          <p:cNvSpPr/>
          <p:nvPr/>
        </p:nvSpPr>
        <p:spPr>
          <a:xfrm>
            <a:off x="6388100" y="16510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Fused Location Provider</a:t>
            </a:r>
          </a:p>
        </p:txBody>
      </p:sp>
      <p:sp>
        <p:nvSpPr>
          <p:cNvPr id="597" name="Text"/>
          <p:cNvSpPr/>
          <p:nvPr/>
        </p:nvSpPr>
        <p:spPr>
          <a:xfrm>
            <a:off x="6388100" y="2209800"/>
            <a:ext cx="5143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obtains the student's current position.</a:t>
            </a:r>
          </a:p>
        </p:txBody>
      </p:sp>
      <p:sp>
        <p:nvSpPr>
          <p:cNvPr id="598" name="Card"/>
          <p:cNvSpPr/>
          <p:nvPr/>
        </p:nvSpPr>
        <p:spPr>
          <a:xfrm>
            <a:off x="457200" y="3606800"/>
            <a:ext cx="5549900" cy="195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599" name="Text"/>
          <p:cNvSpPr/>
          <p:nvPr/>
        </p:nvSpPr>
        <p:spPr>
          <a:xfrm>
            <a:off x="660400" y="37846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Geofencing</a:t>
            </a:r>
          </a:p>
        </p:txBody>
      </p:sp>
      <p:sp>
        <p:nvSpPr>
          <p:cNvPr id="600" name="Text"/>
          <p:cNvSpPr/>
          <p:nvPr/>
        </p:nvSpPr>
        <p:spPr>
          <a:xfrm>
            <a:off x="660400" y="4343400"/>
            <a:ext cx="5143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detects entry/exit from campus.</a:t>
            </a:r>
          </a:p>
        </p:txBody>
      </p:sp>
      <p:sp>
        <p:nvSpPr>
          <p:cNvPr id="601" name="Card"/>
          <p:cNvSpPr/>
          <p:nvPr/>
        </p:nvSpPr>
        <p:spPr>
          <a:xfrm>
            <a:off x="6184900" y="3606800"/>
            <a:ext cx="5549900" cy="195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602" name="Text"/>
          <p:cNvSpPr/>
          <p:nvPr/>
        </p:nvSpPr>
        <p:spPr>
          <a:xfrm>
            <a:off x="6388100" y="3784600"/>
            <a:ext cx="514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Accelerometer</a:t>
            </a:r>
          </a:p>
        </p:txBody>
      </p:sp>
      <p:sp>
        <p:nvSpPr>
          <p:cNvPr id="603" name="Text"/>
          <p:cNvSpPr/>
          <p:nvPr/>
        </p:nvSpPr>
        <p:spPr>
          <a:xfrm>
            <a:off x="6388100" y="4343400"/>
            <a:ext cx="5143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detects a simple movement/shake interaction.</a:t>
            </a:r>
          </a:p>
        </p:txBody>
      </p:sp>
      <p:sp>
        <p:nvSpPr>
          <p:cNvPr id="604" name="Text"/>
          <p:cNvSpPr/>
          <p:nvPr/>
        </p:nvSpPr>
        <p:spPr>
          <a:xfrm>
            <a:off x="457200" y="56896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Together, these APIs allow the app to respond to both PLACE and DEVICE CONTEXT.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06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ANDROID FUNDAMENTALS  ·  LOCATION &amp; SENSORS</a:t>
            </a:r>
          </a:p>
        </p:txBody>
      </p:sp>
      <p:sp>
        <p:nvSpPr>
          <p:cNvPr id="607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Key Takeaways</a:t>
            </a:r>
          </a:p>
        </p:txBody>
      </p:sp>
      <p:sp>
        <p:nvSpPr>
          <p:cNvPr id="608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09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Android Fundamentals  ·  31 / 32</a:t>
            </a:r>
          </a:p>
        </p:txBody>
      </p:sp>
      <p:sp>
        <p:nvSpPr>
          <p:cNvPr id="610" name="Badge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611" name="BadgeTxt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612" name="Text"/>
          <p:cNvSpPr/>
          <p:nvPr/>
        </p:nvSpPr>
        <p:spPr>
          <a:xfrm>
            <a:off x="1066800" y="14732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Android location APIs provide geographic information to applications.</a:t>
            </a:r>
          </a:p>
        </p:txBody>
      </p:sp>
      <p:sp>
        <p:nvSpPr>
          <p:cNvPr id="613" name="Badge"/>
          <p:cNvSpPr/>
          <p:nvPr/>
        </p:nvSpPr>
        <p:spPr>
          <a:xfrm>
            <a:off x="457200" y="22987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614" name="BadgeTxt"/>
          <p:cNvSpPr/>
          <p:nvPr/>
        </p:nvSpPr>
        <p:spPr>
          <a:xfrm>
            <a:off x="457200" y="22987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615" name="Text"/>
          <p:cNvSpPr/>
          <p:nvPr/>
        </p:nvSpPr>
        <p:spPr>
          <a:xfrm>
            <a:off x="1066800" y="22606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Fused Location Provider is a practical way to obtain location in many modern apps.</a:t>
            </a:r>
          </a:p>
        </p:txBody>
      </p:sp>
      <p:sp>
        <p:nvSpPr>
          <p:cNvPr id="616" name="Badge"/>
          <p:cNvSpPr/>
          <p:nvPr/>
        </p:nvSpPr>
        <p:spPr>
          <a:xfrm>
            <a:off x="457200" y="30861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617" name="BadgeTxt"/>
          <p:cNvSpPr/>
          <p:nvPr/>
        </p:nvSpPr>
        <p:spPr>
          <a:xfrm>
            <a:off x="457200" y="30861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618" name="Text"/>
          <p:cNvSpPr/>
          <p:nvPr/>
        </p:nvSpPr>
        <p:spPr>
          <a:xfrm>
            <a:off x="1066800" y="30480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Location permission is required and should be handled carefully.</a:t>
            </a:r>
          </a:p>
        </p:txBody>
      </p:sp>
      <p:sp>
        <p:nvSpPr>
          <p:cNvPr id="619" name="Badge"/>
          <p:cNvSpPr/>
          <p:nvPr/>
        </p:nvSpPr>
        <p:spPr>
          <a:xfrm>
            <a:off x="457200" y="3873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620" name="BadgeTxt"/>
          <p:cNvSpPr/>
          <p:nvPr/>
        </p:nvSpPr>
        <p:spPr>
          <a:xfrm>
            <a:off x="457200" y="38735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621" name="Text"/>
          <p:cNvSpPr/>
          <p:nvPr/>
        </p:nvSpPr>
        <p:spPr>
          <a:xfrm>
            <a:off x="1066800" y="38354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Google Maps displays geographic information; it is not the same as a location API.</a:t>
            </a:r>
          </a:p>
        </p:txBody>
      </p:sp>
      <p:sp>
        <p:nvSpPr>
          <p:cNvPr id="622" name="Badge"/>
          <p:cNvSpPr/>
          <p:nvPr/>
        </p:nvSpPr>
        <p:spPr>
          <a:xfrm>
            <a:off x="62484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623" name="BadgeTxt"/>
          <p:cNvSpPr/>
          <p:nvPr/>
        </p:nvSpPr>
        <p:spPr>
          <a:xfrm>
            <a:off x="6248400" y="15113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624" name="Text"/>
          <p:cNvSpPr/>
          <p:nvPr/>
        </p:nvSpPr>
        <p:spPr>
          <a:xfrm>
            <a:off x="6858000" y="14732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Geofencing turns geographic boundaries into application events.</a:t>
            </a:r>
          </a:p>
        </p:txBody>
      </p:sp>
      <p:sp>
        <p:nvSpPr>
          <p:cNvPr id="625" name="Badge"/>
          <p:cNvSpPr/>
          <p:nvPr/>
        </p:nvSpPr>
        <p:spPr>
          <a:xfrm>
            <a:off x="6248400" y="22987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626" name="BadgeTxt"/>
          <p:cNvSpPr/>
          <p:nvPr/>
        </p:nvSpPr>
        <p:spPr>
          <a:xfrm>
            <a:off x="6248400" y="22987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627" name="Text"/>
          <p:cNvSpPr/>
          <p:nvPr/>
        </p:nvSpPr>
        <p:spPr>
          <a:xfrm>
            <a:off x="6858000" y="22606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SensorManager and SensorEventListener provide the main pattern for reading sensors.</a:t>
            </a:r>
          </a:p>
        </p:txBody>
      </p:sp>
      <p:sp>
        <p:nvSpPr>
          <p:cNvPr id="628" name="Badge"/>
          <p:cNvSpPr/>
          <p:nvPr/>
        </p:nvSpPr>
        <p:spPr>
          <a:xfrm>
            <a:off x="6248400" y="30861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629" name="BadgeTxt"/>
          <p:cNvSpPr/>
          <p:nvPr/>
        </p:nvSpPr>
        <p:spPr>
          <a:xfrm>
            <a:off x="6248400" y="30861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07</a:t>
            </a:r>
          </a:p>
        </p:txBody>
      </p:sp>
      <p:sp>
        <p:nvSpPr>
          <p:cNvPr id="630" name="Text"/>
          <p:cNvSpPr/>
          <p:nvPr/>
        </p:nvSpPr>
        <p:spPr>
          <a:xfrm>
            <a:off x="6858000" y="30480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Accelerometer measures acceleration; gyroscope measures rotation; proximity detects nearby objects.</a:t>
            </a:r>
          </a:p>
        </p:txBody>
      </p:sp>
      <p:sp>
        <p:nvSpPr>
          <p:cNvPr id="631" name="Badge"/>
          <p:cNvSpPr/>
          <p:nvPr/>
        </p:nvSpPr>
        <p:spPr>
          <a:xfrm>
            <a:off x="6248400" y="3873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632" name="BadgeTxt"/>
          <p:cNvSpPr/>
          <p:nvPr/>
        </p:nvSpPr>
        <p:spPr>
          <a:xfrm>
            <a:off x="6248400" y="3873500"/>
            <a:ext cx="419100" cy="4191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08</a:t>
            </a:r>
          </a:p>
        </p:txBody>
      </p:sp>
      <p:sp>
        <p:nvSpPr>
          <p:cNvPr id="633" name="Text"/>
          <p:cNvSpPr/>
          <p:nvPr/>
        </p:nvSpPr>
        <p:spPr>
          <a:xfrm>
            <a:off x="6858000" y="38354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Good mobile apps balance accuracy, privacy, battery use and device capability.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6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50B5A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4754880"/>
            <a:ext cx="3291840" cy="3291840"/>
          </a:xfrm>
          <a:prstGeom prst="ellipse">
            <a:avLst/>
          </a:prstGeom>
          <a:solidFill>
            <a:srgbClr val="50B5A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78892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28ebace-4356-4858-9b58-046c0f41da08}">
  <we:reference id="WA200010001" version="1.0.0.1" store="en-US" storeType="OMEX"/>
  <we:alternateReferences/>
  <we:properties>
    <we:property name="Microsoft.Office.CampaignId" value="&quot;none&quot;"/>
    <we:property name="claude.fileId" value="&quot;3aa80a3d-1a60-4a43-be77-541cb19c491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1656</TotalTime>
  <Words>1989</Words>
  <Application>Microsoft Office PowerPoint</Application>
  <PresentationFormat>Widescreen</PresentationFormat>
  <Paragraphs>320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Kaveesha Sammani</cp:lastModifiedBy>
  <cp:revision>4</cp:revision>
  <dcterms:created xsi:type="dcterms:W3CDTF">2018-06-07T21:39:02Z</dcterms:created>
  <dcterms:modified xsi:type="dcterms:W3CDTF">2026-08-13T04:38:22Z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