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1177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82712" y="0"/>
            <a:ext cx="4206240" cy="6858000"/>
          </a:xfrm>
          <a:prstGeom prst="rect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98480" y="-914400"/>
            <a:ext cx="2926080" cy="2926080"/>
          </a:xfrm>
          <a:prstGeom prst="ellipse">
            <a:avLst/>
          </a:prstGeom>
          <a:solidFill>
            <a:srgbClr val="50B5AD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589520" y="5120640"/>
            <a:ext cx="2377440" cy="2377440"/>
          </a:xfrm>
          <a:prstGeom prst="ellipse">
            <a:avLst/>
          </a:prstGeom>
          <a:solidFill>
            <a:srgbClr val="50B5AD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854696" y="0"/>
            <a:ext cx="128016" cy="6858000"/>
          </a:xfrm>
          <a:prstGeom prst="rect">
            <a:avLst/>
          </a:prstGeom>
          <a:solidFill>
            <a:srgbClr val="F6DD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982712" y="0"/>
            <a:ext cx="18288" cy="6858000"/>
          </a:xfrm>
          <a:prstGeom prst="rect">
            <a:avLst/>
          </a:prstGeom>
          <a:solidFill>
            <a:srgbClr val="66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DEVELOPMENT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FUNDAMENTALS MODULE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7223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Android Web Services &amp; APIs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APIs, SOAP &amp; REST, JSON, and How Android Apps Talk to Servers</a:t>
            </a:r>
            <a:endParaRPr lang="en-US" sz="1900" dirty="0"/>
          </a:p>
        </p:txBody>
      </p:sp>
      <p:pic>
        <p:nvPicPr>
          <p:cNvPr id="11" name="Image 0" descr="/home/claude/wor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2743200"/>
            <a:ext cx="141732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FUNDAMENTALS  ·  WEB SERVICES &amp; APIs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Contents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778240" y="6336792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Fundamentals  ·  2 / 16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420624" cy="420624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52144" y="138074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Web Service?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148840"/>
            <a:ext cx="420624" cy="420624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148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52144" y="211226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API?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2880360"/>
            <a:ext cx="420624" cy="420624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880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52144" y="284378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Service vs. API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420624" cy="420624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3611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" y="357530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Web Services: SOAP vs. REST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4343400"/>
            <a:ext cx="420624" cy="420624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4343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152144" y="430682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 Methods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8640" y="5074920"/>
            <a:ext cx="420624" cy="420624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5074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152144" y="503834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JSON: The Data Interchange Format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48640" y="5806440"/>
            <a:ext cx="420624" cy="420624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5806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152144" y="576986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vs. XML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355080" y="1417320"/>
            <a:ext cx="420624" cy="420624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355080" y="1417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6958584" y="138074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JSON &amp; XML in Android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355080" y="2148840"/>
            <a:ext cx="420624" cy="420624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55080" y="2148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6958584" y="211226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Consuming APIs in Android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355080" y="2880360"/>
            <a:ext cx="420624" cy="420624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355080" y="2880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6958584" y="284378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APIs with Postman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6355080" y="3611880"/>
            <a:ext cx="420624" cy="420624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355080" y="3611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6958584" y="357530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Mock APIs for Development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6355080" y="4343400"/>
            <a:ext cx="420624" cy="420624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355080" y="4343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6958584" y="430682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All Together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6355080" y="5074920"/>
            <a:ext cx="420624" cy="420624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355080" y="5074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6958584" y="503834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FUNDAMENTALS  ·  WEB SERVICES &amp; APIs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Is a Web Service?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778240" y="6336792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Fundamentals  ·  3 / 16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service is a piece of software that lets two applications talk to each other over a network, usually the internet, using standard, agreed-upon rules.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463040" y="2514600"/>
            <a:ext cx="32004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63040" y="26791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Android App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3383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0" y="2514600"/>
            <a:ext cx="3200400" cy="1463040"/>
          </a:xfrm>
          <a:prstGeom prst="roundRect">
            <a:avLst>
              <a:gd name="adj" fmla="val 5000"/>
            </a:avLst>
          </a:prstGeom>
          <a:solidFill>
            <a:srgbClr val="2D6B66"/>
          </a:solidFill>
          <a:ln w="22225">
            <a:solidFill>
              <a:srgbClr val="2D6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0" y="26791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Service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72400" y="3383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F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on a server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27157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0B5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 →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63440" y="3429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6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Response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45262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" y="4663440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Platform-independent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1792" y="5148072"/>
            <a:ext cx="2276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across different operating systems and programming languages.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45262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56432" y="4663440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Network-accessible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456432" y="5148072"/>
            <a:ext cx="2276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and server can be anywhere — across the room or across the world.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26480" y="45262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91072" y="4663440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data formats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291072" y="5148072"/>
            <a:ext cx="2276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usually exchanged as JSON or XML so both sides understand it.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961120" y="4526280"/>
            <a:ext cx="26060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125712" y="4663440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requests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125712" y="5148072"/>
            <a:ext cx="2276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request carries everything the server needs to respond.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FUNDAMENTALS  ·  WEB SERVICES &amp; APIs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Is an API?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778240" y="6336792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Fundamentals  ·  4 / 16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API (Application Programming Interface) is a contract that lets one piece of software request something from another — without needing to know how it works inside.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ordering food at a restaurant: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3154680"/>
            <a:ext cx="402336" cy="402336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3154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51560" y="309981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(the Client)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051560" y="3483864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an order — you ask for what you want without knowing how it's cooked.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4160520"/>
            <a:ext cx="402336" cy="402336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4160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51560" y="410565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Waiter (the API)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051560" y="4489704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your request to the kitchen and brings the finished dish back to you.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5166360"/>
            <a:ext cx="402336" cy="402336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5166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051560" y="511149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Kitchen (the Server)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051560" y="5495544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actual work — prepares the data or result you asked for.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0" y="1600200"/>
            <a:ext cx="4251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571232" y="1709928"/>
            <a:ext cx="3739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571232" y="2148840"/>
            <a:ext cx="3739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"Get me the weather"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304020" y="2679192"/>
            <a:ext cx="274320" cy="402336"/>
          </a:xfrm>
          <a:prstGeom prst="downArrow">
            <a:avLst/>
          </a:prstGeom>
          <a:solidFill>
            <a:srgbClr val="50B5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315200" y="3108960"/>
            <a:ext cx="4251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571232" y="3218688"/>
            <a:ext cx="3739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571232" y="3657600"/>
            <a:ext cx="3739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the request along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9304020" y="4187952"/>
            <a:ext cx="274320" cy="402336"/>
          </a:xfrm>
          <a:prstGeom prst="downArrow">
            <a:avLst/>
          </a:prstGeom>
          <a:solidFill>
            <a:srgbClr val="50B5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315200" y="4617720"/>
            <a:ext cx="42519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571232" y="4727448"/>
            <a:ext cx="3739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7571232" y="5166360"/>
            <a:ext cx="3739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weather data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FUNDAMENTALS  ·  WEB SERVICES &amp; APIs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Web Service vs. API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778240" y="6336792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Fundamentals  ·  5 / 16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web service is a kind of API, but not every API is a web service. APIs are the broader idea.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11274552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11274552" cy="548640"/>
          </a:xfrm>
          <a:prstGeom prst="rect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18288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80360" y="182880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406640" y="1828800"/>
            <a:ext cx="4050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Service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24688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2880360" y="246888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interface that lets software request functionality — over a network or not.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06640" y="2468880"/>
            <a:ext cx="4050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kind of API that always works over a network.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1127455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33375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required?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880360" y="333756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always — e.g., a local Android SDK call.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06640" y="3337560"/>
            <a:ext cx="4050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— a web service has no meaning without a network.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1127455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42062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2880360" y="420624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fixed rules — can be any interface design.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06640" y="4206240"/>
            <a:ext cx="4050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a defined protocol, such as SOAP or REST.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4983480"/>
            <a:ext cx="1127455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4360" y="50749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2880360" y="507492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Android's Camera API (no internet needed).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06640" y="5074920"/>
            <a:ext cx="4050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REST endpoint like a weather service at a URL.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FUNDAMENTALS  ·  WEB SERVICES &amp; APIs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Types of Web Services: SOAP vs. REST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778240" y="6336792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Fundamentals  ·  6 / 16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24002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1636776"/>
            <a:ext cx="420624" cy="420624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636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5800" y="2194560"/>
            <a:ext cx="2782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85800" y="2624328"/>
            <a:ext cx="2782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strict, XML-only messaging protocol with formal rules. Common in banking and enterprise systems.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4023360"/>
            <a:ext cx="324002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85800" y="4242816"/>
            <a:ext cx="420624" cy="420624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45864" y="1636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85800" y="4800600"/>
            <a:ext cx="2782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85800" y="5230368"/>
            <a:ext cx="2782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flexible architectural style built on standard HTTP. Supports JSON, XML, or plain text.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577328" y="1417320"/>
            <a:ext cx="324002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805928" y="1636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805928" y="1681657"/>
            <a:ext cx="2782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Format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805928" y="2194560"/>
            <a:ext cx="2782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SOAP: XML envelope only.  </a:t>
            </a:r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REST: usually lightweight JSON.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017264" y="1440180"/>
            <a:ext cx="324002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5800" y="4242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245864" y="1682496"/>
            <a:ext cx="2782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Statefulness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245864" y="2160037"/>
            <a:ext cx="2782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can maintain state across calls.  </a:t>
            </a:r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is stateless by design.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017264" y="4023360"/>
            <a:ext cx="324002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245864" y="4242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4245864" y="4338828"/>
            <a:ext cx="2782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4245864" y="4821174"/>
            <a:ext cx="2782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SOAP's XML wrapper adds overhead.  </a:t>
            </a:r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REST/JSON is lighter and faster to parse.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577328" y="4023360"/>
            <a:ext cx="324002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805928" y="4242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7805928" y="4389120"/>
            <a:ext cx="2782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7805928" y="4851545"/>
            <a:ext cx="2782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for strict, secure enterprise contracts.  </a:t>
            </a:r>
          </a:p>
          <a:p>
            <a:pPr marL="0" indent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for most modern mobile and web APIs.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FUNDAMENTALS  ·  WEB SERVICES &amp; APIs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HTTP Request Methods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778240" y="6336792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Fundamentals  ·  7 / 16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 use standard HTTP methods to express an action — mapping directly to CRUD operations.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1691640" cy="777240"/>
          </a:xfrm>
          <a:prstGeom prst="rect">
            <a:avLst/>
          </a:prstGeom>
          <a:solidFill>
            <a:srgbClr val="50B5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1488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286000" y="2148840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3931920" y="2148840"/>
            <a:ext cx="7616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data from the server without changing anything.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2980944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980944"/>
            <a:ext cx="1691640" cy="777240"/>
          </a:xfrm>
          <a:prstGeom prst="rect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980944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286000" y="2980944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3931920" y="2980944"/>
            <a:ext cx="7616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new data to the server to create a resource.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813048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200" y="3813048"/>
            <a:ext cx="1691640" cy="777240"/>
          </a:xfrm>
          <a:prstGeom prst="rect">
            <a:avLst/>
          </a:prstGeom>
          <a:solidFill>
            <a:srgbClr val="F6DD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813048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286000" y="3813048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3931920" y="3813048"/>
            <a:ext cx="7616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an existing resource entirely with new data.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57200" y="4645152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" y="4645152"/>
            <a:ext cx="1691640" cy="777240"/>
          </a:xfrm>
          <a:prstGeom prst="rect">
            <a:avLst/>
          </a:prstGeom>
          <a:solidFill>
            <a:srgbClr val="F6DD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4645152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2286000" y="4645152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3931920" y="4645152"/>
            <a:ext cx="7616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part of an existing resource.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57200" y="5477256"/>
            <a:ext cx="1127455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57200" y="5477256"/>
            <a:ext cx="1691640" cy="777240"/>
          </a:xfrm>
          <a:prstGeom prst="rect">
            <a:avLst/>
          </a:prstGeom>
          <a:solidFill>
            <a:srgbClr val="66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5477256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2286000" y="5477256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3931920" y="5477256"/>
            <a:ext cx="7616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resource from the server.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FUNDAMENTALS  ·  WEB SERVICES &amp; APIs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JSON: The Data Interchange Format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778240" y="6336792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Fundamentals  ·  8 / 16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(JavaScript Object Notation) is the most common format for exchanging data between apps and servers today.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6035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— smaller than XML for the same data</a:t>
            </a:r>
            <a:endParaRPr lang="en-US" sz="165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 — easy to scan and debug</a:t>
            </a:r>
            <a:endParaRPr lang="en-US" sz="165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Language-independent — supported by virtually every platform</a:t>
            </a:r>
            <a:endParaRPr lang="en-US" sz="165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naturally to objects, arrays, and key-value pairs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6766560" y="1463040"/>
            <a:ext cx="48463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949440" y="1645920"/>
            <a:ext cx="4480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"city": "Colombo",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"temperature": 24,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"conditions": "Cloudy",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"forecast": [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{ "day": "Mon", "high": 26 },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{ "day": "Tue", "high": 27 }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]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66560" y="5120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JSON response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FUNDAMENTALS  ·  WEB SERVICES &amp; APIs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JSON vs. XML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778240" y="6336792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Fundamentals  ·  9 / 16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4552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3716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29000" y="1371600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98080" y="1371600"/>
            <a:ext cx="3959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" y="20116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429000" y="201168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 pairs with { } and [ ]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98080" y="2011680"/>
            <a:ext cx="3959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tags, like HTML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1127455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94360" y="28346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Size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429000" y="283464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— less markup overhead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98080" y="2834640"/>
            <a:ext cx="3959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— every value needs open/close tags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1127455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36576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Readability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3429000" y="365760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easy to scan quickly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98080" y="3657600"/>
            <a:ext cx="3959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verbose, but self-descriptive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389120"/>
            <a:ext cx="1127455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4360" y="448056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Speed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3429000" y="448056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to parse on mobile devices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98080" y="4480560"/>
            <a:ext cx="3959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— more text to process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5212080"/>
            <a:ext cx="11274552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94360" y="530352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3429000" y="530352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modern REST APIs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498080" y="5303520"/>
            <a:ext cx="3959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services, legacy systems, config files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FUNDAMENTALS  ·  WEB SERVICES &amp; APIs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Parsing JSON &amp; XML in Android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778240" y="6336792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Fundamentals  ·  10 / 16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24002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1636776"/>
            <a:ext cx="420624" cy="420624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636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5800" y="2194560"/>
            <a:ext cx="2782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org.json (Built-in)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85800" y="2624328"/>
            <a:ext cx="2782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JSONObject and JSONArray ship with Android — no extra dependency needed.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017264" y="1417320"/>
            <a:ext cx="324002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245864" y="1636776"/>
            <a:ext cx="420624" cy="420624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45864" y="1636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245864" y="2194560"/>
            <a:ext cx="2782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Gson (Google)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245864" y="2624328"/>
            <a:ext cx="2782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JSON directly into Kotlin/Java model classes using annotations.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577328" y="1417320"/>
            <a:ext cx="324002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805928" y="1636776"/>
            <a:ext cx="420624" cy="420624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805928" y="1636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805928" y="2194560"/>
            <a:ext cx="2782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Moshi (Square)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805928" y="2624328"/>
            <a:ext cx="2782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modern, Kotlin-first JSON library with adapters and null-safety.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4023360"/>
            <a:ext cx="324002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85800" y="4242816"/>
            <a:ext cx="420624" cy="420624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5800" y="4242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85800" y="4800600"/>
            <a:ext cx="2782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XmlPullParser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85800" y="5230368"/>
            <a:ext cx="2782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Android's native, memory-efficient parser for XML — recommended for most cases.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4017264" y="4023360"/>
            <a:ext cx="324002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245864" y="4242816"/>
            <a:ext cx="420624" cy="420624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245864" y="4242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4245864" y="4800600"/>
            <a:ext cx="2782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SAX Parser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4245864" y="5230368"/>
            <a:ext cx="2782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XML parsing; low memory, good for large files.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7577328" y="4023360"/>
            <a:ext cx="324002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805928" y="4242816"/>
            <a:ext cx="420624" cy="420624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805928" y="4242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7805928" y="4800600"/>
            <a:ext cx="2782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Parser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7805928" y="5230368"/>
            <a:ext cx="27828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the whole XML tree into memory; simplest API, least efficient.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FUNDAMENTALS  ·  WEB SERVICES &amp; APIs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Consuming APIs in Android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778240" y="6336792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Fundamentals  ·  11 / 16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342900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3429000" cy="594360"/>
          </a:xfrm>
          <a:prstGeom prst="rect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Retrofit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" y="2468880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HTTP client that turns REST APIs into Kotlin/Java interfaces. Pairs with Gson or Moshi for parsing. Best fit for most modern apps.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4297680" y="1600200"/>
            <a:ext cx="342900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97680" y="1600200"/>
            <a:ext cx="3429000" cy="594360"/>
          </a:xfrm>
          <a:prstGeom prst="rect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297680" y="160020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OkHttp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26280" y="2468880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Low-level HTTP client handling connections, caching, and interceptors. Often runs underneath Retrofit.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046720" y="1600200"/>
            <a:ext cx="342900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046720" y="1600200"/>
            <a:ext cx="3429000" cy="594360"/>
          </a:xfrm>
          <a:prstGeom prst="rect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046720" y="1600200"/>
            <a:ext cx="3429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Volley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75320" y="2468880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earlier networking library. Simple for small request queues but less flexible for large-scale apps today.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follows the same pattern: build the request → send it over HTTP → receive a status code and payload → parse the payload → update the UI.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FUNDAMENTALS  ·  WEB SERVICES &amp; APIs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Testing APIs with Postman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778240" y="6336792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Fundamentals  ·  12 / 16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603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is a tool that lets developers send API requests and inspect responses — without writing any app code first.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6035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an endpoint works before writing any Android code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the exact JSON or XML structure the server returns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and share request collections with your team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simple checks and repeat tests quickly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766560" y="1463040"/>
            <a:ext cx="4846320" cy="1005840"/>
          </a:xfrm>
          <a:prstGeom prst="roundRect">
            <a:avLst>
              <a:gd name="adj" fmla="val 7273"/>
            </a:avLst>
          </a:prstGeom>
          <a:solidFill>
            <a:srgbClr val="CFEDE3"/>
          </a:solidFill>
          <a:ln w="22225">
            <a:solidFill>
              <a:srgbClr val="2D6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995160" y="146304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6B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</a:t>
            </a:r>
            <a:r>
              <a:rPr lang="en-US" sz="16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/api/weather/colombo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766560" y="2697480"/>
            <a:ext cx="48463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949440" y="288036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200 OK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"city": "Colombo",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"temperature": 24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66560" y="5029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a request and reading the response in Postman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FUNDAMENTALS  ·  WEB SERVICES &amp; APIs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Creating Mock APIs for Development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778240" y="6336792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Fundamentals  ·  13 / 16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mock (fake) API returns realistic sample data without a real backend — useful while the actual server is still being built.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test the Android UI before the real backend is ready</a:t>
            </a:r>
            <a:endParaRPr lang="en-US" sz="16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Safely simulate error responses, like 404 or 500, without breaking anything real</a:t>
            </a:r>
            <a:endParaRPr lang="en-US" sz="16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working during development even when offline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48640" y="3977640"/>
            <a:ext cx="34290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4160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json-server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46634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simple JSON file into a full working REST API in seconds.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97680" y="3977640"/>
            <a:ext cx="34290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80560" y="4160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MockAPI.io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480560" y="46634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hosted, no-code tool for building fake endpoints in the browser.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46720" y="3977640"/>
            <a:ext cx="34290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0" y="4160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Mock Servers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29600" y="4663440"/>
            <a:ext cx="3063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mock endpoint straight from a saved Postman collection.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FUNDAMENTALS  ·  WEB SERVICES &amp; APIs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Putting It All Together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778240" y="6336792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Fundamentals  ·  14 / 16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workflow, from designing an API to shipping it inside an Android app: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2084832" cy="30175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289304" y="2377440"/>
            <a:ext cx="420624" cy="420624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89304" y="2377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94360" y="3063240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API contract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" y="3931920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the endpoints, methods, and JSON shape.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546604" y="3547872"/>
            <a:ext cx="118872" cy="219456"/>
          </a:xfrm>
          <a:prstGeom prst="rightArrow">
            <a:avLst/>
          </a:prstGeom>
          <a:solidFill>
            <a:srgbClr val="50B5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670048" y="2148840"/>
            <a:ext cx="2084832" cy="30175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502152" y="2377440"/>
            <a:ext cx="420624" cy="420624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502152" y="2377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807208" y="3063240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it in Postman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807208" y="3931920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sample requests and confirm the response format.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9452" y="3547872"/>
            <a:ext cx="118872" cy="219456"/>
          </a:xfrm>
          <a:prstGeom prst="rightArrow">
            <a:avLst/>
          </a:prstGeom>
          <a:solidFill>
            <a:srgbClr val="50B5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82896" y="2148840"/>
            <a:ext cx="2084832" cy="30175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715000" y="2377440"/>
            <a:ext cx="420624" cy="420624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715000" y="2377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020056" y="3063240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against a mock API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20056" y="3931920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the Android UI before the real backend exists.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972300" y="3547872"/>
            <a:ext cx="118872" cy="219456"/>
          </a:xfrm>
          <a:prstGeom prst="rightArrow">
            <a:avLst/>
          </a:prstGeom>
          <a:solidFill>
            <a:srgbClr val="50B5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095744" y="2148840"/>
            <a:ext cx="2084832" cy="30175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927848" y="2377440"/>
            <a:ext cx="420624" cy="420624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927848" y="2377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232904" y="3063240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in the real API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232904" y="3931920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the app at the live endpoint once it's ready.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185148" y="3547872"/>
            <a:ext cx="118872" cy="219456"/>
          </a:xfrm>
          <a:prstGeom prst="rightArrow">
            <a:avLst/>
          </a:prstGeom>
          <a:solidFill>
            <a:srgbClr val="50B5A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9308592" y="2148840"/>
            <a:ext cx="2084832" cy="30175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22225">
            <a:solidFill>
              <a:srgbClr val="2D6B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0140696" y="2377440"/>
            <a:ext cx="420624" cy="420624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0140696" y="2377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9445752" y="3063240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&amp; display in the app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445752" y="3931920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Retrofit/Gson (or XmlPullParser) to show the data.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3774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FUNDAMENTALS  ·  WEB SERVICES &amp; APIs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11247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300" b="1" dirty="0">
                <a:solidFill>
                  <a:srgbClr val="26262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Summary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457200" y="1243584"/>
            <a:ext cx="1005840" cy="0"/>
          </a:xfrm>
          <a:prstGeom prst="line">
            <a:avLst/>
          </a:prstGeom>
          <a:noFill/>
          <a:ln w="31750">
            <a:solidFill>
              <a:srgbClr val="66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778240" y="6336792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Fundamentals  ·  15 / 16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420624" cy="420624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52144" y="141732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service lets apps talk to each other over a network; an API is the broader contract for requesting functionality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450592"/>
            <a:ext cx="420624" cy="420624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4505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52144" y="2404872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is strict and XML-only; REST is flexible and usually uses lightweight JSON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438144"/>
            <a:ext cx="420624" cy="420624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438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52144" y="3392424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methods (GET, POST, PUT, PATCH, DELETE) map directly to CRUD operations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4425696"/>
            <a:ext cx="420624" cy="420624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44256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" y="4379976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is the most common data format today — smaller and faster to parse than XML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5413248"/>
            <a:ext cx="420624" cy="420624"/>
          </a:xfrm>
          <a:prstGeom prst="ellipse">
            <a:avLst/>
          </a:prstGeom>
          <a:solidFill>
            <a:srgbClr val="2D6B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5413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152144" y="5367528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and mock APIs let you design, test, and build against an API before the real backend is ready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D6B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291840" cy="3291840"/>
          </a:xfrm>
          <a:prstGeom prst="ellipse">
            <a:avLst/>
          </a:prstGeom>
          <a:solidFill>
            <a:srgbClr val="50B5AD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0" y="4754880"/>
            <a:ext cx="3291840" cy="3291840"/>
          </a:xfrm>
          <a:prstGeom prst="ellipse">
            <a:avLst/>
          </a:prstGeom>
          <a:solidFill>
            <a:srgbClr val="50B5AD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0" y="2788920"/>
            <a:ext cx="12188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0" y="356616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F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1655</Words>
  <Application>Microsoft Office PowerPoint</Application>
  <PresentationFormat>Widescreen</PresentationFormat>
  <Paragraphs>280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Kaveesha Sammani</cp:lastModifiedBy>
  <cp:revision>2</cp:revision>
  <dcterms:created xsi:type="dcterms:W3CDTF">2026-08-06T07:46:12Z</dcterms:created>
  <dcterms:modified xsi:type="dcterms:W3CDTF">2026-08-07T07:59:51Z</dcterms:modified>
</cp:coreProperties>
</file>