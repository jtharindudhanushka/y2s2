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22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82712" y="0"/>
            <a:ext cx="128016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|  UNIVERSITY OF KELANIYA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UI Design Patterns, Navigation &amp; Material Components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— UI Design Patterns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Foundations: Views, Layouts &amp; Events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Moving Between Screens: Intents &amp; Data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Material Design &amp; Responsive Layout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Structuring App-Wide Navigation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Displaying Data at Scale: Lists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870448"/>
            <a:ext cx="3657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Sammani Maddumahewage   ·   Lecturer (Probationary)   ·   BSc (Hons) in Information Technology</a:t>
            </a:r>
            <a:endParaRPr lang="en-US" sz="1150" dirty="0"/>
          </a:p>
        </p:txBody>
      </p:sp>
      <p:pic>
        <p:nvPicPr>
          <p:cNvPr id="12" name="Image 0" descr="/home/claude/work/image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331720"/>
            <a:ext cx="22860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FOUNDATIONS: VIEWS, LAYOUTS &amp; EVENTS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Views &amp; Layouts: Building the Login Screen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Screen in XML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that control how everything inside them is positioned.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LinearLayout, ConstraintLayout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components the user actually sees and touches.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TextView, EditText, Button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we build today starts the same way: a layout in XML, holding views. We'll use this Login screen as our running example for the rest of the lecture.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0" y="17373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182880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&lt;LinearLayout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android:layout_width="match_parent"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android:layout_height="match_parent"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android:orientation="vertical"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android:padding="24dp"&gt;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&lt;EditText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android:id="@+id/etUsername"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android:hint="Username" /&gt;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&lt;EditText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android:id="@+id/etPassword"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android:hint="Password"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android:inputType="textPassword" /&gt;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android:id="@+id/btnLogin"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android:text="Login" /&gt;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&lt;/LinearLayout&gt;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FOUNDATIONS: VIEWS, LAYOUTS &amp; EVENTS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Making the UI Interactive: Event Handling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2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Android Responds to the User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the Login Button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XML we just wrote is silent — tapping Login does nothing until we attach Kotlin code to it.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view: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25146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username = findViewById&lt;EditText&gt;(R.id.etUsername)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password = findViewById&lt;EditText&gt;(R.id.etPassword)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loginButton = findViewById&lt;Button&gt;(R.id.btnLogin)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57200" y="36576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Every event follows the same flow: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 →  Event Generated  →  Listener Activated  →  Code Executed  →  UI Feedback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pattern, the UI is static and the app is non-interactive. It's the single idea behind every button, menu, and list item we'll wire up for the rest of the lecture.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17373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37960" y="182880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loginButton.setOnClickListener {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 user = username.text.toString()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 pass = password.text.toString()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(user.isNotEmpty() &amp;&amp; pass.isNotEmpty()) {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Toast.makeText(this, "Login Successful",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Toast.LENGTH_SHORT).show()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Toast.makeText(this, "Please enter all fields",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Toast.LENGTH_SHORT).show()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MOVING BETWEEN SCREENS: INTENTS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Navigating With Explicit Intents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3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Intent?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Home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login is only useful if it takes the user somewhere. An Intent is the messaging object that makes that jump happen.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Intent names both: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Activity (context) — this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Activity class — HomeActivity::class.java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links Login to a Registration screen, and back again: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7091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4800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Registration -&gt; Login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tvLoginLink.setOnClickListener { finish() }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400800" y="17373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182880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Continues the Login button's click listener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(isValidUser) {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 intent = Intent(this, HomeActivity::class.java)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startActivity(intent)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 -&gt; Registration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btnGoToRegister.setOnClickListener {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 intent = Intent(this, RegisterActivity::class.java)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startActivity(intent)</a:t>
            </a:r>
            <a:endParaRPr lang="en-US" sz="10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MOVING BETWEEN SCREENS: INTENTS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Passing &amp; Receiving Data Between Activities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4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Data on the Way Out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on the Way In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Just before startActivity(intent) on the Login screen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intent.putExtra("USERNAME", username)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startActivity(intent)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29718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putExtra() attaches key–value data to the Intent — here, the username the person just logged in with.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Intent from the previous slide; we're simply adding a payload to it before it launches HomeActivity.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18288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HomeActivity.onCreate()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username = intent.getStringExtra("USERNAME")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tvWelcome.text = "Welcome $username"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0" y="3108960"/>
            <a:ext cx="5349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getStringExtra() reads the value back out by the same key used in putExtra().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send-and-receive pattern enables: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of the next screen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sharing between Activities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updates driven by real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MATERIAL DESIGN &amp; RESPONSIVE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 Design: The Principles Behind Android's UI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5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Foundational Principles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EditText Isn't Enough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Material is Metaphorical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behave like physical objects — buttons look pressable, cards look elevated.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Bold, Intentional Design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typography and meaningful color make primary actions and errors stand out.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Motion Provides Meaning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Ripples and transitions — like the one between our Login and Registration screens — guide attention and confirm cause and effect.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0" y="173736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&lt;EditText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android:hint="Email" /&gt;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0" y="260604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EditText: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built-in error handling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plain, with no visual feedback</a:t>
            </a:r>
            <a:endParaRPr lang="en-US" sz="130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introduces TextInputLayout, which wraps EditText and applies all three principles above at once — that's what we build next.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MATERIAL DESIGN &amp; RESPONSIVE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 Components in Practice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6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Field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Field, With a Visibility Toggle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TextInputLayout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android:layout_width="match_parent"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android:layout_height="wrap_content"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android:hint="Email Address"&gt;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TextInputEditText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android:id="@+id/etEmail"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android:layout_width="match_parent"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android:layout_height="wrap_content"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android:inputType="textEmailAddress"/&gt;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TextInputLayout&gt;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6400800" y="1737360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182880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TextInputLayout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android:layout_width="match_parent"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android:layout_height="wrap_content"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app:endIconMode="password_toggle"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android:hint="Password"&gt;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TextInputEditText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android:id="@+id/etPassword"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android:layout_width="match_parent"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android:layout_height="wrap_content"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android:inputType="textPassword"/&gt;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&lt;/com.google.android.material.textfield.</a:t>
            </a:r>
            <a:endParaRPr lang="en-US" sz="103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TextInputLayout&gt;</a:t>
            </a:r>
            <a:endParaRPr lang="en-US" sz="1030" dirty="0"/>
          </a:p>
        </p:txBody>
      </p:sp>
      <p:sp>
        <p:nvSpPr>
          <p:cNvPr id="21" name="Text 18"/>
          <p:cNvSpPr/>
          <p:nvPr/>
        </p:nvSpPr>
        <p:spPr>
          <a:xfrm>
            <a:off x="6400800" y="57607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app:endIconMode="password_toggle" adds a show/hide eye icon for free — no extra Kotlin code needed.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MATERIAL DESIGN &amp; RESPONSIVE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Designing for Every Screen: Responsive Layout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7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Responsive UI Must 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We're Already Using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we design has to keep working as conditions change: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correctly on every screen size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orientation changes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accessible at any density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right is what lets the same Login layout we built in Part 1 look correct on a small phone and a large tablet alike.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0" y="173736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ConstraintLayout over fixed positioning for complex screens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fixed pixel dimensions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spacing with dp, and text with sp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multiple device configurations before shipping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0" y="470916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480060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android:padding="24dp"     &lt;!-- spacing: dp --&gt;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android:textSize="16sp"    &lt;!-- text: sp --&gt;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an App-Wide Navigation Structure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8 / 16</a:t>
            </a:r>
            <a:endParaRPr lang="en-US" sz="900" dirty="0"/>
          </a:p>
        </p:txBody>
      </p:sp>
      <p:pic>
        <p:nvPicPr>
          <p:cNvPr id="14" name="Image 1" descr="/home/claude/work/images/nav_patte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5577840" cy="30358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09360" y="1737360"/>
            <a:ext cx="5440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every screen has stood alone. A real app needs a consistent way for users to move between all of its top-level destinations.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— best for 3–5 destinations used frequently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— best for switching between related views of the same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Drawer — best for many destinations, including infrequent ones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 App Bar (Toolbar) sits above all three — we'll build that first.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Navigation: The Toolbar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9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&amp; Menu XML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Menu Clicks in Kotlin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&lt;com.google.android.material.appbar.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MaterialToolbar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android:id="@+id/toolbar"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android:layout_width="match_parent"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android:layout_height="wrap_content"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android:title="Home"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app:menu="@menu/top_menu"/&gt;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res/menu/top_menu.xml --&gt;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&lt;menu xmlns:android="..."&gt;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&lt;item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android:id="@+id/action_logout"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android:title="Logout"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android:showAsAction="always"/&gt;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&lt;/menu&gt;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173736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18288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toolbar.setOnMenuItemClickListener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(it.itemId == R.id.action_logout)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finish()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false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0" y="347472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Toolbar: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current screen title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action items, like the Logout button above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consistent branding across screens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tapping Logout calls finish() immediately — one accidental tap logs the user out. Let's fix that.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Confirming Actions: Dialogs &amp; Alerts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10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the Logout Action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Dialogs Matter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Replaces the bare finish() call from the Toolbar's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logout handler on the previous slide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AlertDialog.Builder(this)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.setTitle("Logout")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.setMessage("Do you want to logout?")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.setPositiveButton("Yes") { _, _ -&gt; finish()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.setNegativeButton("No", null)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37947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setPositiveButton and setNegativeButton each take a lambda that only runs when that button is tapped. setNegativeButton("No", null) simply dismisses the dialog.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17373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 are used to: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destructive or important action, like logging out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warnings before something irreversible happens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short-lived information without leaving the current screen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Bottom Navigation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11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&amp; Menu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Selection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&lt;com.google.android.material.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bottomnavigation.BottomNavigationView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android:id="@+id/bottomNavigation"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android:layout_width="match_parent"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android:layout_height="wrap_content"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app:menu="@menu/bottom_menu"/&gt;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res/menu/bottom_menu.xml --&gt;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&lt;menu xmlns:android="..."&gt;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&lt;item android:id="@+id/nav_home"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android:title="Home"/&gt;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&lt;item android:id="@+id/nav_users"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android:title="Users"/&gt;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&lt;/menu&gt;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173736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18288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bottomNavigation.setOnItemSelectedListener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(it.itemId)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R.id.nav_home -&gt; true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R.id.nav_users -&gt; true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-&gt; false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0" y="365760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quick access to top-level destinations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3–5 sections, not more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pattern in modern Android apps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Navigation Drawer (Left Panel)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12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DrawerLayout Structure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Drawer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&lt;androidx.drawerlayout.widget.DrawerLayout&gt;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&lt;FrameLayout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android:id="@+id/container"/&gt;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&lt;com.google.android.material.navigation.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NavigationView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app:menu="@menu/drawer_menu"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android:layout_gravity="start"/&gt;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&lt;/androidx.drawerlayout.widget.DrawerLayout&gt;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737360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 Drawer: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in from the left edge of the screen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for apps with many features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larger, feature-rich apps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FrameLayout swaps in whichever screen is selected from the drawer's menu. Swapping content in and out of one container, without creating a new Activity, is exactly the problem Fragments are built to solve.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STRUCTURING APP-WIDE NAVIGATION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Scaling Beyond Activities: Why Fragments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13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One Activity Per Screen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 Solution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 a Toolbar, Bottom Navigation, and a Drawer — but if every destination is a full Activity, we pay for it: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memory usage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navigation logic between screens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toolbars, drawers, and bottom nav on every screen</a:t>
            </a:r>
            <a:endParaRPr lang="en-US" sz="13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 represents a portion of the UI, not a whole screen, and lives inside an Activity with its own lifecycle.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0" y="17373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solve the problem by: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multiple screens to live inside one Activity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dynamic UI updates without recreating the Activity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naturally with the drawer and bottom nav we just built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used for: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drawer content panels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sections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DISPLAYING DATA AT SCALE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RecyclerView: Displaying Lists Efficiently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74536" y="6291072"/>
            <a:ext cx="5614416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4536" y="6341364"/>
            <a:ext cx="5614416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4536" y="6391656"/>
            <a:ext cx="5614416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work/image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6227064"/>
            <a:ext cx="365760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0" y="6336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progress 14 /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&amp; ViewHolder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2984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the RecyclerView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9632" y="1417320"/>
            <a:ext cx="0" cy="47091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17373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UserAdapter(private val users: List&lt;String&gt;) :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RecyclerView.Adapter&lt;UserAdapter.UserViewHolder&gt;() {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UserViewHolder(view: View) :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RecyclerView.ViewHolder(view) {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name: TextView =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view.findViewById(R.id.tvUserName)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 fun onCreateViewHolder(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parent: ViewGroup, viewType: Int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 UserViewHolder {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view = LayoutInflater.from(parent.context)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.inflate(R.layout.item_user, parent, false)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UserViewHolder(view)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 fun onBindViewHolder(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holder: UserViewHolder, position: Int) {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holder.name.text = users[position]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 fun getItemCount(): Int = users.size</a:t>
            </a:r>
            <a:endParaRPr lang="en-US" sz="96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6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40080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2F7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18288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recyclerView.layoutManager =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LinearLayoutManager(this)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recyclerView.adapter = UserAdapter(userList)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97180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 destination we added to the Bottom Navigation menu needs to show a real, scrollable list — this is how.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parts: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— the scrolling container in the layout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— turns data into rows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ViewHolder — caches each row's view references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LayoutManager — arranges rows (linear, grid, ...)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91440"/>
          </a:xfrm>
          <a:prstGeom prst="rect">
            <a:avLst/>
          </a:prstGeom>
          <a:solidFill>
            <a:srgbClr val="66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20256"/>
            <a:ext cx="12191695" cy="9144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login screen to a fully navigable, multi-screen app — every piece we built today, in order: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Events  →  Intents &amp; Data  →  Material Design  →  App Navigation  →  Lists</a:t>
            </a:r>
            <a:endParaRPr lang="en-US" sz="1400" dirty="0"/>
          </a:p>
        </p:txBody>
      </p:sp>
      <p:pic>
        <p:nvPicPr>
          <p:cNvPr id="8" name="Image 0" descr="/home/claude/work/image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5074920"/>
            <a:ext cx="118872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2649</Words>
  <Application>Microsoft Office PowerPoint</Application>
  <PresentationFormat>Widescreen</PresentationFormat>
  <Paragraphs>360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Kaveesha Sammani</cp:lastModifiedBy>
  <cp:revision>2</cp:revision>
  <dcterms:created xsi:type="dcterms:W3CDTF">2026-07-20T08:55:29Z</dcterms:created>
  <dcterms:modified xsi:type="dcterms:W3CDTF">2026-07-20T09:01:13Z</dcterms:modified>
</cp:coreProperties>
</file>