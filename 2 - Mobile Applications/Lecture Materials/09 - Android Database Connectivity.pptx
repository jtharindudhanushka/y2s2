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webextensions/taskpanes.xml" ContentType="application/vnd.ms-office.webextensiontaskpanes+xml"/>
  <Override PartName="/ppt/webextensions/webextension1.xml" ContentType="application/vnd.ms-office.webextension+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thumbnail" Target="docProps/thumbnail.jpeg"/><Relationship Id="rId2" Type="http://schemas.openxmlformats.org/officeDocument/2006/relationships/officeDocument" Target="ppt/presentation.xml"/><Relationship Id="rId1" Type="http://schemas.microsoft.com/office/2011/relationships/webextensiontaskpanes" Target="ppt/webextensions/taskpanes.xml"/><Relationship Id="rId6" Type="http://schemas.openxmlformats.org/officeDocument/2006/relationships/custom-properties" Target="docProps/custom.xml"/><Relationship Id="rId5" Type="http://schemas.openxmlformats.org/officeDocument/2006/relationships/extended-properties" Target="docProps/app.xml"/><Relationship Id="rId4" Type="http://schemas.openxmlformats.org/package/2006/relationships/metadata/core-properties" Target="docProps/core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4"/>
  </p:sldMasterIdLst>
  <p:sldIdLst>
    <p:sldId id="300" r:id="rId5"/>
    <p:sldId id="301" r:id="rId6"/>
    <p:sldId id="302" r:id="rId7"/>
    <p:sldId id="303" r:id="rId8"/>
    <p:sldId id="304" r:id="rId9"/>
    <p:sldId id="305" r:id="rId10"/>
    <p:sldId id="306" r:id="rId11"/>
    <p:sldId id="307" r:id="rId12"/>
    <p:sldId id="308" r:id="rId13"/>
    <p:sldId id="309" r:id="rId14"/>
    <p:sldId id="310" r:id="rId15"/>
    <p:sldId id="311" r:id="rId16"/>
    <p:sldId id="312" r:id="rId17"/>
    <p:sldId id="313" r:id="rId18"/>
    <p:sldId id="314" r:id="rId19"/>
    <p:sldId id="315" r:id="rId20"/>
    <p:sldId id="316" r:id="rId21"/>
    <p:sldId id="317" r:id="rId22"/>
    <p:sldId id="318" r:id="rId23"/>
    <p:sldId id="319" r:id="rId24"/>
    <p:sldId id="320" r:id="rId25"/>
    <p:sldId id="321" r:id="rId26"/>
    <p:sldId id="322" r:id="rId27"/>
    <p:sldId id="323" r:id="rId28"/>
    <p:sldId id="324" r:id="rId29"/>
    <p:sldId id="325" r:id="rId30"/>
    <p:sldId id="326" r:id="rId31"/>
    <p:sldId id="327" r:id="rId32"/>
    <p:sldId id="328" r:id="rId33"/>
    <p:sldId id="329" r:id="rId34"/>
    <p:sldId id="330" r:id="rId35"/>
    <p:sldId id="331" r:id="rId36"/>
    <p:sldId id="332" r:id="rId37"/>
    <p:sldId id="333" r:id="rId3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9C27275A-5004-4488-BB2B-8541C3EB84DB}" v="6" dt="2018-08-08T09:05:58.341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51"/>
    <p:restoredTop sz="94647"/>
  </p:normalViewPr>
  <p:slideViewPr>
    <p:cSldViewPr snapToGrid="0" snapToObjects="1">
      <p:cViewPr varScale="1">
        <p:scale>
          <a:sx n="82" d="100"/>
          <a:sy n="82" d="100"/>
        </p:scale>
        <p:origin x="686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slide" Target="slides/slide22.xml"/><Relationship Id="rId39" Type="http://schemas.openxmlformats.org/officeDocument/2006/relationships/presProps" Target="presProps.xml"/><Relationship Id="rId21" Type="http://schemas.openxmlformats.org/officeDocument/2006/relationships/slide" Target="slides/slide17.xml"/><Relationship Id="rId34" Type="http://schemas.openxmlformats.org/officeDocument/2006/relationships/slide" Target="slides/slide30.xml"/><Relationship Id="rId42" Type="http://schemas.openxmlformats.org/officeDocument/2006/relationships/tableStyles" Target="tableStyles.xml"/><Relationship Id="rId7" Type="http://schemas.openxmlformats.org/officeDocument/2006/relationships/slide" Target="slides/slide3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29" Type="http://schemas.openxmlformats.org/officeDocument/2006/relationships/slide" Target="slides/slide25.xml"/><Relationship Id="rId41" Type="http://schemas.openxmlformats.org/officeDocument/2006/relationships/theme" Target="theme/theme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slide" Target="slides/slide28.xml"/><Relationship Id="rId37" Type="http://schemas.openxmlformats.org/officeDocument/2006/relationships/slide" Target="slides/slide33.xml"/><Relationship Id="rId40" Type="http://schemas.openxmlformats.org/officeDocument/2006/relationships/viewProps" Target="viewProps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slide" Target="slides/slide24.xml"/><Relationship Id="rId36" Type="http://schemas.openxmlformats.org/officeDocument/2006/relationships/slide" Target="slides/slide32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openxmlformats.org/officeDocument/2006/relationships/slide" Target="slides/slide27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30" Type="http://schemas.openxmlformats.org/officeDocument/2006/relationships/slide" Target="slides/slide26.xml"/><Relationship Id="rId35" Type="http://schemas.openxmlformats.org/officeDocument/2006/relationships/slide" Target="slides/slide31.xml"/><Relationship Id="rId43" Type="http://schemas.microsoft.com/office/2015/10/relationships/revisionInfo" Target="revisionInfo.xml"/><Relationship Id="rId8" Type="http://schemas.openxmlformats.org/officeDocument/2006/relationships/slide" Target="slides/slide4.xml"/><Relationship Id="rId3" Type="http://schemas.openxmlformats.org/officeDocument/2006/relationships/customXml" Target="../customXml/item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openxmlformats.org/officeDocument/2006/relationships/slide" Target="slides/slide29.xml"/><Relationship Id="rId38" Type="http://schemas.openxmlformats.org/officeDocument/2006/relationships/slide" Target="slides/slide34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982712" y="0"/>
            <a:ext cx="4206240" cy="6858000"/>
          </a:xfrm>
          <a:prstGeom prst="rect">
            <a:avLst/>
          </a:prstGeom>
          <a:solidFill>
            <a:srgbClr val="2D6B66"/>
          </a:solidFill>
          <a:ln/>
        </p:spPr>
        <p:txBody>
          <a:bodyPr wrap="square" lIns="0" tIns="0" rIns="0" bIns="0" rtlCol="0" anchor="t"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10698480" y="-914400"/>
            <a:ext cx="2926080" cy="2926080"/>
          </a:xfrm>
          <a:prstGeom prst="ellipse">
            <a:avLst/>
          </a:prstGeom>
          <a:solidFill>
            <a:srgbClr val="50B5AD">
              <a:alpha val="45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7589520" y="5120640"/>
            <a:ext cx="2377440" cy="2377440"/>
          </a:xfrm>
          <a:prstGeom prst="ellipse">
            <a:avLst/>
          </a:prstGeom>
          <a:solidFill>
            <a:srgbClr val="50B5AD">
              <a:alpha val="45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7854696" y="0"/>
            <a:ext cx="128016" cy="6858000"/>
          </a:xfrm>
          <a:prstGeom prst="rect">
            <a:avLst/>
          </a:prstGeom>
          <a:solidFill>
            <a:srgbClr val="F6DD26"/>
          </a:solidFill>
          <a:ln/>
        </p:spPr>
        <p:txBody>
          <a:bodyPr wrap="square" lIns="0" tIns="0" rIns="0" bIns="0" rtlCol="0" anchor="t"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7982712" y="0"/>
            <a:ext cx="18288" cy="6858000"/>
          </a:xfrm>
          <a:prstGeom prst="rect">
            <a:avLst/>
          </a:prstGeom>
          <a:solidFill>
            <a:srgbClr val="660000"/>
          </a:solidFill>
          <a:ln/>
        </p:spPr>
        <p:txBody>
          <a:bodyPr wrap="square" lIns="0" tIns="0" rIns="0" bIns="0" rtlCol="0" anchor="t"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457200" y="502920"/>
            <a:ext cx="6949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 spc="200" dirty="0">
                <a:solidFill>
                  <a:srgbClr val="2D6B66"/>
                </a:solidFill>
                <a:latin typeface="Calibri" pitchFamily="34" charset="0"/>
                <a:cs typeface="Calibri" pitchFamily="34" charset="0"/>
              </a:rPr>
              <a:t>MOBILE APPLICATION DEVELOPMENT</a:t>
            </a:r>
          </a:p>
        </p:txBody>
      </p:sp>
      <p:sp>
        <p:nvSpPr>
          <p:cNvPr id="8" name="Text 6"/>
          <p:cNvSpPr/>
          <p:nvPr/>
        </p:nvSpPr>
        <p:spPr>
          <a:xfrm>
            <a:off x="457200" y="868680"/>
            <a:ext cx="6949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595959"/>
                </a:solidFill>
                <a:latin typeface="Calibri" pitchFamily="34" charset="0"/>
                <a:cs typeface="Calibri" pitchFamily="34" charset="0"/>
              </a:rPr>
              <a:t>BSC (HONS) IN INFORMATION TECHNOLOGY</a:t>
            </a:r>
          </a:p>
        </p:txBody>
      </p:sp>
      <p:sp>
        <p:nvSpPr>
          <p:cNvPr id="9" name="Text 7"/>
          <p:cNvSpPr/>
          <p:nvPr/>
        </p:nvSpPr>
        <p:spPr>
          <a:xfrm>
            <a:off x="457200" y="1706880"/>
            <a:ext cx="722376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3600" b="1" dirty="0">
                <a:solidFill>
                  <a:srgbClr val="262626"/>
                </a:solidFill>
                <a:latin typeface="Calibri Light" pitchFamily="34" charset="0"/>
                <a:cs typeface="Calibri Light" pitchFamily="34" charset="0"/>
              </a:rPr>
              <a:t>Android Database Connectivity</a:t>
            </a:r>
          </a:p>
        </p:txBody>
      </p:sp>
      <p:sp>
        <p:nvSpPr>
          <p:cNvPr id="10" name="Text 8"/>
          <p:cNvSpPr/>
          <p:nvPr/>
        </p:nvSpPr>
        <p:spPr>
          <a:xfrm>
            <a:off x="457200" y="3429000"/>
            <a:ext cx="71323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900" dirty="0">
                <a:solidFill>
                  <a:srgbClr val="595959"/>
                </a:solidFill>
                <a:latin typeface="Calibri" pitchFamily="34" charset="0"/>
                <a:cs typeface="Calibri" pitchFamily="34" charset="0"/>
              </a:rPr>
              <a:t>Local Storage (SQLite / Room), Cloud Databases (Firebase) &amp; Data Synchronization</a:t>
            </a:r>
          </a:p>
        </p:txBody>
      </p:sp>
      <p:pic>
        <p:nvPicPr>
          <p:cNvPr id="11" name="Image 0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326880" y="2743200"/>
            <a:ext cx="1417320" cy="146304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r"/>
          <p:cNvSpPr/>
          <p:nvPr/>
        </p:nvSpPr>
        <p:spPr>
          <a:xfrm>
            <a:off x="0" y="0"/>
            <a:ext cx="12184380" cy="109728"/>
          </a:xfrm>
          <a:prstGeom prst="rect">
            <a:avLst/>
          </a:prstGeom>
          <a:solidFill>
            <a:srgbClr val="2D6B66"/>
          </a:solidFill>
          <a:ln/>
        </p:spPr>
        <p:txBody>
          <a:bodyPr wrap="square" lIns="0" tIns="0" rIns="0" bIns="0" rtlCol="0" anchor="t"/>
          <a:lstStyle/>
          <a:p>
            <a:endParaRPr lang="en-US"/>
          </a:p>
        </p:txBody>
      </p:sp>
      <p:sp>
        <p:nvSpPr>
          <p:cNvPr id="3" name="Text"/>
          <p:cNvSpPr/>
          <p:nvPr/>
        </p:nvSpPr>
        <p:spPr>
          <a:xfrm>
            <a:off x="457200" y="237744"/>
            <a:ext cx="10515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spc="200" dirty="0">
                <a:solidFill>
                  <a:srgbClr val="2D6B66"/>
                </a:solidFill>
                <a:latin typeface="Calibri" pitchFamily="34" charset="0"/>
                <a:cs typeface="Calibri" pitchFamily="34" charset="0"/>
              </a:rPr>
              <a:t>MOBILE APPLICATION DEVELOPMENT  ·  DATABASE CONNECTIVITY</a:t>
            </a:r>
          </a:p>
        </p:txBody>
      </p:sp>
      <p:sp>
        <p:nvSpPr>
          <p:cNvPr id="4" name="Text"/>
          <p:cNvSpPr/>
          <p:nvPr/>
        </p:nvSpPr>
        <p:spPr>
          <a:xfrm>
            <a:off x="457200" y="530352"/>
            <a:ext cx="1123950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3300" b="1" dirty="0">
                <a:solidFill>
                  <a:srgbClr val="262626"/>
                </a:solidFill>
                <a:latin typeface="Calibri Light" pitchFamily="34" charset="0"/>
                <a:cs typeface="Calibri Light" pitchFamily="34" charset="0"/>
              </a:rPr>
              <a:t>Learning Outcomes</a:t>
            </a:r>
          </a:p>
        </p:txBody>
      </p:sp>
      <p:sp>
        <p:nvSpPr>
          <p:cNvPr id="5" name="Rule"/>
          <p:cNvSpPr/>
          <p:nvPr/>
        </p:nvSpPr>
        <p:spPr>
          <a:xfrm>
            <a:off x="457200" y="1243584"/>
            <a:ext cx="1005840" cy="0"/>
          </a:xfrm>
          <a:prstGeom prst="line">
            <a:avLst/>
          </a:prstGeom>
          <a:noFill/>
          <a:ln w="31750">
            <a:solidFill>
              <a:srgbClr val="660000"/>
            </a:solidFill>
            <a:prstDash val="solid"/>
          </a:ln>
        </p:spPr>
        <p:txBody>
          <a:bodyPr wrap="square" lIns="0" tIns="0" rIns="0" bIns="0" rtlCol="0" anchor="t"/>
          <a:lstStyle/>
          <a:p>
            <a:endParaRPr lang="en-US"/>
          </a:p>
        </p:txBody>
      </p:sp>
      <p:sp>
        <p:nvSpPr>
          <p:cNvPr id="6" name="Text"/>
          <p:cNvSpPr/>
          <p:nvPr/>
        </p:nvSpPr>
        <p:spPr>
          <a:xfrm>
            <a:off x="8778240" y="6337300"/>
            <a:ext cx="2954020" cy="2921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300" dirty="0">
                <a:solidFill>
                  <a:srgbClr val="595959"/>
                </a:solidFill>
                <a:latin typeface="Calibri" pitchFamily="34" charset="0"/>
                <a:cs typeface="Calibri" pitchFamily="34" charset="0"/>
              </a:rPr>
              <a:t>Mobile Application Development  ·  2 / 34</a:t>
            </a:r>
          </a:p>
        </p:txBody>
      </p:sp>
      <p:sp>
        <p:nvSpPr>
          <p:cNvPr id="7" name="Badge"/>
          <p:cNvSpPr/>
          <p:nvPr/>
        </p:nvSpPr>
        <p:spPr>
          <a:xfrm>
            <a:off x="457200" y="1511300"/>
            <a:ext cx="419100" cy="419100"/>
          </a:xfrm>
          <a:prstGeom prst="ellipse">
            <a:avLst/>
          </a:prstGeom>
          <a:solidFill>
            <a:srgbClr val="2D6B6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BadgeTxt"/>
          <p:cNvSpPr/>
          <p:nvPr/>
        </p:nvSpPr>
        <p:spPr>
          <a:xfrm>
            <a:off x="457200" y="1511300"/>
            <a:ext cx="419100" cy="4191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cs typeface="Calibri" pitchFamily="34" charset="0"/>
              </a:rPr>
              <a:t>01</a:t>
            </a:r>
          </a:p>
        </p:txBody>
      </p:sp>
      <p:sp>
        <p:nvSpPr>
          <p:cNvPr id="9" name="Text"/>
          <p:cNvSpPr/>
          <p:nvPr/>
        </p:nvSpPr>
        <p:spPr>
          <a:xfrm>
            <a:off x="1066800" y="1473200"/>
            <a:ext cx="106680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2000" dirty="0">
                <a:solidFill>
                  <a:srgbClr val="262626"/>
                </a:solidFill>
                <a:latin typeface="Calibri" pitchFamily="34" charset="0"/>
                <a:cs typeface="Calibri" pitchFamily="34" charset="0"/>
              </a:rPr>
              <a:t>Explain why Android applications require persistent data storage.</a:t>
            </a:r>
          </a:p>
        </p:txBody>
      </p:sp>
      <p:sp>
        <p:nvSpPr>
          <p:cNvPr id="10" name="Badge"/>
          <p:cNvSpPr/>
          <p:nvPr/>
        </p:nvSpPr>
        <p:spPr>
          <a:xfrm>
            <a:off x="457200" y="2349500"/>
            <a:ext cx="419100" cy="419100"/>
          </a:xfrm>
          <a:prstGeom prst="ellipse">
            <a:avLst/>
          </a:prstGeom>
          <a:solidFill>
            <a:srgbClr val="2D6B6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BadgeTxt"/>
          <p:cNvSpPr/>
          <p:nvPr/>
        </p:nvSpPr>
        <p:spPr>
          <a:xfrm>
            <a:off x="457200" y="2349500"/>
            <a:ext cx="419100" cy="4191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cs typeface="Calibri" pitchFamily="34" charset="0"/>
              </a:rPr>
              <a:t>02</a:t>
            </a:r>
          </a:p>
        </p:txBody>
      </p:sp>
      <p:sp>
        <p:nvSpPr>
          <p:cNvPr id="12" name="Text"/>
          <p:cNvSpPr/>
          <p:nvPr/>
        </p:nvSpPr>
        <p:spPr>
          <a:xfrm>
            <a:off x="1066800" y="2311400"/>
            <a:ext cx="106680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2000" dirty="0">
                <a:solidFill>
                  <a:srgbClr val="262626"/>
                </a:solidFill>
                <a:latin typeface="Calibri" pitchFamily="34" charset="0"/>
                <a:cs typeface="Calibri" pitchFamily="34" charset="0"/>
              </a:rPr>
              <a:t>Select an appropriate storage approach: SharedPreferences, SQLite, Room, or cloud storage.</a:t>
            </a:r>
          </a:p>
        </p:txBody>
      </p:sp>
      <p:sp>
        <p:nvSpPr>
          <p:cNvPr id="13" name="Badge"/>
          <p:cNvSpPr/>
          <p:nvPr/>
        </p:nvSpPr>
        <p:spPr>
          <a:xfrm>
            <a:off x="457200" y="3187700"/>
            <a:ext cx="419100" cy="419100"/>
          </a:xfrm>
          <a:prstGeom prst="ellipse">
            <a:avLst/>
          </a:prstGeom>
          <a:solidFill>
            <a:srgbClr val="2D6B6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BadgeTxt"/>
          <p:cNvSpPr/>
          <p:nvPr/>
        </p:nvSpPr>
        <p:spPr>
          <a:xfrm>
            <a:off x="457200" y="3187700"/>
            <a:ext cx="419100" cy="4191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cs typeface="Calibri" pitchFamily="34" charset="0"/>
              </a:rPr>
              <a:t>03</a:t>
            </a:r>
          </a:p>
        </p:txBody>
      </p:sp>
      <p:sp>
        <p:nvSpPr>
          <p:cNvPr id="15" name="Text"/>
          <p:cNvSpPr/>
          <p:nvPr/>
        </p:nvSpPr>
        <p:spPr>
          <a:xfrm>
            <a:off x="1066800" y="3149600"/>
            <a:ext cx="106680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2000" dirty="0">
                <a:solidFill>
                  <a:srgbClr val="262626"/>
                </a:solidFill>
                <a:latin typeface="Calibri" pitchFamily="34" charset="0"/>
                <a:cs typeface="Calibri" pitchFamily="34" charset="0"/>
              </a:rPr>
              <a:t>Describe SQLite architecture and perform basic CRUD operations.</a:t>
            </a:r>
          </a:p>
        </p:txBody>
      </p:sp>
      <p:sp>
        <p:nvSpPr>
          <p:cNvPr id="16" name="Badge"/>
          <p:cNvSpPr/>
          <p:nvPr/>
        </p:nvSpPr>
        <p:spPr>
          <a:xfrm>
            <a:off x="457200" y="4025900"/>
            <a:ext cx="419100" cy="419100"/>
          </a:xfrm>
          <a:prstGeom prst="ellipse">
            <a:avLst/>
          </a:prstGeom>
          <a:solidFill>
            <a:srgbClr val="2D6B6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BadgeTxt"/>
          <p:cNvSpPr/>
          <p:nvPr/>
        </p:nvSpPr>
        <p:spPr>
          <a:xfrm>
            <a:off x="457200" y="4025900"/>
            <a:ext cx="419100" cy="4191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cs typeface="Calibri" pitchFamily="34" charset="0"/>
              </a:rPr>
              <a:t>04</a:t>
            </a:r>
          </a:p>
        </p:txBody>
      </p:sp>
      <p:sp>
        <p:nvSpPr>
          <p:cNvPr id="18" name="Text"/>
          <p:cNvSpPr/>
          <p:nvPr/>
        </p:nvSpPr>
        <p:spPr>
          <a:xfrm>
            <a:off x="1066800" y="3987800"/>
            <a:ext cx="106680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2000" dirty="0">
                <a:solidFill>
                  <a:srgbClr val="262626"/>
                </a:solidFill>
                <a:latin typeface="Calibri" pitchFamily="34" charset="0"/>
                <a:cs typeface="Calibri" pitchFamily="34" charset="0"/>
              </a:rPr>
              <a:t>Explain Room’s Entity–DAO–Database architecture and its advantages over raw SQLite.</a:t>
            </a:r>
          </a:p>
        </p:txBody>
      </p:sp>
      <p:sp>
        <p:nvSpPr>
          <p:cNvPr id="19" name="Badge"/>
          <p:cNvSpPr/>
          <p:nvPr/>
        </p:nvSpPr>
        <p:spPr>
          <a:xfrm>
            <a:off x="457200" y="4864100"/>
            <a:ext cx="419100" cy="419100"/>
          </a:xfrm>
          <a:prstGeom prst="ellipse">
            <a:avLst/>
          </a:prstGeom>
          <a:solidFill>
            <a:srgbClr val="2D6B6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0" name="BadgeTxt"/>
          <p:cNvSpPr/>
          <p:nvPr/>
        </p:nvSpPr>
        <p:spPr>
          <a:xfrm>
            <a:off x="457200" y="4864100"/>
            <a:ext cx="419100" cy="4191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cs typeface="Calibri" pitchFamily="34" charset="0"/>
              </a:rPr>
              <a:t>05</a:t>
            </a:r>
          </a:p>
        </p:txBody>
      </p:sp>
      <p:sp>
        <p:nvSpPr>
          <p:cNvPr id="21" name="Text"/>
          <p:cNvSpPr/>
          <p:nvPr/>
        </p:nvSpPr>
        <p:spPr>
          <a:xfrm>
            <a:off x="1066800" y="4826000"/>
            <a:ext cx="106680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2000" dirty="0">
                <a:solidFill>
                  <a:srgbClr val="262626"/>
                </a:solidFill>
                <a:latin typeface="Calibri" pitchFamily="34" charset="0"/>
                <a:cs typeface="Calibri" pitchFamily="34" charset="0"/>
              </a:rPr>
              <a:t>Describe Firebase as a cloud-backed data platform for Android applications.</a:t>
            </a:r>
          </a:p>
        </p:txBody>
      </p:sp>
      <p:sp>
        <p:nvSpPr>
          <p:cNvPr id="22" name="Badge"/>
          <p:cNvSpPr/>
          <p:nvPr/>
        </p:nvSpPr>
        <p:spPr>
          <a:xfrm>
            <a:off x="457200" y="5702300"/>
            <a:ext cx="419100" cy="419100"/>
          </a:xfrm>
          <a:prstGeom prst="ellipse">
            <a:avLst/>
          </a:prstGeom>
          <a:solidFill>
            <a:srgbClr val="2D6B6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3" name="BadgeTxt"/>
          <p:cNvSpPr/>
          <p:nvPr/>
        </p:nvSpPr>
        <p:spPr>
          <a:xfrm>
            <a:off x="457200" y="5702300"/>
            <a:ext cx="419100" cy="4191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cs typeface="Calibri" pitchFamily="34" charset="0"/>
              </a:rPr>
              <a:t>06</a:t>
            </a:r>
          </a:p>
        </p:txBody>
      </p:sp>
      <p:sp>
        <p:nvSpPr>
          <p:cNvPr id="24" name="Text"/>
          <p:cNvSpPr/>
          <p:nvPr/>
        </p:nvSpPr>
        <p:spPr>
          <a:xfrm>
            <a:off x="1066800" y="5664200"/>
            <a:ext cx="106680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2000" dirty="0">
                <a:solidFill>
                  <a:srgbClr val="262626"/>
                </a:solidFill>
                <a:latin typeface="Calibri" pitchFamily="34" charset="0"/>
                <a:cs typeface="Calibri" pitchFamily="34" charset="0"/>
              </a:rPr>
              <a:t>Compare common data synchronization strategies and identify suitable approaches.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r"/>
          <p:cNvSpPr/>
          <p:nvPr/>
        </p:nvSpPr>
        <p:spPr>
          <a:xfrm>
            <a:off x="0" y="0"/>
            <a:ext cx="12184380" cy="109728"/>
          </a:xfrm>
          <a:prstGeom prst="rect">
            <a:avLst/>
          </a:prstGeom>
          <a:solidFill>
            <a:srgbClr val="2D6B66"/>
          </a:solidFill>
          <a:ln/>
        </p:spPr>
        <p:txBody>
          <a:bodyPr wrap="square" lIns="0" tIns="0" rIns="0" bIns="0" rtlCol="0" anchor="t"/>
          <a:lstStyle/>
          <a:p>
            <a:endParaRPr lang="en-US"/>
          </a:p>
        </p:txBody>
      </p:sp>
      <p:sp>
        <p:nvSpPr>
          <p:cNvPr id="3" name="Text"/>
          <p:cNvSpPr/>
          <p:nvPr/>
        </p:nvSpPr>
        <p:spPr>
          <a:xfrm>
            <a:off x="457200" y="237744"/>
            <a:ext cx="10515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spc="200" dirty="0">
                <a:solidFill>
                  <a:srgbClr val="2D6B66"/>
                </a:solidFill>
                <a:latin typeface="Calibri" pitchFamily="34" charset="0"/>
                <a:cs typeface="Calibri" pitchFamily="34" charset="0"/>
              </a:rPr>
              <a:t>MOBILE APPLICATION DEVELOPMENT  ·  DATABASE CONNECTIVITY</a:t>
            </a:r>
          </a:p>
        </p:txBody>
      </p:sp>
      <p:sp>
        <p:nvSpPr>
          <p:cNvPr id="4" name="Text"/>
          <p:cNvSpPr/>
          <p:nvPr/>
        </p:nvSpPr>
        <p:spPr>
          <a:xfrm>
            <a:off x="457200" y="530352"/>
            <a:ext cx="1123950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3300" b="1" dirty="0">
                <a:solidFill>
                  <a:srgbClr val="262626"/>
                </a:solidFill>
                <a:latin typeface="Calibri Light" pitchFamily="34" charset="0"/>
                <a:cs typeface="Calibri Light" pitchFamily="34" charset="0"/>
              </a:rPr>
              <a:t>Why Is Data Persistence Required?</a:t>
            </a:r>
          </a:p>
        </p:txBody>
      </p:sp>
      <p:sp>
        <p:nvSpPr>
          <p:cNvPr id="5" name="Rule"/>
          <p:cNvSpPr/>
          <p:nvPr/>
        </p:nvSpPr>
        <p:spPr>
          <a:xfrm>
            <a:off x="457200" y="1243584"/>
            <a:ext cx="1005840" cy="0"/>
          </a:xfrm>
          <a:prstGeom prst="line">
            <a:avLst/>
          </a:prstGeom>
          <a:noFill/>
          <a:ln w="31750">
            <a:solidFill>
              <a:srgbClr val="660000"/>
            </a:solidFill>
            <a:prstDash val="solid"/>
          </a:ln>
        </p:spPr>
        <p:txBody>
          <a:bodyPr wrap="square" lIns="0" tIns="0" rIns="0" bIns="0" rtlCol="0" anchor="t"/>
          <a:lstStyle/>
          <a:p>
            <a:endParaRPr lang="en-US"/>
          </a:p>
        </p:txBody>
      </p:sp>
      <p:sp>
        <p:nvSpPr>
          <p:cNvPr id="6" name="Text"/>
          <p:cNvSpPr/>
          <p:nvPr/>
        </p:nvSpPr>
        <p:spPr>
          <a:xfrm>
            <a:off x="8778240" y="6337300"/>
            <a:ext cx="2954020" cy="2921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300" dirty="0">
                <a:solidFill>
                  <a:srgbClr val="595959"/>
                </a:solidFill>
                <a:latin typeface="Calibri" pitchFamily="34" charset="0"/>
                <a:cs typeface="Calibri" pitchFamily="34" charset="0"/>
              </a:rPr>
              <a:t>Mobile Application Development  ·  3 / 34</a:t>
            </a:r>
          </a:p>
        </p:txBody>
      </p:sp>
      <p:sp>
        <p:nvSpPr>
          <p:cNvPr id="7" name="Dot"/>
          <p:cNvSpPr/>
          <p:nvPr/>
        </p:nvSpPr>
        <p:spPr>
          <a:xfrm>
            <a:off x="482600" y="1600200"/>
            <a:ext cx="127000" cy="127000"/>
          </a:xfrm>
          <a:prstGeom prst="ellipse">
            <a:avLst/>
          </a:prstGeom>
          <a:solidFill>
            <a:srgbClr val="2D6B6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"/>
          <p:cNvSpPr/>
          <p:nvPr/>
        </p:nvSpPr>
        <p:spPr>
          <a:xfrm>
            <a:off x="838200" y="1473200"/>
            <a:ext cx="10871200" cy="736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2000" dirty="0">
                <a:solidFill>
                  <a:srgbClr val="262626"/>
                </a:solidFill>
                <a:latin typeface="Calibri" pitchFamily="34" charset="0"/>
                <a:cs typeface="Calibri" pitchFamily="34" charset="0"/>
              </a:rPr>
              <a:t>Mobile applications must retain important data after the app is closed.</a:t>
            </a:r>
          </a:p>
        </p:txBody>
      </p:sp>
      <p:sp>
        <p:nvSpPr>
          <p:cNvPr id="9" name="Dot"/>
          <p:cNvSpPr/>
          <p:nvPr/>
        </p:nvSpPr>
        <p:spPr>
          <a:xfrm>
            <a:off x="482600" y="2336800"/>
            <a:ext cx="127000" cy="127000"/>
          </a:xfrm>
          <a:prstGeom prst="ellipse">
            <a:avLst/>
          </a:prstGeom>
          <a:solidFill>
            <a:srgbClr val="2D6B6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"/>
          <p:cNvSpPr/>
          <p:nvPr/>
        </p:nvSpPr>
        <p:spPr>
          <a:xfrm>
            <a:off x="838200" y="2209800"/>
            <a:ext cx="10871200" cy="736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2000" dirty="0">
                <a:solidFill>
                  <a:srgbClr val="262626"/>
                </a:solidFill>
                <a:latin typeface="Calibri" pitchFamily="34" charset="0"/>
                <a:cs typeface="Calibri" pitchFamily="34" charset="0"/>
              </a:rPr>
              <a:t>Data should survive device restarts and configuration changes such as screen rotation.</a:t>
            </a:r>
          </a:p>
        </p:txBody>
      </p:sp>
      <p:sp>
        <p:nvSpPr>
          <p:cNvPr id="11" name="Dot"/>
          <p:cNvSpPr/>
          <p:nvPr/>
        </p:nvSpPr>
        <p:spPr>
          <a:xfrm>
            <a:off x="482600" y="3073400"/>
            <a:ext cx="127000" cy="127000"/>
          </a:xfrm>
          <a:prstGeom prst="ellipse">
            <a:avLst/>
          </a:prstGeom>
          <a:solidFill>
            <a:srgbClr val="2D6B6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Text"/>
          <p:cNvSpPr/>
          <p:nvPr/>
        </p:nvSpPr>
        <p:spPr>
          <a:xfrm>
            <a:off x="838200" y="2946400"/>
            <a:ext cx="10871200" cy="736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2000" dirty="0">
                <a:solidFill>
                  <a:srgbClr val="262626"/>
                </a:solidFill>
                <a:latin typeface="Calibri" pitchFamily="34" charset="0"/>
                <a:cs typeface="Calibri" pitchFamily="34" charset="0"/>
              </a:rPr>
              <a:t>Typical requirements include remembering a logged-in user, storing registered users, and displaying a user list.</a:t>
            </a:r>
          </a:p>
        </p:txBody>
      </p:sp>
      <p:sp>
        <p:nvSpPr>
          <p:cNvPr id="13" name="Card"/>
          <p:cNvSpPr/>
          <p:nvPr/>
        </p:nvSpPr>
        <p:spPr>
          <a:xfrm>
            <a:off x="457200" y="3835400"/>
            <a:ext cx="3635822" cy="1828800"/>
          </a:xfrm>
          <a:prstGeom prst="roundRect">
            <a:avLst>
              <a:gd name="adj" fmla="val 4571"/>
            </a:avLst>
          </a:prstGeom>
          <a:solidFill>
            <a:srgbClr val="FFFFFF"/>
          </a:solidFill>
          <a:ln w="22225">
            <a:solidFill>
              <a:srgbClr val="2D6B66"/>
            </a:solidFill>
            <a:prstDash val="solid"/>
          </a:ln>
        </p:spPr>
        <p:txBody>
          <a:bodyPr wrap="square" lIns="0" tIns="0" rIns="0" bIns="0" rtlCol="0" anchor="t"/>
          <a:lstStyle/>
          <a:p>
            <a:endParaRPr lang="en-US" sz="2000"/>
          </a:p>
        </p:txBody>
      </p:sp>
      <p:sp>
        <p:nvSpPr>
          <p:cNvPr id="14" name="Text"/>
          <p:cNvSpPr/>
          <p:nvPr/>
        </p:nvSpPr>
        <p:spPr>
          <a:xfrm>
            <a:off x="660400" y="4013200"/>
            <a:ext cx="3229422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2000" b="1" dirty="0">
                <a:solidFill>
                  <a:srgbClr val="262626"/>
                </a:solidFill>
                <a:latin typeface="Calibri" pitchFamily="34" charset="0"/>
                <a:cs typeface="Calibri" pitchFamily="34" charset="0"/>
              </a:rPr>
              <a:t>Without persistence</a:t>
            </a:r>
          </a:p>
        </p:txBody>
      </p:sp>
      <p:sp>
        <p:nvSpPr>
          <p:cNvPr id="15" name="Text"/>
          <p:cNvSpPr/>
          <p:nvPr/>
        </p:nvSpPr>
        <p:spPr>
          <a:xfrm>
            <a:off x="660400" y="4572000"/>
            <a:ext cx="3229422" cy="939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8000"/>
              </a:lnSpc>
              <a:buNone/>
            </a:pPr>
            <a:r>
              <a:rPr lang="en-US" sz="1900" dirty="0">
                <a:solidFill>
                  <a:srgbClr val="595959"/>
                </a:solidFill>
                <a:latin typeface="Calibri" pitchFamily="34" charset="0"/>
                <a:cs typeface="Calibri" pitchFamily="34" charset="0"/>
              </a:rPr>
              <a:t>Data may disappear when the process or screen is recreated.</a:t>
            </a:r>
          </a:p>
        </p:txBody>
      </p:sp>
      <p:sp>
        <p:nvSpPr>
          <p:cNvPr id="16" name="Card"/>
          <p:cNvSpPr/>
          <p:nvPr/>
        </p:nvSpPr>
        <p:spPr>
          <a:xfrm>
            <a:off x="4278089" y="3835400"/>
            <a:ext cx="3635822" cy="1828800"/>
          </a:xfrm>
          <a:prstGeom prst="roundRect">
            <a:avLst>
              <a:gd name="adj" fmla="val 4571"/>
            </a:avLst>
          </a:prstGeom>
          <a:solidFill>
            <a:srgbClr val="FFFFFF"/>
          </a:solidFill>
          <a:ln w="22225">
            <a:solidFill>
              <a:srgbClr val="2D6B66"/>
            </a:solidFill>
            <a:prstDash val="solid"/>
          </a:ln>
        </p:spPr>
        <p:txBody>
          <a:bodyPr wrap="square" lIns="0" tIns="0" rIns="0" bIns="0" rtlCol="0" anchor="t"/>
          <a:lstStyle/>
          <a:p>
            <a:endParaRPr lang="en-US" sz="2000"/>
          </a:p>
        </p:txBody>
      </p:sp>
      <p:sp>
        <p:nvSpPr>
          <p:cNvPr id="17" name="Text"/>
          <p:cNvSpPr/>
          <p:nvPr/>
        </p:nvSpPr>
        <p:spPr>
          <a:xfrm>
            <a:off x="4481289" y="4013200"/>
            <a:ext cx="3229422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2000" b="1" dirty="0">
                <a:solidFill>
                  <a:srgbClr val="262626"/>
                </a:solidFill>
                <a:latin typeface="Calibri" pitchFamily="34" charset="0"/>
                <a:cs typeface="Calibri" pitchFamily="34" charset="0"/>
              </a:rPr>
              <a:t>With persistence</a:t>
            </a:r>
          </a:p>
        </p:txBody>
      </p:sp>
      <p:sp>
        <p:nvSpPr>
          <p:cNvPr id="18" name="Text"/>
          <p:cNvSpPr/>
          <p:nvPr/>
        </p:nvSpPr>
        <p:spPr>
          <a:xfrm>
            <a:off x="4481289" y="4572000"/>
            <a:ext cx="3229422" cy="939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8000"/>
              </a:lnSpc>
              <a:buNone/>
            </a:pPr>
            <a:r>
              <a:rPr lang="en-US" sz="1900" dirty="0">
                <a:solidFill>
                  <a:srgbClr val="595959"/>
                </a:solidFill>
                <a:latin typeface="Calibri" pitchFamily="34" charset="0"/>
                <a:cs typeface="Calibri" pitchFamily="34" charset="0"/>
              </a:rPr>
              <a:t>Data can be restored when the application is opened again.</a:t>
            </a:r>
          </a:p>
        </p:txBody>
      </p:sp>
      <p:sp>
        <p:nvSpPr>
          <p:cNvPr id="19" name="Card"/>
          <p:cNvSpPr/>
          <p:nvPr/>
        </p:nvSpPr>
        <p:spPr>
          <a:xfrm>
            <a:off x="8098978" y="3835400"/>
            <a:ext cx="3635822" cy="1828800"/>
          </a:xfrm>
          <a:prstGeom prst="roundRect">
            <a:avLst>
              <a:gd name="adj" fmla="val 4571"/>
            </a:avLst>
          </a:prstGeom>
          <a:solidFill>
            <a:srgbClr val="FFFFFF"/>
          </a:solidFill>
          <a:ln w="22225">
            <a:solidFill>
              <a:srgbClr val="2D6B66"/>
            </a:solidFill>
            <a:prstDash val="solid"/>
          </a:ln>
        </p:spPr>
        <p:txBody>
          <a:bodyPr wrap="square" lIns="0" tIns="0" rIns="0" bIns="0" rtlCol="0" anchor="t"/>
          <a:lstStyle/>
          <a:p>
            <a:endParaRPr lang="en-US" sz="2000"/>
          </a:p>
        </p:txBody>
      </p:sp>
      <p:sp>
        <p:nvSpPr>
          <p:cNvPr id="20" name="Text"/>
          <p:cNvSpPr/>
          <p:nvPr/>
        </p:nvSpPr>
        <p:spPr>
          <a:xfrm>
            <a:off x="8302178" y="4013200"/>
            <a:ext cx="3229422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2000" b="1" dirty="0">
                <a:solidFill>
                  <a:srgbClr val="262626"/>
                </a:solidFill>
                <a:latin typeface="Calibri" pitchFamily="34" charset="0"/>
                <a:cs typeface="Calibri" pitchFamily="34" charset="0"/>
              </a:rPr>
              <a:t>Design goal</a:t>
            </a:r>
          </a:p>
        </p:txBody>
      </p:sp>
      <p:sp>
        <p:nvSpPr>
          <p:cNvPr id="21" name="Text"/>
          <p:cNvSpPr/>
          <p:nvPr/>
        </p:nvSpPr>
        <p:spPr>
          <a:xfrm>
            <a:off x="8302178" y="4572000"/>
            <a:ext cx="3229422" cy="939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8000"/>
              </a:lnSpc>
              <a:buNone/>
            </a:pPr>
            <a:r>
              <a:rPr lang="en-US" sz="1900" dirty="0">
                <a:solidFill>
                  <a:srgbClr val="595959"/>
                </a:solidFill>
                <a:latin typeface="Calibri" pitchFamily="34" charset="0"/>
                <a:cs typeface="Calibri" pitchFamily="34" charset="0"/>
              </a:rPr>
              <a:t>Choose storage based on data size, structure, sharing, and connectivity.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r"/>
          <p:cNvSpPr/>
          <p:nvPr/>
        </p:nvSpPr>
        <p:spPr>
          <a:xfrm>
            <a:off x="0" y="0"/>
            <a:ext cx="12184380" cy="109728"/>
          </a:xfrm>
          <a:prstGeom prst="rect">
            <a:avLst/>
          </a:prstGeom>
          <a:solidFill>
            <a:srgbClr val="2D6B66"/>
          </a:solidFill>
          <a:ln/>
        </p:spPr>
        <p:txBody>
          <a:bodyPr wrap="square" lIns="0" tIns="0" rIns="0" bIns="0" rtlCol="0" anchor="t"/>
          <a:lstStyle/>
          <a:p>
            <a:endParaRPr lang="en-US"/>
          </a:p>
        </p:txBody>
      </p:sp>
      <p:sp>
        <p:nvSpPr>
          <p:cNvPr id="3" name="Text"/>
          <p:cNvSpPr/>
          <p:nvPr/>
        </p:nvSpPr>
        <p:spPr>
          <a:xfrm>
            <a:off x="457200" y="237744"/>
            <a:ext cx="10515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spc="200" dirty="0">
                <a:solidFill>
                  <a:srgbClr val="2D6B66"/>
                </a:solidFill>
                <a:latin typeface="Calibri" pitchFamily="34" charset="0"/>
                <a:cs typeface="Calibri" pitchFamily="34" charset="0"/>
              </a:rPr>
              <a:t>MOBILE APPLICATION DEVELOPMENT  ·  DATABASE CONNECTIVITY</a:t>
            </a:r>
          </a:p>
        </p:txBody>
      </p:sp>
      <p:sp>
        <p:nvSpPr>
          <p:cNvPr id="4" name="Text"/>
          <p:cNvSpPr/>
          <p:nvPr/>
        </p:nvSpPr>
        <p:spPr>
          <a:xfrm>
            <a:off x="457200" y="530352"/>
            <a:ext cx="1123950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262626"/>
                </a:solidFill>
                <a:latin typeface="Calibri Light" pitchFamily="34" charset="0"/>
                <a:cs typeface="Calibri Light" pitchFamily="34" charset="0"/>
              </a:rPr>
              <a:t>Android Data Storage: Choosing the Right Layer</a:t>
            </a:r>
          </a:p>
        </p:txBody>
      </p:sp>
      <p:sp>
        <p:nvSpPr>
          <p:cNvPr id="5" name="Rule"/>
          <p:cNvSpPr/>
          <p:nvPr/>
        </p:nvSpPr>
        <p:spPr>
          <a:xfrm>
            <a:off x="457200" y="1243584"/>
            <a:ext cx="1005840" cy="0"/>
          </a:xfrm>
          <a:prstGeom prst="line">
            <a:avLst/>
          </a:prstGeom>
          <a:noFill/>
          <a:ln w="31750">
            <a:solidFill>
              <a:srgbClr val="660000"/>
            </a:solidFill>
            <a:prstDash val="solid"/>
          </a:ln>
        </p:spPr>
        <p:txBody>
          <a:bodyPr wrap="square" lIns="0" tIns="0" rIns="0" bIns="0" rtlCol="0" anchor="t"/>
          <a:lstStyle/>
          <a:p>
            <a:endParaRPr lang="en-US"/>
          </a:p>
        </p:txBody>
      </p:sp>
      <p:sp>
        <p:nvSpPr>
          <p:cNvPr id="6" name="Text"/>
          <p:cNvSpPr/>
          <p:nvPr/>
        </p:nvSpPr>
        <p:spPr>
          <a:xfrm>
            <a:off x="8778240" y="6337300"/>
            <a:ext cx="2954020" cy="2921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300" dirty="0">
                <a:solidFill>
                  <a:srgbClr val="595959"/>
                </a:solidFill>
                <a:latin typeface="Calibri" pitchFamily="34" charset="0"/>
                <a:cs typeface="Calibri" pitchFamily="34" charset="0"/>
              </a:rPr>
              <a:t>Mobile Application Development  ·  4 / 34</a:t>
            </a:r>
          </a:p>
        </p:txBody>
      </p:sp>
      <p:sp>
        <p:nvSpPr>
          <p:cNvPr id="7" name="Card"/>
          <p:cNvSpPr/>
          <p:nvPr/>
        </p:nvSpPr>
        <p:spPr>
          <a:xfrm>
            <a:off x="457200" y="1127117"/>
            <a:ext cx="2680599" cy="2647966"/>
          </a:xfrm>
          <a:prstGeom prst="roundRect">
            <a:avLst>
              <a:gd name="adj" fmla="val 4571"/>
            </a:avLst>
          </a:prstGeom>
          <a:solidFill>
            <a:srgbClr val="FFFFFF"/>
          </a:solidFill>
          <a:ln w="22225">
            <a:solidFill>
              <a:srgbClr val="2D6B66"/>
            </a:solidFill>
            <a:prstDash val="solid"/>
          </a:ln>
        </p:spPr>
        <p:txBody>
          <a:bodyPr wrap="square" lIns="0" tIns="0" rIns="0" bIns="0" rtlCol="0" anchor="t"/>
          <a:lstStyle/>
          <a:p>
            <a:endParaRPr lang="en-US" sz="2000"/>
          </a:p>
        </p:txBody>
      </p:sp>
      <p:sp>
        <p:nvSpPr>
          <p:cNvPr id="8" name="Text"/>
          <p:cNvSpPr/>
          <p:nvPr/>
        </p:nvSpPr>
        <p:spPr>
          <a:xfrm>
            <a:off x="660400" y="1651000"/>
            <a:ext cx="2274199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2000" b="1" dirty="0">
                <a:solidFill>
                  <a:srgbClr val="262626"/>
                </a:solidFill>
                <a:latin typeface="Calibri" pitchFamily="34" charset="0"/>
                <a:cs typeface="Calibri" pitchFamily="34" charset="0"/>
              </a:rPr>
              <a:t>SharedPreferences</a:t>
            </a:r>
          </a:p>
        </p:txBody>
      </p:sp>
      <p:sp>
        <p:nvSpPr>
          <p:cNvPr id="9" name="Text"/>
          <p:cNvSpPr/>
          <p:nvPr/>
        </p:nvSpPr>
        <p:spPr>
          <a:xfrm>
            <a:off x="660400" y="2209800"/>
            <a:ext cx="2274199" cy="1066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8000"/>
              </a:lnSpc>
              <a:buNone/>
            </a:pPr>
            <a:r>
              <a:rPr lang="en-US" sz="1900" dirty="0">
                <a:solidFill>
                  <a:srgbClr val="595959"/>
                </a:solidFill>
                <a:latin typeface="Calibri" pitchFamily="34" charset="0"/>
                <a:cs typeface="Calibri" pitchFamily="34" charset="0"/>
              </a:rPr>
              <a:t>Small key–value data such as session flags and app settings.</a:t>
            </a:r>
          </a:p>
        </p:txBody>
      </p:sp>
      <p:sp>
        <p:nvSpPr>
          <p:cNvPr id="10" name="Card"/>
          <p:cNvSpPr/>
          <p:nvPr/>
        </p:nvSpPr>
        <p:spPr>
          <a:xfrm>
            <a:off x="3322866" y="1127117"/>
            <a:ext cx="2680599" cy="2647966"/>
          </a:xfrm>
          <a:prstGeom prst="roundRect">
            <a:avLst>
              <a:gd name="adj" fmla="val 4571"/>
            </a:avLst>
          </a:prstGeom>
          <a:solidFill>
            <a:srgbClr val="FFFFFF"/>
          </a:solidFill>
          <a:ln w="22225">
            <a:solidFill>
              <a:srgbClr val="2D6B66"/>
            </a:solidFill>
            <a:prstDash val="solid"/>
          </a:ln>
        </p:spPr>
        <p:txBody>
          <a:bodyPr wrap="square" lIns="0" tIns="0" rIns="0" bIns="0" rtlCol="0" anchor="t"/>
          <a:lstStyle/>
          <a:p>
            <a:endParaRPr lang="en-US" sz="2000"/>
          </a:p>
        </p:txBody>
      </p:sp>
      <p:sp>
        <p:nvSpPr>
          <p:cNvPr id="11" name="Text"/>
          <p:cNvSpPr/>
          <p:nvPr/>
        </p:nvSpPr>
        <p:spPr>
          <a:xfrm>
            <a:off x="3526066" y="1651000"/>
            <a:ext cx="2274199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2000" b="1" dirty="0">
                <a:solidFill>
                  <a:srgbClr val="262626"/>
                </a:solidFill>
                <a:latin typeface="Calibri" pitchFamily="34" charset="0"/>
                <a:cs typeface="Calibri" pitchFamily="34" charset="0"/>
              </a:rPr>
              <a:t>SQLite</a:t>
            </a:r>
          </a:p>
        </p:txBody>
      </p:sp>
      <p:sp>
        <p:nvSpPr>
          <p:cNvPr id="12" name="Text"/>
          <p:cNvSpPr/>
          <p:nvPr/>
        </p:nvSpPr>
        <p:spPr>
          <a:xfrm>
            <a:off x="3526066" y="2209800"/>
            <a:ext cx="2274199" cy="1066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8000"/>
              </a:lnSpc>
              <a:buNone/>
            </a:pPr>
            <a:r>
              <a:rPr lang="en-US" sz="1900" dirty="0">
                <a:solidFill>
                  <a:srgbClr val="595959"/>
                </a:solidFill>
                <a:latin typeface="Calibri" pitchFamily="34" charset="0"/>
                <a:cs typeface="Calibri" pitchFamily="34" charset="0"/>
              </a:rPr>
              <a:t>Structured relational data stored locally using SQL.</a:t>
            </a:r>
          </a:p>
        </p:txBody>
      </p:sp>
      <p:sp>
        <p:nvSpPr>
          <p:cNvPr id="13" name="Card"/>
          <p:cNvSpPr/>
          <p:nvPr/>
        </p:nvSpPr>
        <p:spPr>
          <a:xfrm>
            <a:off x="6188532" y="1127117"/>
            <a:ext cx="2680599" cy="2647966"/>
          </a:xfrm>
          <a:prstGeom prst="roundRect">
            <a:avLst>
              <a:gd name="adj" fmla="val 4571"/>
            </a:avLst>
          </a:prstGeom>
          <a:solidFill>
            <a:srgbClr val="FFFFFF"/>
          </a:solidFill>
          <a:ln w="22225">
            <a:solidFill>
              <a:srgbClr val="2D6B66"/>
            </a:solidFill>
            <a:prstDash val="solid"/>
          </a:ln>
        </p:spPr>
        <p:txBody>
          <a:bodyPr wrap="square" lIns="0" tIns="0" rIns="0" bIns="0" rtlCol="0" anchor="t"/>
          <a:lstStyle/>
          <a:p>
            <a:endParaRPr lang="en-US" sz="2000"/>
          </a:p>
        </p:txBody>
      </p:sp>
      <p:sp>
        <p:nvSpPr>
          <p:cNvPr id="14" name="Text"/>
          <p:cNvSpPr/>
          <p:nvPr/>
        </p:nvSpPr>
        <p:spPr>
          <a:xfrm>
            <a:off x="6391732" y="1651000"/>
            <a:ext cx="2274199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2000" b="1" dirty="0">
                <a:solidFill>
                  <a:srgbClr val="262626"/>
                </a:solidFill>
                <a:latin typeface="Calibri" pitchFamily="34" charset="0"/>
                <a:cs typeface="Calibri" pitchFamily="34" charset="0"/>
              </a:rPr>
              <a:t>Room</a:t>
            </a:r>
          </a:p>
        </p:txBody>
      </p:sp>
      <p:sp>
        <p:nvSpPr>
          <p:cNvPr id="15" name="Text"/>
          <p:cNvSpPr/>
          <p:nvPr/>
        </p:nvSpPr>
        <p:spPr>
          <a:xfrm>
            <a:off x="6391732" y="2209800"/>
            <a:ext cx="2477399" cy="1066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8000"/>
              </a:lnSpc>
              <a:buNone/>
            </a:pPr>
            <a:r>
              <a:rPr lang="en-US" sz="1900" dirty="0">
                <a:solidFill>
                  <a:srgbClr val="595959"/>
                </a:solidFill>
                <a:latin typeface="Calibri" pitchFamily="34" charset="0"/>
                <a:cs typeface="Calibri" pitchFamily="34" charset="0"/>
              </a:rPr>
              <a:t>Modern Android abstraction over SQLite with type-safe DAOs.</a:t>
            </a:r>
          </a:p>
        </p:txBody>
      </p:sp>
      <p:sp>
        <p:nvSpPr>
          <p:cNvPr id="16" name="Card"/>
          <p:cNvSpPr/>
          <p:nvPr/>
        </p:nvSpPr>
        <p:spPr>
          <a:xfrm>
            <a:off x="9054198" y="1127117"/>
            <a:ext cx="2680599" cy="2647966"/>
          </a:xfrm>
          <a:prstGeom prst="roundRect">
            <a:avLst>
              <a:gd name="adj" fmla="val 4571"/>
            </a:avLst>
          </a:prstGeom>
          <a:solidFill>
            <a:srgbClr val="FFFFFF"/>
          </a:solidFill>
          <a:ln w="22225">
            <a:solidFill>
              <a:srgbClr val="2D6B66"/>
            </a:solidFill>
            <a:prstDash val="solid"/>
          </a:ln>
        </p:spPr>
        <p:txBody>
          <a:bodyPr wrap="square" lIns="0" tIns="0" rIns="0" bIns="0" rtlCol="0" anchor="t"/>
          <a:lstStyle/>
          <a:p>
            <a:endParaRPr lang="en-US" sz="2000"/>
          </a:p>
        </p:txBody>
      </p:sp>
      <p:sp>
        <p:nvSpPr>
          <p:cNvPr id="17" name="Text"/>
          <p:cNvSpPr/>
          <p:nvPr/>
        </p:nvSpPr>
        <p:spPr>
          <a:xfrm>
            <a:off x="9257398" y="1651000"/>
            <a:ext cx="2274199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2000" b="1" dirty="0">
                <a:solidFill>
                  <a:srgbClr val="262626"/>
                </a:solidFill>
                <a:latin typeface="Calibri" pitchFamily="34" charset="0"/>
                <a:cs typeface="Calibri" pitchFamily="34" charset="0"/>
              </a:rPr>
              <a:t>Cloud / Firebase</a:t>
            </a:r>
          </a:p>
        </p:txBody>
      </p:sp>
      <p:sp>
        <p:nvSpPr>
          <p:cNvPr id="18" name="Text"/>
          <p:cNvSpPr/>
          <p:nvPr/>
        </p:nvSpPr>
        <p:spPr>
          <a:xfrm>
            <a:off x="9257398" y="2159000"/>
            <a:ext cx="2274199" cy="144434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8000"/>
              </a:lnSpc>
              <a:buNone/>
            </a:pPr>
            <a:r>
              <a:rPr lang="en-US" sz="1900" dirty="0">
                <a:solidFill>
                  <a:srgbClr val="595959"/>
                </a:solidFill>
                <a:latin typeface="Calibri" pitchFamily="34" charset="0"/>
                <a:cs typeface="Calibri" pitchFamily="34" charset="0"/>
              </a:rPr>
              <a:t>Remote data shared across devices and users; requires network-aware design.</a:t>
            </a:r>
          </a:p>
        </p:txBody>
      </p:sp>
      <p:sp>
        <p:nvSpPr>
          <p:cNvPr id="19" name="Dot"/>
          <p:cNvSpPr/>
          <p:nvPr/>
        </p:nvSpPr>
        <p:spPr>
          <a:xfrm>
            <a:off x="660400" y="4556266"/>
            <a:ext cx="127000" cy="171946"/>
          </a:xfrm>
          <a:prstGeom prst="ellipse">
            <a:avLst/>
          </a:prstGeom>
          <a:solidFill>
            <a:srgbClr val="2D6B6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0" name="Text"/>
          <p:cNvSpPr/>
          <p:nvPr/>
        </p:nvSpPr>
        <p:spPr>
          <a:xfrm>
            <a:off x="1016000" y="4348364"/>
            <a:ext cx="10871200" cy="7909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2000" dirty="0">
                <a:solidFill>
                  <a:srgbClr val="262626"/>
                </a:solidFill>
                <a:latin typeface="Calibri" pitchFamily="34" charset="0"/>
                <a:cs typeface="Calibri" pitchFamily="34" charset="0"/>
              </a:rPr>
              <a:t>Key decision: Is the data only for this device, or must it be available across devices/users?</a:t>
            </a:r>
          </a:p>
        </p:txBody>
      </p:sp>
      <p:sp>
        <p:nvSpPr>
          <p:cNvPr id="21" name="Dot"/>
          <p:cNvSpPr/>
          <p:nvPr/>
        </p:nvSpPr>
        <p:spPr>
          <a:xfrm>
            <a:off x="660400" y="5140466"/>
            <a:ext cx="127000" cy="171946"/>
          </a:xfrm>
          <a:prstGeom prst="ellipse">
            <a:avLst/>
          </a:prstGeom>
          <a:solidFill>
            <a:srgbClr val="2D6B6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2" name="Text"/>
          <p:cNvSpPr/>
          <p:nvPr/>
        </p:nvSpPr>
        <p:spPr>
          <a:xfrm>
            <a:off x="1016000" y="4932564"/>
            <a:ext cx="10871200" cy="7909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2000" dirty="0">
                <a:solidFill>
                  <a:srgbClr val="262626"/>
                </a:solidFill>
                <a:latin typeface="Calibri" pitchFamily="34" charset="0"/>
                <a:cs typeface="Calibri" pitchFamily="34" charset="0"/>
              </a:rPr>
              <a:t>For structured local data, Room is generally the preferred Android approach in modern applications.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r"/>
          <p:cNvSpPr/>
          <p:nvPr/>
        </p:nvSpPr>
        <p:spPr>
          <a:xfrm>
            <a:off x="0" y="0"/>
            <a:ext cx="12184380" cy="109728"/>
          </a:xfrm>
          <a:prstGeom prst="rect">
            <a:avLst/>
          </a:prstGeom>
          <a:solidFill>
            <a:srgbClr val="2D6B66"/>
          </a:solidFill>
          <a:ln/>
        </p:spPr>
        <p:txBody>
          <a:bodyPr wrap="square" lIns="0" tIns="0" rIns="0" bIns="0" rtlCol="0" anchor="t"/>
          <a:lstStyle/>
          <a:p>
            <a:endParaRPr lang="en-US"/>
          </a:p>
        </p:txBody>
      </p:sp>
      <p:sp>
        <p:nvSpPr>
          <p:cNvPr id="3" name="Text"/>
          <p:cNvSpPr/>
          <p:nvPr/>
        </p:nvSpPr>
        <p:spPr>
          <a:xfrm>
            <a:off x="457200" y="237744"/>
            <a:ext cx="10515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spc="200" dirty="0">
                <a:solidFill>
                  <a:srgbClr val="2D6B66"/>
                </a:solidFill>
                <a:latin typeface="Calibri" pitchFamily="34" charset="0"/>
                <a:cs typeface="Calibri" pitchFamily="34" charset="0"/>
              </a:rPr>
              <a:t>MOBILE APPLICATION DEVELOPMENT  ·  DATABASE CONNECTIVITY</a:t>
            </a:r>
          </a:p>
        </p:txBody>
      </p:sp>
      <p:sp>
        <p:nvSpPr>
          <p:cNvPr id="4" name="Text"/>
          <p:cNvSpPr/>
          <p:nvPr/>
        </p:nvSpPr>
        <p:spPr>
          <a:xfrm>
            <a:off x="457200" y="530352"/>
            <a:ext cx="1123950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3300" b="1" dirty="0">
                <a:solidFill>
                  <a:srgbClr val="262626"/>
                </a:solidFill>
                <a:latin typeface="Calibri Light" pitchFamily="34" charset="0"/>
                <a:cs typeface="Calibri Light" pitchFamily="34" charset="0"/>
              </a:rPr>
              <a:t>Local vs Cloud Storage</a:t>
            </a:r>
          </a:p>
        </p:txBody>
      </p:sp>
      <p:sp>
        <p:nvSpPr>
          <p:cNvPr id="5" name="Rule"/>
          <p:cNvSpPr/>
          <p:nvPr/>
        </p:nvSpPr>
        <p:spPr>
          <a:xfrm>
            <a:off x="457200" y="1243584"/>
            <a:ext cx="1005840" cy="0"/>
          </a:xfrm>
          <a:prstGeom prst="line">
            <a:avLst/>
          </a:prstGeom>
          <a:noFill/>
          <a:ln w="31750">
            <a:solidFill>
              <a:srgbClr val="660000"/>
            </a:solidFill>
            <a:prstDash val="solid"/>
          </a:ln>
        </p:spPr>
        <p:txBody>
          <a:bodyPr wrap="square" lIns="0" tIns="0" rIns="0" bIns="0" rtlCol="0" anchor="t"/>
          <a:lstStyle/>
          <a:p>
            <a:endParaRPr lang="en-US"/>
          </a:p>
        </p:txBody>
      </p:sp>
      <p:sp>
        <p:nvSpPr>
          <p:cNvPr id="6" name="Text"/>
          <p:cNvSpPr/>
          <p:nvPr/>
        </p:nvSpPr>
        <p:spPr>
          <a:xfrm>
            <a:off x="8778240" y="6337300"/>
            <a:ext cx="2954020" cy="2921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300" dirty="0">
                <a:solidFill>
                  <a:srgbClr val="595959"/>
                </a:solidFill>
                <a:latin typeface="Calibri" pitchFamily="34" charset="0"/>
                <a:cs typeface="Calibri" pitchFamily="34" charset="0"/>
              </a:rPr>
              <a:t>Mobile Application Development  ·  5 / 34</a:t>
            </a:r>
          </a:p>
        </p:txBody>
      </p:sp>
      <p:sp>
        <p:nvSpPr>
          <p:cNvPr id="7" name="Card"/>
          <p:cNvSpPr/>
          <p:nvPr/>
        </p:nvSpPr>
        <p:spPr>
          <a:xfrm>
            <a:off x="457200" y="1473200"/>
            <a:ext cx="3635822" cy="3352800"/>
          </a:xfrm>
          <a:prstGeom prst="roundRect">
            <a:avLst>
              <a:gd name="adj" fmla="val 4571"/>
            </a:avLst>
          </a:prstGeom>
          <a:solidFill>
            <a:srgbClr val="FFFFFF"/>
          </a:solidFill>
          <a:ln w="22225">
            <a:solidFill>
              <a:srgbClr val="2D6B66"/>
            </a:solidFill>
            <a:prstDash val="solid"/>
          </a:ln>
        </p:spPr>
        <p:txBody>
          <a:bodyPr wrap="square" lIns="0" tIns="0" rIns="0" bIns="0" rtlCol="0" anchor="t"/>
          <a:lstStyle/>
          <a:p>
            <a:endParaRPr lang="en-US" sz="2000"/>
          </a:p>
        </p:txBody>
      </p:sp>
      <p:sp>
        <p:nvSpPr>
          <p:cNvPr id="8" name="Text"/>
          <p:cNvSpPr/>
          <p:nvPr/>
        </p:nvSpPr>
        <p:spPr>
          <a:xfrm>
            <a:off x="660400" y="1651000"/>
            <a:ext cx="3229422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2000" b="1" dirty="0">
                <a:solidFill>
                  <a:srgbClr val="262626"/>
                </a:solidFill>
                <a:latin typeface="Calibri" pitchFamily="34" charset="0"/>
                <a:cs typeface="Calibri" pitchFamily="34" charset="0"/>
              </a:rPr>
              <a:t>Local Database</a:t>
            </a:r>
          </a:p>
        </p:txBody>
      </p:sp>
      <p:sp>
        <p:nvSpPr>
          <p:cNvPr id="9" name="Text"/>
          <p:cNvSpPr/>
          <p:nvPr/>
        </p:nvSpPr>
        <p:spPr>
          <a:xfrm>
            <a:off x="660400" y="2209800"/>
            <a:ext cx="3229422" cy="2463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1800" dirty="0">
                <a:solidFill>
                  <a:srgbClr val="595959"/>
                </a:solidFill>
                <a:latin typeface="Calibri" pitchFamily="34" charset="0"/>
                <a:cs typeface="Calibri" pitchFamily="34" charset="0"/>
              </a:rPr>
              <a:t>Stored on the device.</a:t>
            </a:r>
          </a:p>
          <a:p>
            <a:pPr marL="0" indent="0" algn="l">
              <a:lnSpc>
                <a:spcPct val="145000"/>
              </a:lnSpc>
              <a:buNone/>
            </a:pPr>
            <a:r>
              <a:rPr lang="en-US" sz="1800" dirty="0">
                <a:solidFill>
                  <a:srgbClr val="595959"/>
                </a:solidFill>
                <a:latin typeface="Calibri" pitchFamily="34" charset="0"/>
                <a:cs typeface="Calibri" pitchFamily="34" charset="0"/>
              </a:rPr>
              <a:t>Fast local access.</a:t>
            </a:r>
          </a:p>
          <a:p>
            <a:pPr marL="0" indent="0" algn="l">
              <a:lnSpc>
                <a:spcPct val="145000"/>
              </a:lnSpc>
              <a:buNone/>
            </a:pPr>
            <a:r>
              <a:rPr lang="en-US" sz="1800" dirty="0">
                <a:solidFill>
                  <a:srgbClr val="595959"/>
                </a:solidFill>
                <a:latin typeface="Calibri" pitchFamily="34" charset="0"/>
                <a:cs typeface="Calibri" pitchFamily="34" charset="0"/>
              </a:rPr>
              <a:t>Works offline.</a:t>
            </a:r>
          </a:p>
          <a:p>
            <a:pPr marL="0" indent="0" algn="l">
              <a:lnSpc>
                <a:spcPct val="145000"/>
              </a:lnSpc>
              <a:buNone/>
            </a:pPr>
            <a:r>
              <a:rPr lang="en-US" sz="1800" dirty="0">
                <a:solidFill>
                  <a:srgbClr val="595959"/>
                </a:solidFill>
                <a:latin typeface="Calibri" pitchFamily="34" charset="0"/>
                <a:cs typeface="Calibri" pitchFamily="34" charset="0"/>
              </a:rPr>
              <a:t>Device-specific unless synchronized.</a:t>
            </a:r>
          </a:p>
        </p:txBody>
      </p:sp>
      <p:sp>
        <p:nvSpPr>
          <p:cNvPr id="10" name="Card"/>
          <p:cNvSpPr/>
          <p:nvPr/>
        </p:nvSpPr>
        <p:spPr>
          <a:xfrm>
            <a:off x="4278089" y="1473200"/>
            <a:ext cx="3635822" cy="3352800"/>
          </a:xfrm>
          <a:prstGeom prst="roundRect">
            <a:avLst>
              <a:gd name="adj" fmla="val 4571"/>
            </a:avLst>
          </a:prstGeom>
          <a:solidFill>
            <a:srgbClr val="FFFFFF"/>
          </a:solidFill>
          <a:ln w="22225">
            <a:solidFill>
              <a:srgbClr val="2D6B66"/>
            </a:solidFill>
            <a:prstDash val="solid"/>
          </a:ln>
        </p:spPr>
        <p:txBody>
          <a:bodyPr wrap="square" lIns="0" tIns="0" rIns="0" bIns="0" rtlCol="0" anchor="t"/>
          <a:lstStyle/>
          <a:p>
            <a:endParaRPr lang="en-US" sz="2000"/>
          </a:p>
        </p:txBody>
      </p:sp>
      <p:sp>
        <p:nvSpPr>
          <p:cNvPr id="11" name="Text"/>
          <p:cNvSpPr/>
          <p:nvPr/>
        </p:nvSpPr>
        <p:spPr>
          <a:xfrm>
            <a:off x="4481289" y="1651000"/>
            <a:ext cx="3229422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2000" b="1" dirty="0">
                <a:solidFill>
                  <a:srgbClr val="262626"/>
                </a:solidFill>
                <a:latin typeface="Calibri" pitchFamily="34" charset="0"/>
                <a:cs typeface="Calibri" pitchFamily="34" charset="0"/>
              </a:rPr>
              <a:t>Cloud Database</a:t>
            </a:r>
          </a:p>
        </p:txBody>
      </p:sp>
      <p:sp>
        <p:nvSpPr>
          <p:cNvPr id="12" name="Text"/>
          <p:cNvSpPr/>
          <p:nvPr/>
        </p:nvSpPr>
        <p:spPr>
          <a:xfrm>
            <a:off x="4481289" y="2209800"/>
            <a:ext cx="3229422" cy="2463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1800" dirty="0">
                <a:solidFill>
                  <a:srgbClr val="595959"/>
                </a:solidFill>
                <a:latin typeface="Calibri" pitchFamily="34" charset="0"/>
                <a:cs typeface="Calibri" pitchFamily="34" charset="0"/>
              </a:rPr>
              <a:t>Stored remotely.</a:t>
            </a:r>
          </a:p>
          <a:p>
            <a:pPr marL="0" indent="0" algn="l">
              <a:lnSpc>
                <a:spcPct val="145000"/>
              </a:lnSpc>
              <a:buNone/>
            </a:pPr>
            <a:r>
              <a:rPr lang="en-US" sz="1800" dirty="0">
                <a:solidFill>
                  <a:srgbClr val="595959"/>
                </a:solidFill>
                <a:latin typeface="Calibri" pitchFamily="34" charset="0"/>
                <a:cs typeface="Calibri" pitchFamily="34" charset="0"/>
              </a:rPr>
              <a:t>Shared across devices.</a:t>
            </a:r>
          </a:p>
          <a:p>
            <a:pPr marL="0" indent="0" algn="l">
              <a:lnSpc>
                <a:spcPct val="145000"/>
              </a:lnSpc>
              <a:buNone/>
            </a:pPr>
            <a:r>
              <a:rPr lang="en-US" sz="1800" dirty="0">
                <a:solidFill>
                  <a:srgbClr val="595959"/>
                </a:solidFill>
                <a:latin typeface="Calibri" pitchFamily="34" charset="0"/>
                <a:cs typeface="Calibri" pitchFamily="34" charset="0"/>
              </a:rPr>
              <a:t>Centralized data.</a:t>
            </a:r>
          </a:p>
          <a:p>
            <a:pPr marL="0" indent="0" algn="l">
              <a:lnSpc>
                <a:spcPct val="145000"/>
              </a:lnSpc>
              <a:buNone/>
            </a:pPr>
            <a:r>
              <a:rPr lang="en-US" sz="1800" dirty="0">
                <a:solidFill>
                  <a:srgbClr val="595959"/>
                </a:solidFill>
                <a:latin typeface="Calibri" pitchFamily="34" charset="0"/>
                <a:cs typeface="Calibri" pitchFamily="34" charset="0"/>
              </a:rPr>
              <a:t>Network dependency and security rules.</a:t>
            </a:r>
          </a:p>
        </p:txBody>
      </p:sp>
      <p:sp>
        <p:nvSpPr>
          <p:cNvPr id="13" name="Card"/>
          <p:cNvSpPr/>
          <p:nvPr/>
        </p:nvSpPr>
        <p:spPr>
          <a:xfrm>
            <a:off x="8098978" y="1473200"/>
            <a:ext cx="3635822" cy="3352800"/>
          </a:xfrm>
          <a:prstGeom prst="roundRect">
            <a:avLst>
              <a:gd name="adj" fmla="val 4571"/>
            </a:avLst>
          </a:prstGeom>
          <a:solidFill>
            <a:srgbClr val="FFFFFF"/>
          </a:solidFill>
          <a:ln w="22225">
            <a:solidFill>
              <a:srgbClr val="2D6B66"/>
            </a:solidFill>
            <a:prstDash val="solid"/>
          </a:ln>
        </p:spPr>
        <p:txBody>
          <a:bodyPr wrap="square" lIns="0" tIns="0" rIns="0" bIns="0" rtlCol="0" anchor="t"/>
          <a:lstStyle/>
          <a:p>
            <a:endParaRPr lang="en-US" sz="2000"/>
          </a:p>
        </p:txBody>
      </p:sp>
      <p:sp>
        <p:nvSpPr>
          <p:cNvPr id="14" name="Text"/>
          <p:cNvSpPr/>
          <p:nvPr/>
        </p:nvSpPr>
        <p:spPr>
          <a:xfrm>
            <a:off x="8302178" y="1651000"/>
            <a:ext cx="3229422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2000" b="1" dirty="0">
                <a:solidFill>
                  <a:srgbClr val="262626"/>
                </a:solidFill>
                <a:latin typeface="Calibri" pitchFamily="34" charset="0"/>
                <a:cs typeface="Calibri" pitchFamily="34" charset="0"/>
              </a:rPr>
              <a:t>Hybrid Approach</a:t>
            </a:r>
          </a:p>
        </p:txBody>
      </p:sp>
      <p:sp>
        <p:nvSpPr>
          <p:cNvPr id="15" name="Text"/>
          <p:cNvSpPr/>
          <p:nvPr/>
        </p:nvSpPr>
        <p:spPr>
          <a:xfrm>
            <a:off x="8302178" y="2209800"/>
            <a:ext cx="3229422" cy="2463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1800" dirty="0">
                <a:solidFill>
                  <a:srgbClr val="595959"/>
                </a:solidFill>
                <a:latin typeface="Calibri" pitchFamily="34" charset="0"/>
                <a:cs typeface="Calibri" pitchFamily="34" charset="0"/>
              </a:rPr>
              <a:t>Local cache + cloud source.</a:t>
            </a:r>
          </a:p>
          <a:p>
            <a:pPr marL="0" indent="0" algn="l">
              <a:lnSpc>
                <a:spcPct val="145000"/>
              </a:lnSpc>
              <a:buNone/>
            </a:pPr>
            <a:r>
              <a:rPr lang="en-US" sz="1800" dirty="0">
                <a:solidFill>
                  <a:srgbClr val="595959"/>
                </a:solidFill>
                <a:latin typeface="Calibri" pitchFamily="34" charset="0"/>
                <a:cs typeface="Calibri" pitchFamily="34" charset="0"/>
              </a:rPr>
              <a:t>Offline-first experience.</a:t>
            </a:r>
          </a:p>
          <a:p>
            <a:pPr marL="0" indent="0" algn="l">
              <a:lnSpc>
                <a:spcPct val="145000"/>
              </a:lnSpc>
              <a:buNone/>
            </a:pPr>
            <a:r>
              <a:rPr lang="en-US" sz="1800" dirty="0">
                <a:solidFill>
                  <a:srgbClr val="595959"/>
                </a:solidFill>
                <a:latin typeface="Calibri" pitchFamily="34" charset="0"/>
                <a:cs typeface="Calibri" pitchFamily="34" charset="0"/>
              </a:rPr>
              <a:t>Synchronization required.</a:t>
            </a:r>
          </a:p>
          <a:p>
            <a:pPr marL="0" indent="0" algn="l">
              <a:lnSpc>
                <a:spcPct val="145000"/>
              </a:lnSpc>
              <a:buNone/>
            </a:pPr>
            <a:r>
              <a:rPr lang="en-US" sz="1800" dirty="0">
                <a:solidFill>
                  <a:srgbClr val="595959"/>
                </a:solidFill>
                <a:latin typeface="Calibri" pitchFamily="34" charset="0"/>
                <a:cs typeface="Calibri" pitchFamily="34" charset="0"/>
              </a:rPr>
              <a:t>Handles conflicts and stale data.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r"/>
          <p:cNvSpPr/>
          <p:nvPr/>
        </p:nvSpPr>
        <p:spPr>
          <a:xfrm>
            <a:off x="0" y="0"/>
            <a:ext cx="12184380" cy="109728"/>
          </a:xfrm>
          <a:prstGeom prst="rect">
            <a:avLst/>
          </a:prstGeom>
          <a:solidFill>
            <a:srgbClr val="2D6B66"/>
          </a:solidFill>
          <a:ln/>
        </p:spPr>
        <p:txBody>
          <a:bodyPr wrap="square" lIns="0" tIns="0" rIns="0" bIns="0" rtlCol="0" anchor="t"/>
          <a:lstStyle/>
          <a:p>
            <a:endParaRPr lang="en-US"/>
          </a:p>
        </p:txBody>
      </p:sp>
      <p:sp>
        <p:nvSpPr>
          <p:cNvPr id="3" name="Text"/>
          <p:cNvSpPr/>
          <p:nvPr/>
        </p:nvSpPr>
        <p:spPr>
          <a:xfrm>
            <a:off x="457200" y="237744"/>
            <a:ext cx="10515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spc="200" dirty="0">
                <a:solidFill>
                  <a:srgbClr val="2D6B66"/>
                </a:solidFill>
                <a:latin typeface="Calibri" pitchFamily="34" charset="0"/>
                <a:cs typeface="Calibri" pitchFamily="34" charset="0"/>
              </a:rPr>
              <a:t>MOBILE APPLICATION DEVELOPMENT  ·  DATABASE CONNECTIVITY</a:t>
            </a:r>
          </a:p>
        </p:txBody>
      </p:sp>
      <p:sp>
        <p:nvSpPr>
          <p:cNvPr id="4" name="Text"/>
          <p:cNvSpPr/>
          <p:nvPr/>
        </p:nvSpPr>
        <p:spPr>
          <a:xfrm>
            <a:off x="457200" y="530352"/>
            <a:ext cx="1123950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3300" b="1" dirty="0">
                <a:solidFill>
                  <a:srgbClr val="262626"/>
                </a:solidFill>
                <a:latin typeface="Calibri Light" pitchFamily="34" charset="0"/>
                <a:cs typeface="Calibri Light" pitchFamily="34" charset="0"/>
              </a:rPr>
              <a:t>What Is SQLite?</a:t>
            </a:r>
          </a:p>
        </p:txBody>
      </p:sp>
      <p:sp>
        <p:nvSpPr>
          <p:cNvPr id="5" name="Rule"/>
          <p:cNvSpPr/>
          <p:nvPr/>
        </p:nvSpPr>
        <p:spPr>
          <a:xfrm>
            <a:off x="457200" y="1243584"/>
            <a:ext cx="1005840" cy="0"/>
          </a:xfrm>
          <a:prstGeom prst="line">
            <a:avLst/>
          </a:prstGeom>
          <a:noFill/>
          <a:ln w="31750">
            <a:solidFill>
              <a:srgbClr val="660000"/>
            </a:solidFill>
            <a:prstDash val="solid"/>
          </a:ln>
        </p:spPr>
        <p:txBody>
          <a:bodyPr wrap="square" lIns="0" tIns="0" rIns="0" bIns="0" rtlCol="0" anchor="t"/>
          <a:lstStyle/>
          <a:p>
            <a:endParaRPr lang="en-US"/>
          </a:p>
        </p:txBody>
      </p:sp>
      <p:sp>
        <p:nvSpPr>
          <p:cNvPr id="6" name="Text"/>
          <p:cNvSpPr/>
          <p:nvPr/>
        </p:nvSpPr>
        <p:spPr>
          <a:xfrm>
            <a:off x="8778240" y="6337300"/>
            <a:ext cx="2954020" cy="2921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300" dirty="0">
                <a:solidFill>
                  <a:srgbClr val="595959"/>
                </a:solidFill>
                <a:latin typeface="Calibri" pitchFamily="34" charset="0"/>
                <a:cs typeface="Calibri" pitchFamily="34" charset="0"/>
              </a:rPr>
              <a:t>Mobile Application Development  ·  6 / 34</a:t>
            </a:r>
          </a:p>
        </p:txBody>
      </p:sp>
      <p:sp>
        <p:nvSpPr>
          <p:cNvPr id="7" name="Dot"/>
          <p:cNvSpPr/>
          <p:nvPr/>
        </p:nvSpPr>
        <p:spPr>
          <a:xfrm>
            <a:off x="482600" y="1600200"/>
            <a:ext cx="127000" cy="127000"/>
          </a:xfrm>
          <a:prstGeom prst="ellipse">
            <a:avLst/>
          </a:prstGeom>
          <a:solidFill>
            <a:srgbClr val="2D6B6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"/>
          <p:cNvSpPr/>
          <p:nvPr/>
        </p:nvSpPr>
        <p:spPr>
          <a:xfrm>
            <a:off x="838200" y="1473200"/>
            <a:ext cx="10871200" cy="584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2000" dirty="0">
                <a:solidFill>
                  <a:srgbClr val="262626"/>
                </a:solidFill>
                <a:latin typeface="Calibri" pitchFamily="34" charset="0"/>
                <a:cs typeface="Calibri" pitchFamily="34" charset="0"/>
              </a:rPr>
              <a:t>SQLite is an embedded relational database.</a:t>
            </a:r>
          </a:p>
        </p:txBody>
      </p:sp>
      <p:sp>
        <p:nvSpPr>
          <p:cNvPr id="9" name="Dot"/>
          <p:cNvSpPr/>
          <p:nvPr/>
        </p:nvSpPr>
        <p:spPr>
          <a:xfrm>
            <a:off x="482600" y="2184400"/>
            <a:ext cx="127000" cy="127000"/>
          </a:xfrm>
          <a:prstGeom prst="ellipse">
            <a:avLst/>
          </a:prstGeom>
          <a:solidFill>
            <a:srgbClr val="2D6B6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"/>
          <p:cNvSpPr/>
          <p:nvPr/>
        </p:nvSpPr>
        <p:spPr>
          <a:xfrm>
            <a:off x="838200" y="2057400"/>
            <a:ext cx="10871200" cy="584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2000" dirty="0">
                <a:solidFill>
                  <a:srgbClr val="262626"/>
                </a:solidFill>
                <a:latin typeface="Calibri" pitchFamily="34" charset="0"/>
                <a:cs typeface="Calibri" pitchFamily="34" charset="0"/>
              </a:rPr>
              <a:t>It uses SQL syntax and stores the database locally on the Android device.</a:t>
            </a:r>
          </a:p>
        </p:txBody>
      </p:sp>
      <p:sp>
        <p:nvSpPr>
          <p:cNvPr id="11" name="Dot"/>
          <p:cNvSpPr/>
          <p:nvPr/>
        </p:nvSpPr>
        <p:spPr>
          <a:xfrm>
            <a:off x="482600" y="2768600"/>
            <a:ext cx="127000" cy="127000"/>
          </a:xfrm>
          <a:prstGeom prst="ellipse">
            <a:avLst/>
          </a:prstGeom>
          <a:solidFill>
            <a:srgbClr val="2D6B6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Text"/>
          <p:cNvSpPr/>
          <p:nvPr/>
        </p:nvSpPr>
        <p:spPr>
          <a:xfrm>
            <a:off x="838200" y="2641600"/>
            <a:ext cx="10871200" cy="584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2000" dirty="0">
                <a:solidFill>
                  <a:srgbClr val="262626"/>
                </a:solidFill>
                <a:latin typeface="Calibri" pitchFamily="34" charset="0"/>
                <a:cs typeface="Calibri" pitchFamily="34" charset="0"/>
              </a:rPr>
              <a:t>Android provides native SQLite support.</a:t>
            </a:r>
          </a:p>
        </p:txBody>
      </p:sp>
      <p:sp>
        <p:nvSpPr>
          <p:cNvPr id="13" name="Card"/>
          <p:cNvSpPr/>
          <p:nvPr/>
        </p:nvSpPr>
        <p:spPr>
          <a:xfrm>
            <a:off x="457200" y="3378200"/>
            <a:ext cx="5546266" cy="1727200"/>
          </a:xfrm>
          <a:prstGeom prst="roundRect">
            <a:avLst>
              <a:gd name="adj" fmla="val 4571"/>
            </a:avLst>
          </a:prstGeom>
          <a:solidFill>
            <a:srgbClr val="FFFFFF"/>
          </a:solidFill>
          <a:ln w="22225">
            <a:solidFill>
              <a:srgbClr val="2D6B66"/>
            </a:solidFill>
            <a:prstDash val="solid"/>
          </a:ln>
        </p:spPr>
        <p:txBody>
          <a:bodyPr wrap="square" lIns="0" tIns="0" rIns="0" bIns="0" rtlCol="0" anchor="t"/>
          <a:lstStyle/>
          <a:p>
            <a:endParaRPr lang="en-US" sz="2000"/>
          </a:p>
        </p:txBody>
      </p:sp>
      <p:sp>
        <p:nvSpPr>
          <p:cNvPr id="14" name="Text"/>
          <p:cNvSpPr/>
          <p:nvPr/>
        </p:nvSpPr>
        <p:spPr>
          <a:xfrm>
            <a:off x="660400" y="3556000"/>
            <a:ext cx="5139866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2000" b="1" dirty="0">
                <a:solidFill>
                  <a:srgbClr val="262626"/>
                </a:solidFill>
                <a:latin typeface="Calibri" pitchFamily="34" charset="0"/>
                <a:cs typeface="Calibri" pitchFamily="34" charset="0"/>
              </a:rPr>
              <a:t>SharedPreferences limitation</a:t>
            </a:r>
          </a:p>
        </p:txBody>
      </p:sp>
      <p:sp>
        <p:nvSpPr>
          <p:cNvPr id="15" name="Text"/>
          <p:cNvSpPr/>
          <p:nvPr/>
        </p:nvSpPr>
        <p:spPr>
          <a:xfrm>
            <a:off x="660400" y="4114800"/>
            <a:ext cx="5139866" cy="838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8000"/>
              </a:lnSpc>
              <a:buNone/>
            </a:pPr>
            <a:r>
              <a:rPr lang="en-US" sz="1900" dirty="0">
                <a:solidFill>
                  <a:srgbClr val="595959"/>
                </a:solidFill>
                <a:latin typeface="Calibri" pitchFamily="34" charset="0"/>
                <a:cs typeface="Calibri" pitchFamily="34" charset="0"/>
              </a:rPr>
              <a:t>No table structure, relational model, or general SQL query capability.</a:t>
            </a:r>
          </a:p>
        </p:txBody>
      </p:sp>
      <p:sp>
        <p:nvSpPr>
          <p:cNvPr id="16" name="Card"/>
          <p:cNvSpPr/>
          <p:nvPr/>
        </p:nvSpPr>
        <p:spPr>
          <a:xfrm>
            <a:off x="6188533" y="3378200"/>
            <a:ext cx="5546266" cy="1727200"/>
          </a:xfrm>
          <a:prstGeom prst="roundRect">
            <a:avLst>
              <a:gd name="adj" fmla="val 4571"/>
            </a:avLst>
          </a:prstGeom>
          <a:solidFill>
            <a:srgbClr val="FFFFFF"/>
          </a:solidFill>
          <a:ln w="22225">
            <a:solidFill>
              <a:srgbClr val="2D6B66"/>
            </a:solidFill>
            <a:prstDash val="solid"/>
          </a:ln>
        </p:spPr>
        <p:txBody>
          <a:bodyPr wrap="square" lIns="0" tIns="0" rIns="0" bIns="0" rtlCol="0" anchor="t"/>
          <a:lstStyle/>
          <a:p>
            <a:endParaRPr lang="en-US" sz="2000"/>
          </a:p>
        </p:txBody>
      </p:sp>
      <p:sp>
        <p:nvSpPr>
          <p:cNvPr id="17" name="Text"/>
          <p:cNvSpPr/>
          <p:nvPr/>
        </p:nvSpPr>
        <p:spPr>
          <a:xfrm>
            <a:off x="6391733" y="3556000"/>
            <a:ext cx="5139866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2000" b="1" dirty="0">
                <a:solidFill>
                  <a:srgbClr val="262626"/>
                </a:solidFill>
                <a:latin typeface="Calibri" pitchFamily="34" charset="0"/>
                <a:cs typeface="Calibri" pitchFamily="34" charset="0"/>
              </a:rPr>
              <a:t>SQLite advantage</a:t>
            </a:r>
          </a:p>
        </p:txBody>
      </p:sp>
      <p:sp>
        <p:nvSpPr>
          <p:cNvPr id="18" name="Text"/>
          <p:cNvSpPr/>
          <p:nvPr/>
        </p:nvSpPr>
        <p:spPr>
          <a:xfrm>
            <a:off x="6391733" y="4114800"/>
            <a:ext cx="5139866" cy="838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8000"/>
              </a:lnSpc>
              <a:buNone/>
            </a:pPr>
            <a:r>
              <a:rPr lang="en-US" sz="1900" dirty="0">
                <a:solidFill>
                  <a:srgbClr val="595959"/>
                </a:solidFill>
                <a:latin typeface="Calibri" pitchFamily="34" charset="0"/>
                <a:cs typeface="Calibri" pitchFamily="34" charset="0"/>
              </a:rPr>
              <a:t>Structured tables + SQL querying + local persistence.</a:t>
            </a:r>
          </a:p>
        </p:txBody>
      </p:sp>
      <p:sp>
        <p:nvSpPr>
          <p:cNvPr id="19" name="Text"/>
          <p:cNvSpPr/>
          <p:nvPr/>
        </p:nvSpPr>
        <p:spPr>
          <a:xfrm>
            <a:off x="457200" y="5321400"/>
            <a:ext cx="11277600" cy="431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2000" b="1" dirty="0">
                <a:solidFill>
                  <a:srgbClr val="2D6B66"/>
                </a:solidFill>
                <a:latin typeface="Calibri" pitchFamily="34" charset="0"/>
                <a:cs typeface="Calibri" pitchFamily="34" charset="0"/>
              </a:rPr>
              <a:t>SQLite is appropriate when an application needs tables, relationships, filtering, and SQL queries.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r"/>
          <p:cNvSpPr/>
          <p:nvPr/>
        </p:nvSpPr>
        <p:spPr>
          <a:xfrm>
            <a:off x="0" y="0"/>
            <a:ext cx="12184380" cy="109728"/>
          </a:xfrm>
          <a:prstGeom prst="rect">
            <a:avLst/>
          </a:prstGeom>
          <a:solidFill>
            <a:srgbClr val="2D6B66"/>
          </a:solidFill>
          <a:ln/>
        </p:spPr>
        <p:txBody>
          <a:bodyPr wrap="square" lIns="0" tIns="0" rIns="0" bIns="0" rtlCol="0" anchor="t"/>
          <a:lstStyle/>
          <a:p>
            <a:endParaRPr lang="en-US"/>
          </a:p>
        </p:txBody>
      </p:sp>
      <p:sp>
        <p:nvSpPr>
          <p:cNvPr id="3" name="Text"/>
          <p:cNvSpPr/>
          <p:nvPr/>
        </p:nvSpPr>
        <p:spPr>
          <a:xfrm>
            <a:off x="457200" y="237744"/>
            <a:ext cx="10515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spc="200" dirty="0">
                <a:solidFill>
                  <a:srgbClr val="2D6B66"/>
                </a:solidFill>
                <a:latin typeface="Calibri" pitchFamily="34" charset="0"/>
                <a:cs typeface="Calibri" pitchFamily="34" charset="0"/>
              </a:rPr>
              <a:t>MOBILE APPLICATION DEVELOPMENT  ·  DATABASE CONNECTIVITY</a:t>
            </a:r>
          </a:p>
        </p:txBody>
      </p:sp>
      <p:sp>
        <p:nvSpPr>
          <p:cNvPr id="4" name="Text"/>
          <p:cNvSpPr/>
          <p:nvPr/>
        </p:nvSpPr>
        <p:spPr>
          <a:xfrm>
            <a:off x="457200" y="530352"/>
            <a:ext cx="1123950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3300" b="1" dirty="0">
                <a:solidFill>
                  <a:srgbClr val="262626"/>
                </a:solidFill>
                <a:latin typeface="Calibri Light" pitchFamily="34" charset="0"/>
                <a:cs typeface="Calibri Light" pitchFamily="34" charset="0"/>
              </a:rPr>
              <a:t>SQLite Architecture in Android</a:t>
            </a:r>
          </a:p>
        </p:txBody>
      </p:sp>
      <p:sp>
        <p:nvSpPr>
          <p:cNvPr id="5" name="Rule"/>
          <p:cNvSpPr/>
          <p:nvPr/>
        </p:nvSpPr>
        <p:spPr>
          <a:xfrm>
            <a:off x="457200" y="1243584"/>
            <a:ext cx="1005840" cy="0"/>
          </a:xfrm>
          <a:prstGeom prst="line">
            <a:avLst/>
          </a:prstGeom>
          <a:noFill/>
          <a:ln w="31750">
            <a:solidFill>
              <a:srgbClr val="660000"/>
            </a:solidFill>
            <a:prstDash val="solid"/>
          </a:ln>
        </p:spPr>
        <p:txBody>
          <a:bodyPr wrap="square" lIns="0" tIns="0" rIns="0" bIns="0" rtlCol="0" anchor="t"/>
          <a:lstStyle/>
          <a:p>
            <a:endParaRPr lang="en-US"/>
          </a:p>
        </p:txBody>
      </p:sp>
      <p:sp>
        <p:nvSpPr>
          <p:cNvPr id="6" name="Text"/>
          <p:cNvSpPr/>
          <p:nvPr/>
        </p:nvSpPr>
        <p:spPr>
          <a:xfrm>
            <a:off x="8778240" y="6337300"/>
            <a:ext cx="2954020" cy="2921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300" dirty="0">
                <a:solidFill>
                  <a:srgbClr val="595959"/>
                </a:solidFill>
                <a:latin typeface="Calibri" pitchFamily="34" charset="0"/>
                <a:cs typeface="Calibri" pitchFamily="34" charset="0"/>
              </a:rPr>
              <a:t>Mobile Application Development  ·  7 / 34</a:t>
            </a:r>
          </a:p>
        </p:txBody>
      </p:sp>
      <p:sp>
        <p:nvSpPr>
          <p:cNvPr id="7" name="Node"/>
          <p:cNvSpPr/>
          <p:nvPr/>
        </p:nvSpPr>
        <p:spPr>
          <a:xfrm>
            <a:off x="1778000" y="1473200"/>
            <a:ext cx="6350000" cy="730250"/>
          </a:xfrm>
          <a:prstGeom prst="roundRect">
            <a:avLst>
              <a:gd name="adj" fmla="val 4571"/>
            </a:avLst>
          </a:prstGeom>
          <a:solidFill>
            <a:srgbClr val="F1F6F5"/>
          </a:solidFill>
          <a:ln w="22225">
            <a:solidFill>
              <a:srgbClr val="2D6B66"/>
            </a:solidFill>
            <a:prstDash val="solid"/>
          </a:ln>
        </p:spPr>
        <p:txBody>
          <a:bodyPr wrap="square" lIns="0" tIns="0" rIns="0" bIns="0" rtlCol="0" anchor="t"/>
          <a:lstStyle/>
          <a:p>
            <a:endParaRPr lang="en-US" sz="2000"/>
          </a:p>
        </p:txBody>
      </p:sp>
      <p:sp>
        <p:nvSpPr>
          <p:cNvPr id="8" name="Text"/>
          <p:cNvSpPr/>
          <p:nvPr/>
        </p:nvSpPr>
        <p:spPr>
          <a:xfrm>
            <a:off x="1981200" y="1473200"/>
            <a:ext cx="5943600" cy="730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1900" b="1" dirty="0">
                <a:solidFill>
                  <a:srgbClr val="262626"/>
                </a:solidFill>
                <a:latin typeface="Calibri" pitchFamily="34" charset="0"/>
                <a:cs typeface="Calibri" pitchFamily="34" charset="0"/>
              </a:rPr>
              <a:t>Application</a:t>
            </a:r>
          </a:p>
        </p:txBody>
      </p:sp>
      <p:sp>
        <p:nvSpPr>
          <p:cNvPr id="9" name="Arrow"/>
          <p:cNvSpPr/>
          <p:nvPr/>
        </p:nvSpPr>
        <p:spPr>
          <a:xfrm>
            <a:off x="4838700" y="2181941"/>
            <a:ext cx="228600" cy="248920"/>
          </a:xfrm>
          <a:prstGeom prst="downArrow">
            <a:avLst/>
          </a:prstGeom>
          <a:solidFill>
            <a:srgbClr val="2D6B66"/>
          </a:solidFill>
          <a:ln/>
        </p:spPr>
        <p:txBody>
          <a:bodyPr wrap="square" lIns="0" tIns="0" rIns="0" bIns="0" rtlCol="0" anchor="t"/>
          <a:lstStyle/>
          <a:p>
            <a:endParaRPr lang="en-US" sz="2000"/>
          </a:p>
        </p:txBody>
      </p:sp>
      <p:sp>
        <p:nvSpPr>
          <p:cNvPr id="10" name="Text"/>
          <p:cNvSpPr/>
          <p:nvPr/>
        </p:nvSpPr>
        <p:spPr>
          <a:xfrm>
            <a:off x="8331200" y="1935480"/>
            <a:ext cx="3175000" cy="730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1800" dirty="0">
                <a:solidFill>
                  <a:srgbClr val="595959"/>
                </a:solidFill>
                <a:latin typeface="Calibri" pitchFamily="34" charset="0"/>
                <a:cs typeface="Calibri" pitchFamily="34" charset="0"/>
              </a:rPr>
              <a:t>Manages database creation and version upgrades.</a:t>
            </a:r>
          </a:p>
        </p:txBody>
      </p:sp>
      <p:sp>
        <p:nvSpPr>
          <p:cNvPr id="11" name="Node"/>
          <p:cNvSpPr/>
          <p:nvPr/>
        </p:nvSpPr>
        <p:spPr>
          <a:xfrm>
            <a:off x="1778000" y="2429505"/>
            <a:ext cx="6350000" cy="730250"/>
          </a:xfrm>
          <a:prstGeom prst="roundRect">
            <a:avLst>
              <a:gd name="adj" fmla="val 4571"/>
            </a:avLst>
          </a:prstGeom>
          <a:solidFill>
            <a:srgbClr val="FFFFFF"/>
          </a:solidFill>
          <a:ln w="22225">
            <a:solidFill>
              <a:srgbClr val="2D6B66"/>
            </a:solidFill>
            <a:prstDash val="solid"/>
          </a:ln>
        </p:spPr>
        <p:txBody>
          <a:bodyPr wrap="square" lIns="0" tIns="0" rIns="0" bIns="0" rtlCol="0" anchor="t"/>
          <a:lstStyle/>
          <a:p>
            <a:endParaRPr lang="en-US" sz="2000"/>
          </a:p>
        </p:txBody>
      </p:sp>
      <p:sp>
        <p:nvSpPr>
          <p:cNvPr id="12" name="Text"/>
          <p:cNvSpPr/>
          <p:nvPr/>
        </p:nvSpPr>
        <p:spPr>
          <a:xfrm>
            <a:off x="1981200" y="2429505"/>
            <a:ext cx="5943600" cy="730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1900" b="1" dirty="0">
                <a:solidFill>
                  <a:srgbClr val="262626"/>
                </a:solidFill>
                <a:latin typeface="Calibri" pitchFamily="34" charset="0"/>
                <a:cs typeface="Calibri" pitchFamily="34" charset="0"/>
              </a:rPr>
              <a:t>SQLiteOpenHelper</a:t>
            </a:r>
          </a:p>
        </p:txBody>
      </p:sp>
      <p:sp>
        <p:nvSpPr>
          <p:cNvPr id="13" name="Arrow"/>
          <p:cNvSpPr/>
          <p:nvPr/>
        </p:nvSpPr>
        <p:spPr>
          <a:xfrm>
            <a:off x="4838700" y="3167253"/>
            <a:ext cx="228600" cy="248920"/>
          </a:xfrm>
          <a:prstGeom prst="downArrow">
            <a:avLst/>
          </a:prstGeom>
          <a:solidFill>
            <a:srgbClr val="2D6B66"/>
          </a:solidFill>
          <a:ln/>
        </p:spPr>
        <p:txBody>
          <a:bodyPr wrap="square" lIns="0" tIns="0" rIns="0" bIns="0" rtlCol="0" anchor="t"/>
          <a:lstStyle/>
          <a:p>
            <a:endParaRPr lang="en-US" sz="2000"/>
          </a:p>
        </p:txBody>
      </p:sp>
      <p:sp>
        <p:nvSpPr>
          <p:cNvPr id="14" name="Text"/>
          <p:cNvSpPr/>
          <p:nvPr/>
        </p:nvSpPr>
        <p:spPr>
          <a:xfrm>
            <a:off x="8331200" y="2866764"/>
            <a:ext cx="3175000" cy="730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1800" dirty="0">
                <a:solidFill>
                  <a:srgbClr val="595959"/>
                </a:solidFill>
                <a:latin typeface="Calibri" pitchFamily="34" charset="0"/>
                <a:cs typeface="Calibri" pitchFamily="34" charset="0"/>
              </a:rPr>
              <a:t>Exposes readable/writable access.</a:t>
            </a:r>
          </a:p>
        </p:txBody>
      </p:sp>
      <p:sp>
        <p:nvSpPr>
          <p:cNvPr id="15" name="Node"/>
          <p:cNvSpPr/>
          <p:nvPr/>
        </p:nvSpPr>
        <p:spPr>
          <a:xfrm>
            <a:off x="1778000" y="3416173"/>
            <a:ext cx="6350000" cy="730250"/>
          </a:xfrm>
          <a:prstGeom prst="roundRect">
            <a:avLst>
              <a:gd name="adj" fmla="val 4571"/>
            </a:avLst>
          </a:prstGeom>
          <a:solidFill>
            <a:srgbClr val="F1F6F5"/>
          </a:solidFill>
          <a:ln w="22225">
            <a:solidFill>
              <a:srgbClr val="2D6B66"/>
            </a:solidFill>
            <a:prstDash val="solid"/>
          </a:ln>
        </p:spPr>
        <p:txBody>
          <a:bodyPr wrap="square" lIns="0" tIns="0" rIns="0" bIns="0" rtlCol="0" anchor="t"/>
          <a:lstStyle/>
          <a:p>
            <a:endParaRPr lang="en-US" sz="2000"/>
          </a:p>
        </p:txBody>
      </p:sp>
      <p:sp>
        <p:nvSpPr>
          <p:cNvPr id="16" name="Text"/>
          <p:cNvSpPr/>
          <p:nvPr/>
        </p:nvSpPr>
        <p:spPr>
          <a:xfrm>
            <a:off x="1981200" y="3416173"/>
            <a:ext cx="5943600" cy="730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1900" b="1" dirty="0">
                <a:solidFill>
                  <a:srgbClr val="262626"/>
                </a:solidFill>
                <a:latin typeface="Calibri" pitchFamily="34" charset="0"/>
                <a:cs typeface="Calibri" pitchFamily="34" charset="0"/>
              </a:rPr>
              <a:t>SQLiteDatabase</a:t>
            </a:r>
          </a:p>
        </p:txBody>
      </p:sp>
      <p:sp>
        <p:nvSpPr>
          <p:cNvPr id="17" name="Arrow"/>
          <p:cNvSpPr/>
          <p:nvPr/>
        </p:nvSpPr>
        <p:spPr>
          <a:xfrm>
            <a:off x="4838700" y="4169410"/>
            <a:ext cx="228600" cy="248920"/>
          </a:xfrm>
          <a:prstGeom prst="downArrow">
            <a:avLst/>
          </a:prstGeom>
          <a:solidFill>
            <a:srgbClr val="2D6B66"/>
          </a:solidFill>
          <a:ln/>
        </p:spPr>
        <p:txBody>
          <a:bodyPr wrap="square" lIns="0" tIns="0" rIns="0" bIns="0" rtlCol="0" anchor="t"/>
          <a:lstStyle/>
          <a:p>
            <a:endParaRPr lang="en-US" sz="2000"/>
          </a:p>
        </p:txBody>
      </p:sp>
      <p:sp>
        <p:nvSpPr>
          <p:cNvPr id="18" name="Text"/>
          <p:cNvSpPr/>
          <p:nvPr/>
        </p:nvSpPr>
        <p:spPr>
          <a:xfrm>
            <a:off x="8331200" y="3928745"/>
            <a:ext cx="3175000" cy="730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1800" dirty="0">
                <a:solidFill>
                  <a:srgbClr val="595959"/>
                </a:solidFill>
                <a:latin typeface="Calibri" pitchFamily="34" charset="0"/>
                <a:cs typeface="Calibri" pitchFamily="34" charset="0"/>
              </a:rPr>
              <a:t>Executes SQL operations against tables.</a:t>
            </a:r>
          </a:p>
        </p:txBody>
      </p:sp>
      <p:sp>
        <p:nvSpPr>
          <p:cNvPr id="19" name="Node"/>
          <p:cNvSpPr/>
          <p:nvPr/>
        </p:nvSpPr>
        <p:spPr>
          <a:xfrm>
            <a:off x="1778000" y="4438015"/>
            <a:ext cx="6350000" cy="730250"/>
          </a:xfrm>
          <a:prstGeom prst="roundRect">
            <a:avLst>
              <a:gd name="adj" fmla="val 4571"/>
            </a:avLst>
          </a:prstGeom>
          <a:solidFill>
            <a:srgbClr val="FFFFFF"/>
          </a:solidFill>
          <a:ln w="22225">
            <a:solidFill>
              <a:srgbClr val="2D6B66"/>
            </a:solidFill>
            <a:prstDash val="solid"/>
          </a:ln>
        </p:spPr>
        <p:txBody>
          <a:bodyPr wrap="square" lIns="0" tIns="0" rIns="0" bIns="0" rtlCol="0" anchor="t"/>
          <a:lstStyle/>
          <a:p>
            <a:endParaRPr lang="en-US" sz="2000"/>
          </a:p>
        </p:txBody>
      </p:sp>
      <p:sp>
        <p:nvSpPr>
          <p:cNvPr id="20" name="Text"/>
          <p:cNvSpPr/>
          <p:nvPr/>
        </p:nvSpPr>
        <p:spPr>
          <a:xfrm>
            <a:off x="1981200" y="4438015"/>
            <a:ext cx="5943600" cy="730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1900" b="1" dirty="0">
                <a:solidFill>
                  <a:srgbClr val="262626"/>
                </a:solidFill>
                <a:latin typeface="Calibri" pitchFamily="34" charset="0"/>
                <a:cs typeface="Calibri" pitchFamily="34" charset="0"/>
              </a:rPr>
              <a:t>Tables / SQL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r"/>
          <p:cNvSpPr/>
          <p:nvPr/>
        </p:nvSpPr>
        <p:spPr>
          <a:xfrm>
            <a:off x="0" y="0"/>
            <a:ext cx="12184380" cy="109728"/>
          </a:xfrm>
          <a:prstGeom prst="rect">
            <a:avLst/>
          </a:prstGeom>
          <a:solidFill>
            <a:srgbClr val="2D6B66"/>
          </a:solidFill>
          <a:ln/>
        </p:spPr>
        <p:txBody>
          <a:bodyPr wrap="square" lIns="0" tIns="0" rIns="0" bIns="0" rtlCol="0" anchor="t"/>
          <a:lstStyle/>
          <a:p>
            <a:endParaRPr lang="en-US"/>
          </a:p>
        </p:txBody>
      </p:sp>
      <p:sp>
        <p:nvSpPr>
          <p:cNvPr id="3" name="Text"/>
          <p:cNvSpPr/>
          <p:nvPr/>
        </p:nvSpPr>
        <p:spPr>
          <a:xfrm>
            <a:off x="457200" y="237744"/>
            <a:ext cx="10515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spc="200" dirty="0">
                <a:solidFill>
                  <a:srgbClr val="2D6B66"/>
                </a:solidFill>
                <a:latin typeface="Calibri" pitchFamily="34" charset="0"/>
                <a:cs typeface="Calibri" pitchFamily="34" charset="0"/>
              </a:rPr>
              <a:t>MOBILE APPLICATION DEVELOPMENT  ·  DATABASE CONNECTIVITY</a:t>
            </a:r>
          </a:p>
        </p:txBody>
      </p:sp>
      <p:sp>
        <p:nvSpPr>
          <p:cNvPr id="4" name="Text"/>
          <p:cNvSpPr/>
          <p:nvPr/>
        </p:nvSpPr>
        <p:spPr>
          <a:xfrm>
            <a:off x="457200" y="530352"/>
            <a:ext cx="1123950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3300" b="1" dirty="0">
                <a:solidFill>
                  <a:srgbClr val="262626"/>
                </a:solidFill>
                <a:latin typeface="Calibri Light" pitchFamily="34" charset="0"/>
                <a:cs typeface="Calibri Light" pitchFamily="34" charset="0"/>
              </a:rPr>
              <a:t>Creating a SQLite Database Helper</a:t>
            </a:r>
          </a:p>
        </p:txBody>
      </p:sp>
      <p:sp>
        <p:nvSpPr>
          <p:cNvPr id="5" name="Rule"/>
          <p:cNvSpPr/>
          <p:nvPr/>
        </p:nvSpPr>
        <p:spPr>
          <a:xfrm>
            <a:off x="457200" y="1243584"/>
            <a:ext cx="1005840" cy="0"/>
          </a:xfrm>
          <a:prstGeom prst="line">
            <a:avLst/>
          </a:prstGeom>
          <a:noFill/>
          <a:ln w="31750">
            <a:solidFill>
              <a:srgbClr val="660000"/>
            </a:solidFill>
            <a:prstDash val="solid"/>
          </a:ln>
        </p:spPr>
        <p:txBody>
          <a:bodyPr wrap="square" lIns="0" tIns="0" rIns="0" bIns="0" rtlCol="0" anchor="t"/>
          <a:lstStyle/>
          <a:p>
            <a:endParaRPr lang="en-US"/>
          </a:p>
        </p:txBody>
      </p:sp>
      <p:sp>
        <p:nvSpPr>
          <p:cNvPr id="6" name="Text"/>
          <p:cNvSpPr/>
          <p:nvPr/>
        </p:nvSpPr>
        <p:spPr>
          <a:xfrm>
            <a:off x="8778240" y="6337300"/>
            <a:ext cx="2954020" cy="2921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300" dirty="0">
                <a:solidFill>
                  <a:srgbClr val="595959"/>
                </a:solidFill>
                <a:latin typeface="Calibri" pitchFamily="34" charset="0"/>
                <a:cs typeface="Calibri" pitchFamily="34" charset="0"/>
              </a:rPr>
              <a:t>Mobile Application Development  ·  8 / 34</a:t>
            </a:r>
          </a:p>
        </p:txBody>
      </p:sp>
      <p:sp>
        <p:nvSpPr>
          <p:cNvPr id="7" name="CodePanel"/>
          <p:cNvSpPr/>
          <p:nvPr/>
        </p:nvSpPr>
        <p:spPr>
          <a:xfrm>
            <a:off x="457200" y="1473200"/>
            <a:ext cx="11277600" cy="4583360"/>
          </a:xfrm>
          <a:prstGeom prst="roundRect">
            <a:avLst>
              <a:gd name="adj" fmla="val 4571"/>
            </a:avLst>
          </a:prstGeom>
          <a:solidFill>
            <a:srgbClr val="1E2B2A"/>
          </a:solidFill>
          <a:ln/>
        </p:spPr>
        <p:txBody>
          <a:bodyPr wrap="square" lIns="0" tIns="0" rIns="0" bIns="0" rtlCol="0" anchor="t"/>
          <a:lstStyle/>
          <a:p>
            <a:endParaRPr lang="en-US" sz="2000"/>
          </a:p>
        </p:txBody>
      </p:sp>
      <p:sp>
        <p:nvSpPr>
          <p:cNvPr id="8" name="Text"/>
          <p:cNvSpPr/>
          <p:nvPr/>
        </p:nvSpPr>
        <p:spPr>
          <a:xfrm>
            <a:off x="736600" y="1727200"/>
            <a:ext cx="10718800" cy="4075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35000"/>
              </a:lnSpc>
              <a:buNone/>
            </a:pPr>
            <a:r>
              <a:rPr lang="en-US" sz="1100" dirty="0">
                <a:solidFill>
                  <a:srgbClr val="D9E6E4"/>
                </a:solidFill>
                <a:latin typeface="Consolas" pitchFamily="34" charset="0"/>
                <a:cs typeface="Consolas" pitchFamily="34" charset="0"/>
              </a:rPr>
              <a:t>class DBHelper(context: Context) :</a:t>
            </a:r>
          </a:p>
          <a:p>
            <a:pPr marL="0" indent="0" algn="l">
              <a:lnSpc>
                <a:spcPct val="135000"/>
              </a:lnSpc>
              <a:buNone/>
            </a:pPr>
            <a:r>
              <a:rPr lang="en-US" sz="1100" dirty="0">
                <a:solidFill>
                  <a:srgbClr val="D9E6E4"/>
                </a:solidFill>
                <a:latin typeface="Consolas" pitchFamily="34" charset="0"/>
                <a:cs typeface="Consolas" pitchFamily="34" charset="0"/>
              </a:rPr>
              <a:t>    SQLiteOpenHelper(context, "UserDB", null, 1) {</a:t>
            </a:r>
          </a:p>
          <a:p>
            <a:pPr marL="0" indent="0" algn="l">
              <a:lnSpc>
                <a:spcPct val="135000"/>
              </a:lnSpc>
              <a:buNone/>
            </a:pPr>
            <a:endParaRPr lang="en-US" sz="1100" dirty="0">
              <a:solidFill>
                <a:srgbClr val="D9E6E4"/>
              </a:solidFill>
              <a:latin typeface="Consolas" pitchFamily="34" charset="0"/>
              <a:cs typeface="Consolas" pitchFamily="34" charset="0"/>
            </a:endParaRPr>
          </a:p>
          <a:p>
            <a:pPr marL="0" indent="0" algn="l">
              <a:lnSpc>
                <a:spcPct val="135000"/>
              </a:lnSpc>
              <a:buNone/>
            </a:pPr>
            <a:r>
              <a:rPr lang="en-US" sz="1100" dirty="0">
                <a:solidFill>
                  <a:srgbClr val="D9E6E4"/>
                </a:solidFill>
                <a:latin typeface="Consolas" pitchFamily="34" charset="0"/>
                <a:cs typeface="Consolas" pitchFamily="34" charset="0"/>
              </a:rPr>
              <a:t>    override fun onCreate(db: SQLiteDatabase) {</a:t>
            </a:r>
          </a:p>
          <a:p>
            <a:pPr marL="0" indent="0" algn="l">
              <a:lnSpc>
                <a:spcPct val="135000"/>
              </a:lnSpc>
              <a:buNone/>
            </a:pPr>
            <a:r>
              <a:rPr lang="en-US" sz="1100" dirty="0">
                <a:solidFill>
                  <a:srgbClr val="D9E6E4"/>
                </a:solidFill>
                <a:latin typeface="Consolas" pitchFamily="34" charset="0"/>
                <a:cs typeface="Consolas" pitchFamily="34" charset="0"/>
              </a:rPr>
              <a:t>        val sql = """</a:t>
            </a:r>
          </a:p>
          <a:p>
            <a:pPr marL="0" indent="0" algn="l">
              <a:lnSpc>
                <a:spcPct val="135000"/>
              </a:lnSpc>
              <a:buNone/>
            </a:pPr>
            <a:r>
              <a:rPr lang="en-US" sz="1100" dirty="0">
                <a:solidFill>
                  <a:srgbClr val="D9E6E4"/>
                </a:solidFill>
                <a:latin typeface="Consolas" pitchFamily="34" charset="0"/>
                <a:cs typeface="Consolas" pitchFamily="34" charset="0"/>
              </a:rPr>
              <a:t>            CREATE TABLE users (</a:t>
            </a:r>
          </a:p>
          <a:p>
            <a:pPr marL="0" indent="0" algn="l">
              <a:lnSpc>
                <a:spcPct val="135000"/>
              </a:lnSpc>
              <a:buNone/>
            </a:pPr>
            <a:r>
              <a:rPr lang="en-US" sz="1100" dirty="0">
                <a:solidFill>
                  <a:srgbClr val="D9E6E4"/>
                </a:solidFill>
                <a:latin typeface="Consolas" pitchFamily="34" charset="0"/>
                <a:cs typeface="Consolas" pitchFamily="34" charset="0"/>
              </a:rPr>
              <a:t>                id INTEGER PRIMARY KEY AUTOINCREMENT,</a:t>
            </a:r>
          </a:p>
          <a:p>
            <a:pPr marL="0" indent="0" algn="l">
              <a:lnSpc>
                <a:spcPct val="135000"/>
              </a:lnSpc>
              <a:buNone/>
            </a:pPr>
            <a:r>
              <a:rPr lang="en-US" sz="1100" dirty="0">
                <a:solidFill>
                  <a:srgbClr val="D9E6E4"/>
                </a:solidFill>
                <a:latin typeface="Consolas" pitchFamily="34" charset="0"/>
                <a:cs typeface="Consolas" pitchFamily="34" charset="0"/>
              </a:rPr>
              <a:t>                username TEXT, email TEXT, password TEXT</a:t>
            </a:r>
          </a:p>
          <a:p>
            <a:pPr marL="0" indent="0" algn="l">
              <a:lnSpc>
                <a:spcPct val="135000"/>
              </a:lnSpc>
              <a:buNone/>
            </a:pPr>
            <a:r>
              <a:rPr lang="en-US" sz="1100" dirty="0">
                <a:solidFill>
                  <a:srgbClr val="D9E6E4"/>
                </a:solidFill>
                <a:latin typeface="Consolas" pitchFamily="34" charset="0"/>
                <a:cs typeface="Consolas" pitchFamily="34" charset="0"/>
              </a:rPr>
              <a:t>            )</a:t>
            </a:r>
          </a:p>
          <a:p>
            <a:pPr marL="0" indent="0" algn="l">
              <a:lnSpc>
                <a:spcPct val="135000"/>
              </a:lnSpc>
              <a:buNone/>
            </a:pPr>
            <a:r>
              <a:rPr lang="en-US" sz="1100" dirty="0">
                <a:solidFill>
                  <a:srgbClr val="D9E6E4"/>
                </a:solidFill>
                <a:latin typeface="Consolas" pitchFamily="34" charset="0"/>
                <a:cs typeface="Consolas" pitchFamily="34" charset="0"/>
              </a:rPr>
              <a:t>        """</a:t>
            </a:r>
          </a:p>
          <a:p>
            <a:pPr marL="0" indent="0" algn="l">
              <a:lnSpc>
                <a:spcPct val="135000"/>
              </a:lnSpc>
              <a:buNone/>
            </a:pPr>
            <a:r>
              <a:rPr lang="en-US" sz="1100" dirty="0">
                <a:solidFill>
                  <a:srgbClr val="D9E6E4"/>
                </a:solidFill>
                <a:latin typeface="Consolas" pitchFamily="34" charset="0"/>
                <a:cs typeface="Consolas" pitchFamily="34" charset="0"/>
              </a:rPr>
              <a:t>        db.execSQL(sql)</a:t>
            </a:r>
          </a:p>
          <a:p>
            <a:pPr marL="0" indent="0" algn="l">
              <a:lnSpc>
                <a:spcPct val="135000"/>
              </a:lnSpc>
              <a:buNone/>
            </a:pPr>
            <a:r>
              <a:rPr lang="en-US" sz="1100" dirty="0">
                <a:solidFill>
                  <a:srgbClr val="D9E6E4"/>
                </a:solidFill>
                <a:latin typeface="Consolas" pitchFamily="34" charset="0"/>
                <a:cs typeface="Consolas" pitchFamily="34" charset="0"/>
              </a:rPr>
              <a:t>    }</a:t>
            </a:r>
          </a:p>
          <a:p>
            <a:pPr marL="0" indent="0" algn="l">
              <a:lnSpc>
                <a:spcPct val="135000"/>
              </a:lnSpc>
              <a:buNone/>
            </a:pPr>
            <a:endParaRPr lang="en-US" sz="1100" dirty="0">
              <a:solidFill>
                <a:srgbClr val="D9E6E4"/>
              </a:solidFill>
              <a:latin typeface="Consolas" pitchFamily="34" charset="0"/>
              <a:cs typeface="Consolas" pitchFamily="34" charset="0"/>
            </a:endParaRPr>
          </a:p>
          <a:p>
            <a:pPr marL="0" indent="0" algn="l">
              <a:lnSpc>
                <a:spcPct val="135000"/>
              </a:lnSpc>
              <a:buNone/>
            </a:pPr>
            <a:r>
              <a:rPr lang="en-US" sz="1100" dirty="0">
                <a:solidFill>
                  <a:srgbClr val="D9E6E4"/>
                </a:solidFill>
                <a:latin typeface="Consolas" pitchFamily="34" charset="0"/>
                <a:cs typeface="Consolas" pitchFamily="34" charset="0"/>
              </a:rPr>
              <a:t>    override fun onUpgrade(db: SQLiteDatabase, oldVersion: Int, newVersion: Int) {</a:t>
            </a:r>
          </a:p>
          <a:p>
            <a:pPr marL="0" indent="0" algn="l">
              <a:lnSpc>
                <a:spcPct val="135000"/>
              </a:lnSpc>
              <a:buNone/>
            </a:pPr>
            <a:r>
              <a:rPr lang="en-US" sz="1100" dirty="0">
                <a:solidFill>
                  <a:srgbClr val="D9E6E4"/>
                </a:solidFill>
                <a:latin typeface="Consolas" pitchFamily="34" charset="0"/>
                <a:cs typeface="Consolas" pitchFamily="34" charset="0"/>
              </a:rPr>
              <a:t>        db.execSQL("DROP TABLE IF EXISTS users")</a:t>
            </a:r>
          </a:p>
          <a:p>
            <a:pPr marL="0" indent="0" algn="l">
              <a:lnSpc>
                <a:spcPct val="135000"/>
              </a:lnSpc>
              <a:buNone/>
            </a:pPr>
            <a:r>
              <a:rPr lang="en-US" sz="1100" dirty="0">
                <a:solidFill>
                  <a:srgbClr val="D9E6E4"/>
                </a:solidFill>
                <a:latin typeface="Consolas" pitchFamily="34" charset="0"/>
                <a:cs typeface="Consolas" pitchFamily="34" charset="0"/>
              </a:rPr>
              <a:t>        onCreate(db)</a:t>
            </a:r>
          </a:p>
          <a:p>
            <a:pPr marL="0" indent="0" algn="l">
              <a:lnSpc>
                <a:spcPct val="135000"/>
              </a:lnSpc>
              <a:buNone/>
            </a:pPr>
            <a:r>
              <a:rPr lang="en-US" sz="1100" dirty="0">
                <a:solidFill>
                  <a:srgbClr val="D9E6E4"/>
                </a:solidFill>
                <a:latin typeface="Consolas" pitchFamily="34" charset="0"/>
                <a:cs typeface="Consolas" pitchFamily="34" charset="0"/>
              </a:rPr>
              <a:t>    }</a:t>
            </a:r>
          </a:p>
          <a:p>
            <a:pPr marL="0" indent="0" algn="l">
              <a:lnSpc>
                <a:spcPct val="135000"/>
              </a:lnSpc>
              <a:buNone/>
            </a:pPr>
            <a:r>
              <a:rPr lang="en-US" sz="1100" dirty="0">
                <a:solidFill>
                  <a:srgbClr val="D9E6E4"/>
                </a:solidFill>
                <a:latin typeface="Consolas" pitchFamily="34" charset="0"/>
                <a:cs typeface="Consolas" pitchFamily="34" charset="0"/>
              </a:rPr>
              <a:t>}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r"/>
          <p:cNvSpPr/>
          <p:nvPr/>
        </p:nvSpPr>
        <p:spPr>
          <a:xfrm>
            <a:off x="0" y="0"/>
            <a:ext cx="12184380" cy="109728"/>
          </a:xfrm>
          <a:prstGeom prst="rect">
            <a:avLst/>
          </a:prstGeom>
          <a:solidFill>
            <a:srgbClr val="2D6B66"/>
          </a:solidFill>
          <a:ln/>
        </p:spPr>
        <p:txBody>
          <a:bodyPr wrap="square" lIns="0" tIns="0" rIns="0" bIns="0" rtlCol="0" anchor="t"/>
          <a:lstStyle/>
          <a:p>
            <a:endParaRPr lang="en-US"/>
          </a:p>
        </p:txBody>
      </p:sp>
      <p:sp>
        <p:nvSpPr>
          <p:cNvPr id="3" name="Text"/>
          <p:cNvSpPr/>
          <p:nvPr/>
        </p:nvSpPr>
        <p:spPr>
          <a:xfrm>
            <a:off x="457200" y="237744"/>
            <a:ext cx="10515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spc="200" dirty="0">
                <a:solidFill>
                  <a:srgbClr val="2D6B66"/>
                </a:solidFill>
                <a:latin typeface="Calibri" pitchFamily="34" charset="0"/>
                <a:cs typeface="Calibri" pitchFamily="34" charset="0"/>
              </a:rPr>
              <a:t>MOBILE APPLICATION DEVELOPMENT  ·  DATABASE CONNECTIVITY</a:t>
            </a:r>
          </a:p>
        </p:txBody>
      </p:sp>
      <p:sp>
        <p:nvSpPr>
          <p:cNvPr id="4" name="Text"/>
          <p:cNvSpPr/>
          <p:nvPr/>
        </p:nvSpPr>
        <p:spPr>
          <a:xfrm>
            <a:off x="457200" y="530352"/>
            <a:ext cx="1123950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3300" b="1" dirty="0">
                <a:solidFill>
                  <a:srgbClr val="262626"/>
                </a:solidFill>
                <a:latin typeface="Calibri Light" pitchFamily="34" charset="0"/>
                <a:cs typeface="Calibri Light" pitchFamily="34" charset="0"/>
              </a:rPr>
              <a:t>SQLite CRUD Operations</a:t>
            </a:r>
          </a:p>
        </p:txBody>
      </p:sp>
      <p:sp>
        <p:nvSpPr>
          <p:cNvPr id="5" name="Rule"/>
          <p:cNvSpPr/>
          <p:nvPr/>
        </p:nvSpPr>
        <p:spPr>
          <a:xfrm>
            <a:off x="457200" y="1243584"/>
            <a:ext cx="1005840" cy="0"/>
          </a:xfrm>
          <a:prstGeom prst="line">
            <a:avLst/>
          </a:prstGeom>
          <a:noFill/>
          <a:ln w="31750">
            <a:solidFill>
              <a:srgbClr val="660000"/>
            </a:solidFill>
            <a:prstDash val="solid"/>
          </a:ln>
        </p:spPr>
        <p:txBody>
          <a:bodyPr wrap="square" lIns="0" tIns="0" rIns="0" bIns="0" rtlCol="0" anchor="t"/>
          <a:lstStyle/>
          <a:p>
            <a:endParaRPr lang="en-US"/>
          </a:p>
        </p:txBody>
      </p:sp>
      <p:sp>
        <p:nvSpPr>
          <p:cNvPr id="6" name="Text"/>
          <p:cNvSpPr/>
          <p:nvPr/>
        </p:nvSpPr>
        <p:spPr>
          <a:xfrm>
            <a:off x="8778240" y="6337300"/>
            <a:ext cx="2954020" cy="2921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300" dirty="0">
                <a:solidFill>
                  <a:srgbClr val="595959"/>
                </a:solidFill>
                <a:latin typeface="Calibri" pitchFamily="34" charset="0"/>
                <a:cs typeface="Calibri" pitchFamily="34" charset="0"/>
              </a:rPr>
              <a:t>Mobile Application Development  ·  9 / 34</a:t>
            </a:r>
          </a:p>
        </p:txBody>
      </p:sp>
      <p:sp>
        <p:nvSpPr>
          <p:cNvPr id="7" name="Card"/>
          <p:cNvSpPr/>
          <p:nvPr/>
        </p:nvSpPr>
        <p:spPr>
          <a:xfrm>
            <a:off x="457200" y="1473199"/>
            <a:ext cx="2680599" cy="1955793"/>
          </a:xfrm>
          <a:prstGeom prst="roundRect">
            <a:avLst>
              <a:gd name="adj" fmla="val 4571"/>
            </a:avLst>
          </a:prstGeom>
          <a:solidFill>
            <a:srgbClr val="FFFFFF"/>
          </a:solidFill>
          <a:ln w="22225">
            <a:solidFill>
              <a:srgbClr val="2D6B66"/>
            </a:solidFill>
            <a:prstDash val="solid"/>
          </a:ln>
        </p:spPr>
        <p:txBody>
          <a:bodyPr wrap="square" lIns="0" tIns="0" rIns="0" bIns="0" rtlCol="0" anchor="t"/>
          <a:lstStyle/>
          <a:p>
            <a:endParaRPr lang="en-US" sz="2000"/>
          </a:p>
        </p:txBody>
      </p:sp>
      <p:sp>
        <p:nvSpPr>
          <p:cNvPr id="8" name="Text"/>
          <p:cNvSpPr/>
          <p:nvPr/>
        </p:nvSpPr>
        <p:spPr>
          <a:xfrm>
            <a:off x="660400" y="1651000"/>
            <a:ext cx="2274199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2000" b="1" dirty="0">
                <a:solidFill>
                  <a:srgbClr val="262626"/>
                </a:solidFill>
                <a:latin typeface="Calibri" pitchFamily="34" charset="0"/>
                <a:cs typeface="Calibri" pitchFamily="34" charset="0"/>
              </a:rPr>
              <a:t>CREATE / INSERT</a:t>
            </a:r>
          </a:p>
        </p:txBody>
      </p:sp>
      <p:sp>
        <p:nvSpPr>
          <p:cNvPr id="9" name="Text"/>
          <p:cNvSpPr/>
          <p:nvPr/>
        </p:nvSpPr>
        <p:spPr>
          <a:xfrm>
            <a:off x="660400" y="2209800"/>
            <a:ext cx="2274199" cy="9341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8000"/>
              </a:lnSpc>
              <a:buNone/>
            </a:pPr>
            <a:r>
              <a:rPr lang="en-US" sz="1900" dirty="0">
                <a:solidFill>
                  <a:srgbClr val="595959"/>
                </a:solidFill>
                <a:latin typeface="Calibri" pitchFamily="34" charset="0"/>
                <a:cs typeface="Calibri" pitchFamily="34" charset="0"/>
              </a:rPr>
              <a:t>Use ContentValues and db.insert(...).</a:t>
            </a:r>
          </a:p>
        </p:txBody>
      </p:sp>
      <p:sp>
        <p:nvSpPr>
          <p:cNvPr id="10" name="Card"/>
          <p:cNvSpPr/>
          <p:nvPr/>
        </p:nvSpPr>
        <p:spPr>
          <a:xfrm>
            <a:off x="3322866" y="1473199"/>
            <a:ext cx="2680599" cy="1955793"/>
          </a:xfrm>
          <a:prstGeom prst="roundRect">
            <a:avLst>
              <a:gd name="adj" fmla="val 4571"/>
            </a:avLst>
          </a:prstGeom>
          <a:solidFill>
            <a:srgbClr val="FFFFFF"/>
          </a:solidFill>
          <a:ln w="22225">
            <a:solidFill>
              <a:srgbClr val="2D6B66"/>
            </a:solidFill>
            <a:prstDash val="solid"/>
          </a:ln>
        </p:spPr>
        <p:txBody>
          <a:bodyPr wrap="square" lIns="0" tIns="0" rIns="0" bIns="0" rtlCol="0" anchor="t"/>
          <a:lstStyle/>
          <a:p>
            <a:endParaRPr lang="en-US" sz="2000"/>
          </a:p>
        </p:txBody>
      </p:sp>
      <p:sp>
        <p:nvSpPr>
          <p:cNvPr id="11" name="Text"/>
          <p:cNvSpPr/>
          <p:nvPr/>
        </p:nvSpPr>
        <p:spPr>
          <a:xfrm>
            <a:off x="3526066" y="1651000"/>
            <a:ext cx="2274199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2000" b="1" dirty="0">
                <a:solidFill>
                  <a:srgbClr val="262626"/>
                </a:solidFill>
                <a:latin typeface="Calibri" pitchFamily="34" charset="0"/>
                <a:cs typeface="Calibri" pitchFamily="34" charset="0"/>
              </a:rPr>
              <a:t>READ / SELECT</a:t>
            </a:r>
          </a:p>
        </p:txBody>
      </p:sp>
      <p:sp>
        <p:nvSpPr>
          <p:cNvPr id="12" name="Text"/>
          <p:cNvSpPr/>
          <p:nvPr/>
        </p:nvSpPr>
        <p:spPr>
          <a:xfrm>
            <a:off x="3526066" y="2209800"/>
            <a:ext cx="2274199" cy="9341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8000"/>
              </a:lnSpc>
              <a:buNone/>
            </a:pPr>
            <a:r>
              <a:rPr lang="en-US" sz="1900" dirty="0">
                <a:solidFill>
                  <a:srgbClr val="595959"/>
                </a:solidFill>
                <a:latin typeface="Calibri" pitchFamily="34" charset="0"/>
                <a:cs typeface="Calibri" pitchFamily="34" charset="0"/>
              </a:rPr>
              <a:t>Use query() or rawQuery() and process a Cursor.</a:t>
            </a:r>
          </a:p>
        </p:txBody>
      </p:sp>
      <p:sp>
        <p:nvSpPr>
          <p:cNvPr id="13" name="Card"/>
          <p:cNvSpPr/>
          <p:nvPr/>
        </p:nvSpPr>
        <p:spPr>
          <a:xfrm>
            <a:off x="6188532" y="1473199"/>
            <a:ext cx="2680599" cy="1955793"/>
          </a:xfrm>
          <a:prstGeom prst="roundRect">
            <a:avLst>
              <a:gd name="adj" fmla="val 4571"/>
            </a:avLst>
          </a:prstGeom>
          <a:solidFill>
            <a:srgbClr val="FFFFFF"/>
          </a:solidFill>
          <a:ln w="22225">
            <a:solidFill>
              <a:srgbClr val="2D6B66"/>
            </a:solidFill>
            <a:prstDash val="solid"/>
          </a:ln>
        </p:spPr>
        <p:txBody>
          <a:bodyPr wrap="square" lIns="0" tIns="0" rIns="0" bIns="0" rtlCol="0" anchor="t"/>
          <a:lstStyle/>
          <a:p>
            <a:endParaRPr lang="en-US" sz="2000"/>
          </a:p>
        </p:txBody>
      </p:sp>
      <p:sp>
        <p:nvSpPr>
          <p:cNvPr id="14" name="Text"/>
          <p:cNvSpPr/>
          <p:nvPr/>
        </p:nvSpPr>
        <p:spPr>
          <a:xfrm>
            <a:off x="6391732" y="1651000"/>
            <a:ext cx="2274199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2000" b="1" dirty="0">
                <a:solidFill>
                  <a:srgbClr val="262626"/>
                </a:solidFill>
                <a:latin typeface="Calibri" pitchFamily="34" charset="0"/>
                <a:cs typeface="Calibri" pitchFamily="34" charset="0"/>
              </a:rPr>
              <a:t>UPDATE</a:t>
            </a:r>
          </a:p>
        </p:txBody>
      </p:sp>
      <p:sp>
        <p:nvSpPr>
          <p:cNvPr id="15" name="Text"/>
          <p:cNvSpPr/>
          <p:nvPr/>
        </p:nvSpPr>
        <p:spPr>
          <a:xfrm>
            <a:off x="6391732" y="2209800"/>
            <a:ext cx="2274199" cy="9341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8000"/>
              </a:lnSpc>
              <a:buNone/>
            </a:pPr>
            <a:r>
              <a:rPr lang="en-US" sz="1900" dirty="0">
                <a:solidFill>
                  <a:srgbClr val="595959"/>
                </a:solidFill>
                <a:latin typeface="Calibri" pitchFamily="34" charset="0"/>
                <a:cs typeface="Calibri" pitchFamily="34" charset="0"/>
              </a:rPr>
              <a:t>Use ContentValues and db.update(...).</a:t>
            </a:r>
          </a:p>
        </p:txBody>
      </p:sp>
      <p:sp>
        <p:nvSpPr>
          <p:cNvPr id="16" name="Card"/>
          <p:cNvSpPr/>
          <p:nvPr/>
        </p:nvSpPr>
        <p:spPr>
          <a:xfrm>
            <a:off x="9054198" y="1473199"/>
            <a:ext cx="2680599" cy="1955793"/>
          </a:xfrm>
          <a:prstGeom prst="roundRect">
            <a:avLst>
              <a:gd name="adj" fmla="val 4571"/>
            </a:avLst>
          </a:prstGeom>
          <a:solidFill>
            <a:srgbClr val="FFFFFF"/>
          </a:solidFill>
          <a:ln w="22225">
            <a:solidFill>
              <a:srgbClr val="2D6B66"/>
            </a:solidFill>
            <a:prstDash val="solid"/>
          </a:ln>
        </p:spPr>
        <p:txBody>
          <a:bodyPr wrap="square" lIns="0" tIns="0" rIns="0" bIns="0" rtlCol="0" anchor="t"/>
          <a:lstStyle/>
          <a:p>
            <a:endParaRPr lang="en-US" sz="2000"/>
          </a:p>
        </p:txBody>
      </p:sp>
      <p:sp>
        <p:nvSpPr>
          <p:cNvPr id="17" name="Text"/>
          <p:cNvSpPr/>
          <p:nvPr/>
        </p:nvSpPr>
        <p:spPr>
          <a:xfrm>
            <a:off x="9257398" y="1651000"/>
            <a:ext cx="2274199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2000" b="1" dirty="0">
                <a:solidFill>
                  <a:srgbClr val="262626"/>
                </a:solidFill>
                <a:latin typeface="Calibri" pitchFamily="34" charset="0"/>
                <a:cs typeface="Calibri" pitchFamily="34" charset="0"/>
              </a:rPr>
              <a:t>DELETE</a:t>
            </a:r>
          </a:p>
        </p:txBody>
      </p:sp>
      <p:sp>
        <p:nvSpPr>
          <p:cNvPr id="18" name="Text"/>
          <p:cNvSpPr/>
          <p:nvPr/>
        </p:nvSpPr>
        <p:spPr>
          <a:xfrm>
            <a:off x="9257398" y="2209800"/>
            <a:ext cx="2274199" cy="9341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8000"/>
              </a:lnSpc>
              <a:buNone/>
            </a:pPr>
            <a:r>
              <a:rPr lang="en-US" sz="1900" dirty="0">
                <a:solidFill>
                  <a:srgbClr val="595959"/>
                </a:solidFill>
                <a:latin typeface="Calibri" pitchFamily="34" charset="0"/>
                <a:cs typeface="Calibri" pitchFamily="34" charset="0"/>
              </a:rPr>
              <a:t>Use db.delete(...) with a selection condition.</a:t>
            </a:r>
          </a:p>
        </p:txBody>
      </p:sp>
      <p:sp>
        <p:nvSpPr>
          <p:cNvPr id="19" name="CodePanel"/>
          <p:cNvSpPr/>
          <p:nvPr/>
        </p:nvSpPr>
        <p:spPr>
          <a:xfrm>
            <a:off x="457200" y="3724936"/>
            <a:ext cx="11277600" cy="2388800"/>
          </a:xfrm>
          <a:prstGeom prst="roundRect">
            <a:avLst>
              <a:gd name="adj" fmla="val 4571"/>
            </a:avLst>
          </a:prstGeom>
          <a:solidFill>
            <a:srgbClr val="1E2B2A"/>
          </a:solidFill>
          <a:ln/>
        </p:spPr>
        <p:txBody>
          <a:bodyPr wrap="square" lIns="0" tIns="0" rIns="0" bIns="0" rtlCol="0" anchor="t"/>
          <a:lstStyle/>
          <a:p>
            <a:endParaRPr lang="en-US" sz="2000"/>
          </a:p>
        </p:txBody>
      </p:sp>
      <p:sp>
        <p:nvSpPr>
          <p:cNvPr id="20" name="Text"/>
          <p:cNvSpPr/>
          <p:nvPr/>
        </p:nvSpPr>
        <p:spPr>
          <a:xfrm>
            <a:off x="736600" y="3902736"/>
            <a:ext cx="10718800" cy="203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35000"/>
              </a:lnSpc>
              <a:buNone/>
            </a:pPr>
            <a:r>
              <a:rPr lang="en-US" sz="1500" dirty="0">
                <a:solidFill>
                  <a:srgbClr val="D9E6E4"/>
                </a:solidFill>
                <a:latin typeface="Consolas" pitchFamily="34" charset="0"/>
                <a:cs typeface="Consolas" pitchFamily="34" charset="0"/>
              </a:rPr>
              <a:t>val values = ContentValues().apply {</a:t>
            </a:r>
          </a:p>
          <a:p>
            <a:pPr marL="0" indent="0" algn="l">
              <a:lnSpc>
                <a:spcPct val="135000"/>
              </a:lnSpc>
              <a:buNone/>
            </a:pPr>
            <a:r>
              <a:rPr lang="en-US" sz="1500" dirty="0">
                <a:solidFill>
                  <a:srgbClr val="D9E6E4"/>
                </a:solidFill>
                <a:latin typeface="Consolas" pitchFamily="34" charset="0"/>
                <a:cs typeface="Consolas" pitchFamily="34" charset="0"/>
              </a:rPr>
              <a:t>    put("username", username)</a:t>
            </a:r>
          </a:p>
          <a:p>
            <a:pPr marL="0" indent="0" algn="l">
              <a:lnSpc>
                <a:spcPct val="135000"/>
              </a:lnSpc>
              <a:buNone/>
            </a:pPr>
            <a:r>
              <a:rPr lang="en-US" sz="1500" dirty="0">
                <a:solidFill>
                  <a:srgbClr val="D9E6E4"/>
                </a:solidFill>
                <a:latin typeface="Consolas" pitchFamily="34" charset="0"/>
                <a:cs typeface="Consolas" pitchFamily="34" charset="0"/>
              </a:rPr>
              <a:t>    put("email", email)</a:t>
            </a:r>
          </a:p>
          <a:p>
            <a:pPr marL="0" indent="0" algn="l">
              <a:lnSpc>
                <a:spcPct val="135000"/>
              </a:lnSpc>
              <a:buNone/>
            </a:pPr>
            <a:r>
              <a:rPr lang="en-US" sz="1500" dirty="0">
                <a:solidFill>
                  <a:srgbClr val="D9E6E4"/>
                </a:solidFill>
                <a:latin typeface="Consolas" pitchFamily="34" charset="0"/>
                <a:cs typeface="Consolas" pitchFamily="34" charset="0"/>
              </a:rPr>
              <a:t>    put("password", password)</a:t>
            </a:r>
          </a:p>
          <a:p>
            <a:pPr marL="0" indent="0" algn="l">
              <a:lnSpc>
                <a:spcPct val="135000"/>
              </a:lnSpc>
              <a:buNone/>
            </a:pPr>
            <a:r>
              <a:rPr lang="en-US" sz="1500" dirty="0">
                <a:solidFill>
                  <a:srgbClr val="D9E6E4"/>
                </a:solidFill>
                <a:latin typeface="Consolas" pitchFamily="34" charset="0"/>
                <a:cs typeface="Consolas" pitchFamily="34" charset="0"/>
              </a:rPr>
              <a:t>}</a:t>
            </a:r>
          </a:p>
          <a:p>
            <a:pPr marL="0" indent="0" algn="l">
              <a:lnSpc>
                <a:spcPct val="135000"/>
              </a:lnSpc>
              <a:buNone/>
            </a:pPr>
            <a:r>
              <a:rPr lang="en-US" sz="1500" dirty="0">
                <a:solidFill>
                  <a:srgbClr val="D9E6E4"/>
                </a:solidFill>
                <a:latin typeface="Consolas" pitchFamily="34" charset="0"/>
                <a:cs typeface="Consolas" pitchFamily="34" charset="0"/>
              </a:rPr>
              <a:t>db.insert("users", null, values)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r"/>
          <p:cNvSpPr/>
          <p:nvPr/>
        </p:nvSpPr>
        <p:spPr>
          <a:xfrm>
            <a:off x="0" y="0"/>
            <a:ext cx="12184380" cy="109728"/>
          </a:xfrm>
          <a:prstGeom prst="rect">
            <a:avLst/>
          </a:prstGeom>
          <a:solidFill>
            <a:srgbClr val="2D6B66"/>
          </a:solidFill>
          <a:ln/>
        </p:spPr>
        <p:txBody>
          <a:bodyPr wrap="square" lIns="0" tIns="0" rIns="0" bIns="0" rtlCol="0" anchor="t"/>
          <a:lstStyle/>
          <a:p>
            <a:endParaRPr lang="en-US"/>
          </a:p>
        </p:txBody>
      </p:sp>
      <p:sp>
        <p:nvSpPr>
          <p:cNvPr id="3" name="Text"/>
          <p:cNvSpPr/>
          <p:nvPr/>
        </p:nvSpPr>
        <p:spPr>
          <a:xfrm>
            <a:off x="457200" y="237744"/>
            <a:ext cx="10515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spc="200" dirty="0">
                <a:solidFill>
                  <a:srgbClr val="2D6B66"/>
                </a:solidFill>
                <a:latin typeface="Calibri" pitchFamily="34" charset="0"/>
                <a:cs typeface="Calibri" pitchFamily="34" charset="0"/>
              </a:rPr>
              <a:t>MOBILE APPLICATION DEVELOPMENT  ·  DATABASE CONNECTIVITY</a:t>
            </a:r>
          </a:p>
        </p:txBody>
      </p:sp>
      <p:sp>
        <p:nvSpPr>
          <p:cNvPr id="4" name="Text"/>
          <p:cNvSpPr/>
          <p:nvPr/>
        </p:nvSpPr>
        <p:spPr>
          <a:xfrm>
            <a:off x="457200" y="530352"/>
            <a:ext cx="1123950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3300" b="1" dirty="0">
                <a:solidFill>
                  <a:srgbClr val="262626"/>
                </a:solidFill>
                <a:latin typeface="Calibri Light" pitchFamily="34" charset="0"/>
                <a:cs typeface="Calibri Light" pitchFamily="34" charset="0"/>
              </a:rPr>
              <a:t>Reading Data with SQLite</a:t>
            </a:r>
          </a:p>
        </p:txBody>
      </p:sp>
      <p:sp>
        <p:nvSpPr>
          <p:cNvPr id="5" name="Rule"/>
          <p:cNvSpPr/>
          <p:nvPr/>
        </p:nvSpPr>
        <p:spPr>
          <a:xfrm>
            <a:off x="457200" y="1243584"/>
            <a:ext cx="1005840" cy="0"/>
          </a:xfrm>
          <a:prstGeom prst="line">
            <a:avLst/>
          </a:prstGeom>
          <a:noFill/>
          <a:ln w="31750">
            <a:solidFill>
              <a:srgbClr val="660000"/>
            </a:solidFill>
            <a:prstDash val="solid"/>
          </a:ln>
        </p:spPr>
        <p:txBody>
          <a:bodyPr wrap="square" lIns="0" tIns="0" rIns="0" bIns="0" rtlCol="0" anchor="t"/>
          <a:lstStyle/>
          <a:p>
            <a:endParaRPr lang="en-US"/>
          </a:p>
        </p:txBody>
      </p:sp>
      <p:sp>
        <p:nvSpPr>
          <p:cNvPr id="6" name="Text"/>
          <p:cNvSpPr/>
          <p:nvPr/>
        </p:nvSpPr>
        <p:spPr>
          <a:xfrm>
            <a:off x="8778240" y="6337300"/>
            <a:ext cx="2954020" cy="2921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300" dirty="0">
                <a:solidFill>
                  <a:srgbClr val="595959"/>
                </a:solidFill>
                <a:latin typeface="Calibri" pitchFamily="34" charset="0"/>
                <a:cs typeface="Calibri" pitchFamily="34" charset="0"/>
              </a:rPr>
              <a:t>Mobile Application Development  ·  10 / 34</a:t>
            </a:r>
          </a:p>
        </p:txBody>
      </p:sp>
      <p:sp>
        <p:nvSpPr>
          <p:cNvPr id="7" name="CodePanel"/>
          <p:cNvSpPr/>
          <p:nvPr/>
        </p:nvSpPr>
        <p:spPr>
          <a:xfrm>
            <a:off x="457200" y="1473200"/>
            <a:ext cx="11277600" cy="3973760"/>
          </a:xfrm>
          <a:prstGeom prst="roundRect">
            <a:avLst>
              <a:gd name="adj" fmla="val 4571"/>
            </a:avLst>
          </a:prstGeom>
          <a:solidFill>
            <a:srgbClr val="1E2B2A"/>
          </a:solidFill>
          <a:ln/>
        </p:spPr>
        <p:txBody>
          <a:bodyPr wrap="square" lIns="0" tIns="0" rIns="0" bIns="0" rtlCol="0" anchor="t"/>
          <a:lstStyle/>
          <a:p>
            <a:endParaRPr lang="en-US" sz="2000"/>
          </a:p>
        </p:txBody>
      </p:sp>
      <p:sp>
        <p:nvSpPr>
          <p:cNvPr id="8" name="Text"/>
          <p:cNvSpPr/>
          <p:nvPr/>
        </p:nvSpPr>
        <p:spPr>
          <a:xfrm>
            <a:off x="736600" y="1727200"/>
            <a:ext cx="10718800" cy="34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35000"/>
              </a:lnSpc>
              <a:buNone/>
            </a:pPr>
            <a:r>
              <a:rPr lang="en-US" sz="1400" dirty="0">
                <a:solidFill>
                  <a:srgbClr val="D9E6E4"/>
                </a:solidFill>
                <a:latin typeface="Consolas" pitchFamily="34" charset="0"/>
                <a:cs typeface="Consolas" pitchFamily="34" charset="0"/>
              </a:rPr>
              <a:t>val cursor = db.rawQuery(</a:t>
            </a:r>
          </a:p>
          <a:p>
            <a:pPr marL="0" indent="0" algn="l">
              <a:lnSpc>
                <a:spcPct val="135000"/>
              </a:lnSpc>
              <a:buNone/>
            </a:pPr>
            <a:r>
              <a:rPr lang="en-US" sz="1400" dirty="0">
                <a:solidFill>
                  <a:srgbClr val="D9E6E4"/>
                </a:solidFill>
                <a:latin typeface="Consolas" pitchFamily="34" charset="0"/>
                <a:cs typeface="Consolas" pitchFamily="34" charset="0"/>
              </a:rPr>
              <a:t>    "SELECT * FROM users WHERE email=? AND password=?",</a:t>
            </a:r>
          </a:p>
          <a:p>
            <a:pPr marL="0" indent="0" algn="l">
              <a:lnSpc>
                <a:spcPct val="135000"/>
              </a:lnSpc>
              <a:buNone/>
            </a:pPr>
            <a:r>
              <a:rPr lang="en-US" sz="1400" dirty="0">
                <a:solidFill>
                  <a:srgbClr val="D9E6E4"/>
                </a:solidFill>
                <a:latin typeface="Consolas" pitchFamily="34" charset="0"/>
                <a:cs typeface="Consolas" pitchFamily="34" charset="0"/>
              </a:rPr>
              <a:t>    arrayOf(email, password)</a:t>
            </a:r>
          </a:p>
          <a:p>
            <a:pPr marL="0" indent="0" algn="l">
              <a:lnSpc>
                <a:spcPct val="135000"/>
              </a:lnSpc>
              <a:buNone/>
            </a:pPr>
            <a:r>
              <a:rPr lang="en-US" sz="1400" dirty="0">
                <a:solidFill>
                  <a:srgbClr val="D9E6E4"/>
                </a:solidFill>
                <a:latin typeface="Consolas" pitchFamily="34" charset="0"/>
                <a:cs typeface="Consolas" pitchFamily="34" charset="0"/>
              </a:rPr>
              <a:t>)</a:t>
            </a:r>
          </a:p>
          <a:p>
            <a:pPr marL="0" indent="0" algn="l">
              <a:lnSpc>
                <a:spcPct val="135000"/>
              </a:lnSpc>
              <a:buNone/>
            </a:pPr>
            <a:r>
              <a:rPr lang="en-US" sz="1400" dirty="0">
                <a:solidFill>
                  <a:srgbClr val="D9E6E4"/>
                </a:solidFill>
                <a:latin typeface="Consolas" pitchFamily="34" charset="0"/>
                <a:cs typeface="Consolas" pitchFamily="34" charset="0"/>
              </a:rPr>
              <a:t>if (cursor.moveToFirst()) {</a:t>
            </a:r>
          </a:p>
          <a:p>
            <a:pPr marL="0" indent="0" algn="l">
              <a:lnSpc>
                <a:spcPct val="135000"/>
              </a:lnSpc>
              <a:buNone/>
            </a:pPr>
            <a:r>
              <a:rPr lang="en-US" sz="1400" dirty="0">
                <a:solidFill>
                  <a:srgbClr val="D9E6E4"/>
                </a:solidFill>
                <a:latin typeface="Consolas" pitchFamily="34" charset="0"/>
                <a:cs typeface="Consolas" pitchFamily="34" charset="0"/>
              </a:rPr>
              <a:t>    // Login success</a:t>
            </a:r>
          </a:p>
          <a:p>
            <a:pPr marL="0" indent="0" algn="l">
              <a:lnSpc>
                <a:spcPct val="135000"/>
              </a:lnSpc>
              <a:buNone/>
            </a:pPr>
            <a:r>
              <a:rPr lang="en-US" sz="1400" dirty="0">
                <a:solidFill>
                  <a:srgbClr val="D9E6E4"/>
                </a:solidFill>
                <a:latin typeface="Consolas" pitchFamily="34" charset="0"/>
                <a:cs typeface="Consolas" pitchFamily="34" charset="0"/>
              </a:rPr>
              <a:t>}</a:t>
            </a:r>
          </a:p>
          <a:p>
            <a:pPr marL="0" indent="0" algn="l">
              <a:lnSpc>
                <a:spcPct val="135000"/>
              </a:lnSpc>
              <a:buNone/>
            </a:pPr>
            <a:endParaRPr lang="en-US" sz="1400" dirty="0">
              <a:solidFill>
                <a:srgbClr val="D9E6E4"/>
              </a:solidFill>
              <a:latin typeface="Consolas" pitchFamily="34" charset="0"/>
              <a:cs typeface="Consolas" pitchFamily="34" charset="0"/>
            </a:endParaRPr>
          </a:p>
          <a:p>
            <a:pPr marL="0" indent="0" algn="l">
              <a:lnSpc>
                <a:spcPct val="135000"/>
              </a:lnSpc>
              <a:buNone/>
            </a:pPr>
            <a:r>
              <a:rPr lang="en-US" sz="1400" dirty="0">
                <a:solidFill>
                  <a:srgbClr val="D9E6E4"/>
                </a:solidFill>
                <a:latin typeface="Consolas" pitchFamily="34" charset="0"/>
                <a:cs typeface="Consolas" pitchFamily="34" charset="0"/>
              </a:rPr>
              <a:t>val users = db.rawQuery("SELECT * FROM users", null)</a:t>
            </a:r>
          </a:p>
          <a:p>
            <a:pPr marL="0" indent="0" algn="l">
              <a:lnSpc>
                <a:spcPct val="135000"/>
              </a:lnSpc>
              <a:buNone/>
            </a:pPr>
            <a:r>
              <a:rPr lang="en-US" sz="1400" dirty="0">
                <a:solidFill>
                  <a:srgbClr val="D9E6E4"/>
                </a:solidFill>
                <a:latin typeface="Consolas" pitchFamily="34" charset="0"/>
                <a:cs typeface="Consolas" pitchFamily="34" charset="0"/>
              </a:rPr>
              <a:t>while (users.moveToNext()) {</a:t>
            </a:r>
          </a:p>
          <a:p>
            <a:pPr marL="0" indent="0" algn="l">
              <a:lnSpc>
                <a:spcPct val="135000"/>
              </a:lnSpc>
              <a:buNone/>
            </a:pPr>
            <a:r>
              <a:rPr lang="en-US" sz="1400" dirty="0">
                <a:solidFill>
                  <a:srgbClr val="D9E6E4"/>
                </a:solidFill>
                <a:latin typeface="Consolas" pitchFamily="34" charset="0"/>
                <a:cs typeface="Consolas" pitchFamily="34" charset="0"/>
              </a:rPr>
              <a:t>    val name = users.getString(users.getColumnIndexOrThrow("username"))</a:t>
            </a:r>
          </a:p>
          <a:p>
            <a:pPr marL="0" indent="0" algn="l">
              <a:lnSpc>
                <a:spcPct val="135000"/>
              </a:lnSpc>
              <a:buNone/>
            </a:pPr>
            <a:r>
              <a:rPr lang="en-US" sz="1400" dirty="0">
                <a:solidFill>
                  <a:srgbClr val="D9E6E4"/>
                </a:solidFill>
                <a:latin typeface="Consolas" pitchFamily="34" charset="0"/>
                <a:cs typeface="Consolas" pitchFamily="34" charset="0"/>
              </a:rPr>
              <a:t>}</a:t>
            </a:r>
          </a:p>
        </p:txBody>
      </p:sp>
      <p:sp>
        <p:nvSpPr>
          <p:cNvPr id="9" name="Dot"/>
          <p:cNvSpPr/>
          <p:nvPr/>
        </p:nvSpPr>
        <p:spPr>
          <a:xfrm>
            <a:off x="482600" y="5675560"/>
            <a:ext cx="127000" cy="127000"/>
          </a:xfrm>
          <a:prstGeom prst="ellipse">
            <a:avLst/>
          </a:prstGeom>
          <a:solidFill>
            <a:srgbClr val="2D6B6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"/>
          <p:cNvSpPr/>
          <p:nvPr/>
        </p:nvSpPr>
        <p:spPr>
          <a:xfrm>
            <a:off x="838200" y="5548560"/>
            <a:ext cx="10871200" cy="42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2000" dirty="0">
                <a:solidFill>
                  <a:srgbClr val="262626"/>
                </a:solidFill>
                <a:latin typeface="Calibri" pitchFamily="34" charset="0"/>
                <a:cs typeface="Calibri" pitchFamily="34" charset="0"/>
              </a:rPr>
              <a:t>Use parameterized selections (?) rather than building SQL strings with user input.</a:t>
            </a:r>
          </a:p>
        </p:txBody>
      </p:sp>
      <p:sp>
        <p:nvSpPr>
          <p:cNvPr id="11" name="Dot"/>
          <p:cNvSpPr/>
          <p:nvPr/>
        </p:nvSpPr>
        <p:spPr>
          <a:xfrm>
            <a:off x="482600" y="6095560"/>
            <a:ext cx="127000" cy="127000"/>
          </a:xfrm>
          <a:prstGeom prst="ellipse">
            <a:avLst/>
          </a:prstGeom>
          <a:solidFill>
            <a:srgbClr val="2D6B6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Text"/>
          <p:cNvSpPr/>
          <p:nvPr/>
        </p:nvSpPr>
        <p:spPr>
          <a:xfrm>
            <a:off x="838200" y="5968560"/>
            <a:ext cx="10871200" cy="42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2000" dirty="0">
                <a:solidFill>
                  <a:srgbClr val="262626"/>
                </a:solidFill>
                <a:latin typeface="Calibri" pitchFamily="34" charset="0"/>
                <a:cs typeface="Calibri" pitchFamily="34" charset="0"/>
              </a:rPr>
              <a:t>Close Cursor/database resources appropriately when using lower-level SQLite APIs.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r"/>
          <p:cNvSpPr/>
          <p:nvPr/>
        </p:nvSpPr>
        <p:spPr>
          <a:xfrm>
            <a:off x="0" y="0"/>
            <a:ext cx="12184380" cy="109728"/>
          </a:xfrm>
          <a:prstGeom prst="rect">
            <a:avLst/>
          </a:prstGeom>
          <a:solidFill>
            <a:srgbClr val="2D6B66"/>
          </a:solidFill>
          <a:ln/>
        </p:spPr>
        <p:txBody>
          <a:bodyPr wrap="square" lIns="0" tIns="0" rIns="0" bIns="0" rtlCol="0" anchor="t"/>
          <a:lstStyle/>
          <a:p>
            <a:endParaRPr lang="en-US"/>
          </a:p>
        </p:txBody>
      </p:sp>
      <p:sp>
        <p:nvSpPr>
          <p:cNvPr id="3" name="Text"/>
          <p:cNvSpPr/>
          <p:nvPr/>
        </p:nvSpPr>
        <p:spPr>
          <a:xfrm>
            <a:off x="457200" y="237744"/>
            <a:ext cx="10515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spc="200" dirty="0">
                <a:solidFill>
                  <a:srgbClr val="2D6B66"/>
                </a:solidFill>
                <a:latin typeface="Calibri" pitchFamily="34" charset="0"/>
                <a:cs typeface="Calibri" pitchFamily="34" charset="0"/>
              </a:rPr>
              <a:t>MOBILE APPLICATION DEVELOPMENT  ·  DATABASE CONNECTIVITY</a:t>
            </a:r>
          </a:p>
        </p:txBody>
      </p:sp>
      <p:sp>
        <p:nvSpPr>
          <p:cNvPr id="4" name="Text"/>
          <p:cNvSpPr/>
          <p:nvPr/>
        </p:nvSpPr>
        <p:spPr>
          <a:xfrm>
            <a:off x="457200" y="530352"/>
            <a:ext cx="1123950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3300" b="1" dirty="0">
                <a:solidFill>
                  <a:srgbClr val="262626"/>
                </a:solidFill>
                <a:latin typeface="Calibri Light" pitchFamily="34" charset="0"/>
                <a:cs typeface="Calibri Light" pitchFamily="34" charset="0"/>
              </a:rPr>
              <a:t>Problems with Raw SQLite</a:t>
            </a:r>
          </a:p>
        </p:txBody>
      </p:sp>
      <p:sp>
        <p:nvSpPr>
          <p:cNvPr id="5" name="Rule"/>
          <p:cNvSpPr/>
          <p:nvPr/>
        </p:nvSpPr>
        <p:spPr>
          <a:xfrm>
            <a:off x="457200" y="1243584"/>
            <a:ext cx="1005840" cy="0"/>
          </a:xfrm>
          <a:prstGeom prst="line">
            <a:avLst/>
          </a:prstGeom>
          <a:noFill/>
          <a:ln w="31750">
            <a:solidFill>
              <a:srgbClr val="660000"/>
            </a:solidFill>
            <a:prstDash val="solid"/>
          </a:ln>
        </p:spPr>
        <p:txBody>
          <a:bodyPr wrap="square" lIns="0" tIns="0" rIns="0" bIns="0" rtlCol="0" anchor="t"/>
          <a:lstStyle/>
          <a:p>
            <a:endParaRPr lang="en-US"/>
          </a:p>
        </p:txBody>
      </p:sp>
      <p:sp>
        <p:nvSpPr>
          <p:cNvPr id="6" name="Text"/>
          <p:cNvSpPr/>
          <p:nvPr/>
        </p:nvSpPr>
        <p:spPr>
          <a:xfrm>
            <a:off x="8778240" y="6337300"/>
            <a:ext cx="2954020" cy="2921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300" dirty="0">
                <a:solidFill>
                  <a:srgbClr val="595959"/>
                </a:solidFill>
                <a:latin typeface="Calibri" pitchFamily="34" charset="0"/>
                <a:cs typeface="Calibri" pitchFamily="34" charset="0"/>
              </a:rPr>
              <a:t>Mobile Application Development  ·  11 / 34</a:t>
            </a:r>
          </a:p>
        </p:txBody>
      </p:sp>
      <p:sp>
        <p:nvSpPr>
          <p:cNvPr id="7" name="Dot"/>
          <p:cNvSpPr/>
          <p:nvPr/>
        </p:nvSpPr>
        <p:spPr>
          <a:xfrm>
            <a:off x="482600" y="1600200"/>
            <a:ext cx="127000" cy="127000"/>
          </a:xfrm>
          <a:prstGeom prst="ellipse">
            <a:avLst/>
          </a:prstGeom>
          <a:solidFill>
            <a:srgbClr val="2D6B6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"/>
          <p:cNvSpPr/>
          <p:nvPr/>
        </p:nvSpPr>
        <p:spPr>
          <a:xfrm>
            <a:off x="838200" y="1473200"/>
            <a:ext cx="10871200" cy="584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2000" dirty="0">
                <a:solidFill>
                  <a:srgbClr val="262626"/>
                </a:solidFill>
                <a:latin typeface="Calibri" pitchFamily="34" charset="0"/>
                <a:cs typeface="Calibri" pitchFamily="34" charset="0"/>
              </a:rPr>
              <a:t>Manual SQL queries create more boilerplate code.</a:t>
            </a:r>
          </a:p>
        </p:txBody>
      </p:sp>
      <p:sp>
        <p:nvSpPr>
          <p:cNvPr id="9" name="Dot"/>
          <p:cNvSpPr/>
          <p:nvPr/>
        </p:nvSpPr>
        <p:spPr>
          <a:xfrm>
            <a:off x="482600" y="2184400"/>
            <a:ext cx="127000" cy="127000"/>
          </a:xfrm>
          <a:prstGeom prst="ellipse">
            <a:avLst/>
          </a:prstGeom>
          <a:solidFill>
            <a:srgbClr val="2D6B6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"/>
          <p:cNvSpPr/>
          <p:nvPr/>
        </p:nvSpPr>
        <p:spPr>
          <a:xfrm>
            <a:off x="838200" y="2057400"/>
            <a:ext cx="10871200" cy="584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2000" dirty="0">
                <a:solidFill>
                  <a:srgbClr val="262626"/>
                </a:solidFill>
                <a:latin typeface="Calibri" pitchFamily="34" charset="0"/>
                <a:cs typeface="Calibri" pitchFamily="34" charset="0"/>
              </a:rPr>
              <a:t>SQL mistakes may only become visible at runtime.</a:t>
            </a:r>
          </a:p>
        </p:txBody>
      </p:sp>
      <p:sp>
        <p:nvSpPr>
          <p:cNvPr id="11" name="Dot"/>
          <p:cNvSpPr/>
          <p:nvPr/>
        </p:nvSpPr>
        <p:spPr>
          <a:xfrm>
            <a:off x="482600" y="2768600"/>
            <a:ext cx="127000" cy="127000"/>
          </a:xfrm>
          <a:prstGeom prst="ellipse">
            <a:avLst/>
          </a:prstGeom>
          <a:solidFill>
            <a:srgbClr val="2D6B6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Text"/>
          <p:cNvSpPr/>
          <p:nvPr/>
        </p:nvSpPr>
        <p:spPr>
          <a:xfrm>
            <a:off x="838200" y="2641600"/>
            <a:ext cx="10871200" cy="584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2000" dirty="0">
                <a:solidFill>
                  <a:srgbClr val="262626"/>
                </a:solidFill>
                <a:latin typeface="Calibri" pitchFamily="34" charset="0"/>
                <a:cs typeface="Calibri" pitchFamily="34" charset="0"/>
              </a:rPr>
              <a:t>Cursor handling and column mapping are repetitive.</a:t>
            </a:r>
          </a:p>
        </p:txBody>
      </p:sp>
      <p:sp>
        <p:nvSpPr>
          <p:cNvPr id="13" name="Dot"/>
          <p:cNvSpPr/>
          <p:nvPr/>
        </p:nvSpPr>
        <p:spPr>
          <a:xfrm>
            <a:off x="482600" y="3352800"/>
            <a:ext cx="127000" cy="127000"/>
          </a:xfrm>
          <a:prstGeom prst="ellipse">
            <a:avLst/>
          </a:prstGeom>
          <a:solidFill>
            <a:srgbClr val="2D6B6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Text"/>
          <p:cNvSpPr/>
          <p:nvPr/>
        </p:nvSpPr>
        <p:spPr>
          <a:xfrm>
            <a:off x="838200" y="3225800"/>
            <a:ext cx="10871200" cy="584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2000" dirty="0">
                <a:solidFill>
                  <a:srgbClr val="262626"/>
                </a:solidFill>
                <a:latin typeface="Calibri" pitchFamily="34" charset="0"/>
                <a:cs typeface="Calibri" pitchFamily="34" charset="0"/>
              </a:rPr>
              <a:t>Database schema changes require careful migration/version management.</a:t>
            </a:r>
          </a:p>
        </p:txBody>
      </p:sp>
      <p:sp>
        <p:nvSpPr>
          <p:cNvPr id="15" name="Dot"/>
          <p:cNvSpPr/>
          <p:nvPr/>
        </p:nvSpPr>
        <p:spPr>
          <a:xfrm>
            <a:off x="482600" y="3937000"/>
            <a:ext cx="127000" cy="127000"/>
          </a:xfrm>
          <a:prstGeom prst="ellipse">
            <a:avLst/>
          </a:prstGeom>
          <a:solidFill>
            <a:srgbClr val="2D6B6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Text"/>
          <p:cNvSpPr/>
          <p:nvPr/>
        </p:nvSpPr>
        <p:spPr>
          <a:xfrm>
            <a:off x="838200" y="3810000"/>
            <a:ext cx="10871200" cy="584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2000" dirty="0">
                <a:solidFill>
                  <a:srgbClr val="262626"/>
                </a:solidFill>
                <a:latin typeface="Calibri" pitchFamily="34" charset="0"/>
                <a:cs typeface="Calibri" pitchFamily="34" charset="0"/>
              </a:rPr>
              <a:t>Large codebases become harder to maintain and test.</a:t>
            </a:r>
          </a:p>
        </p:txBody>
      </p:sp>
      <p:sp>
        <p:nvSpPr>
          <p:cNvPr id="17" name="Text"/>
          <p:cNvSpPr/>
          <p:nvPr/>
        </p:nvSpPr>
        <p:spPr>
          <a:xfrm>
            <a:off x="457200" y="4546600"/>
            <a:ext cx="11277600" cy="431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2000" b="1" dirty="0">
                <a:solidFill>
                  <a:srgbClr val="2D6B66"/>
                </a:solidFill>
                <a:latin typeface="Calibri" pitchFamily="34" charset="0"/>
                <a:cs typeface="Calibri" pitchFamily="34" charset="0"/>
              </a:rPr>
              <a:t>Modern solution: Room provides an abstraction over SQLite while keeping the relational database underneath.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r"/>
          <p:cNvSpPr/>
          <p:nvPr/>
        </p:nvSpPr>
        <p:spPr>
          <a:xfrm>
            <a:off x="0" y="0"/>
            <a:ext cx="12184380" cy="109728"/>
          </a:xfrm>
          <a:prstGeom prst="rect">
            <a:avLst/>
          </a:prstGeom>
          <a:solidFill>
            <a:srgbClr val="2D6B66"/>
          </a:solidFill>
          <a:ln/>
        </p:spPr>
        <p:txBody>
          <a:bodyPr wrap="square" lIns="0" tIns="0" rIns="0" bIns="0" rtlCol="0" anchor="t"/>
          <a:lstStyle/>
          <a:p>
            <a:endParaRPr lang="en-US"/>
          </a:p>
        </p:txBody>
      </p:sp>
      <p:sp>
        <p:nvSpPr>
          <p:cNvPr id="3" name="Text"/>
          <p:cNvSpPr/>
          <p:nvPr/>
        </p:nvSpPr>
        <p:spPr>
          <a:xfrm>
            <a:off x="457200" y="237744"/>
            <a:ext cx="10515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spc="200" dirty="0">
                <a:solidFill>
                  <a:srgbClr val="2D6B66"/>
                </a:solidFill>
                <a:latin typeface="Calibri" pitchFamily="34" charset="0"/>
                <a:cs typeface="Calibri" pitchFamily="34" charset="0"/>
              </a:rPr>
              <a:t>MOBILE APPLICATION DEVELOPMENT  ·  DATABASE CONNECTIVITY</a:t>
            </a:r>
          </a:p>
        </p:txBody>
      </p:sp>
      <p:sp>
        <p:nvSpPr>
          <p:cNvPr id="4" name="Text"/>
          <p:cNvSpPr/>
          <p:nvPr/>
        </p:nvSpPr>
        <p:spPr>
          <a:xfrm>
            <a:off x="457200" y="530352"/>
            <a:ext cx="1123950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3300" b="1" dirty="0">
                <a:solidFill>
                  <a:srgbClr val="262626"/>
                </a:solidFill>
                <a:latin typeface="Calibri Light" pitchFamily="34" charset="0"/>
                <a:cs typeface="Calibri Light" pitchFamily="34" charset="0"/>
              </a:rPr>
              <a:t>What Is Room?</a:t>
            </a:r>
          </a:p>
        </p:txBody>
      </p:sp>
      <p:sp>
        <p:nvSpPr>
          <p:cNvPr id="5" name="Rule"/>
          <p:cNvSpPr/>
          <p:nvPr/>
        </p:nvSpPr>
        <p:spPr>
          <a:xfrm>
            <a:off x="457200" y="1243584"/>
            <a:ext cx="1005840" cy="0"/>
          </a:xfrm>
          <a:prstGeom prst="line">
            <a:avLst/>
          </a:prstGeom>
          <a:noFill/>
          <a:ln w="31750">
            <a:solidFill>
              <a:srgbClr val="660000"/>
            </a:solidFill>
            <a:prstDash val="solid"/>
          </a:ln>
        </p:spPr>
        <p:txBody>
          <a:bodyPr wrap="square" lIns="0" tIns="0" rIns="0" bIns="0" rtlCol="0" anchor="t"/>
          <a:lstStyle/>
          <a:p>
            <a:endParaRPr lang="en-US"/>
          </a:p>
        </p:txBody>
      </p:sp>
      <p:sp>
        <p:nvSpPr>
          <p:cNvPr id="6" name="Text"/>
          <p:cNvSpPr/>
          <p:nvPr/>
        </p:nvSpPr>
        <p:spPr>
          <a:xfrm>
            <a:off x="8778240" y="6337300"/>
            <a:ext cx="2954020" cy="2921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300" dirty="0">
                <a:solidFill>
                  <a:srgbClr val="595959"/>
                </a:solidFill>
                <a:latin typeface="Calibri" pitchFamily="34" charset="0"/>
                <a:cs typeface="Calibri" pitchFamily="34" charset="0"/>
              </a:rPr>
              <a:t>Mobile Application Development  ·  12 / 34</a:t>
            </a:r>
          </a:p>
        </p:txBody>
      </p:sp>
      <p:sp>
        <p:nvSpPr>
          <p:cNvPr id="7" name="Dot"/>
          <p:cNvSpPr/>
          <p:nvPr/>
        </p:nvSpPr>
        <p:spPr>
          <a:xfrm>
            <a:off x="482600" y="1600200"/>
            <a:ext cx="127000" cy="127000"/>
          </a:xfrm>
          <a:prstGeom prst="ellipse">
            <a:avLst/>
          </a:prstGeom>
          <a:solidFill>
            <a:srgbClr val="2D6B6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"/>
          <p:cNvSpPr/>
          <p:nvPr/>
        </p:nvSpPr>
        <p:spPr>
          <a:xfrm>
            <a:off x="838200" y="1473200"/>
            <a:ext cx="10871200" cy="584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2000" dirty="0">
                <a:solidFill>
                  <a:srgbClr val="262626"/>
                </a:solidFill>
                <a:latin typeface="Calibri" pitchFamily="34" charset="0"/>
                <a:cs typeface="Calibri" pitchFamily="34" charset="0"/>
              </a:rPr>
              <a:t>Room is part of Android Jetpack.</a:t>
            </a:r>
          </a:p>
        </p:txBody>
      </p:sp>
      <p:sp>
        <p:nvSpPr>
          <p:cNvPr id="9" name="Dot"/>
          <p:cNvSpPr/>
          <p:nvPr/>
        </p:nvSpPr>
        <p:spPr>
          <a:xfrm>
            <a:off x="482600" y="2184400"/>
            <a:ext cx="127000" cy="127000"/>
          </a:xfrm>
          <a:prstGeom prst="ellipse">
            <a:avLst/>
          </a:prstGeom>
          <a:solidFill>
            <a:srgbClr val="2D6B6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"/>
          <p:cNvSpPr/>
          <p:nvPr/>
        </p:nvSpPr>
        <p:spPr>
          <a:xfrm>
            <a:off x="838200" y="2057400"/>
            <a:ext cx="10871200" cy="584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2000" dirty="0">
                <a:solidFill>
                  <a:srgbClr val="262626"/>
                </a:solidFill>
                <a:latin typeface="Calibri" pitchFamily="34" charset="0"/>
                <a:cs typeface="Calibri" pitchFamily="34" charset="0"/>
              </a:rPr>
              <a:t>Room is an abstraction layer over SQLite; it does not replace the underlying relational database.</a:t>
            </a:r>
          </a:p>
        </p:txBody>
      </p:sp>
      <p:sp>
        <p:nvSpPr>
          <p:cNvPr id="11" name="Dot"/>
          <p:cNvSpPr/>
          <p:nvPr/>
        </p:nvSpPr>
        <p:spPr>
          <a:xfrm>
            <a:off x="482600" y="2768600"/>
            <a:ext cx="127000" cy="127000"/>
          </a:xfrm>
          <a:prstGeom prst="ellipse">
            <a:avLst/>
          </a:prstGeom>
          <a:solidFill>
            <a:srgbClr val="2D6B6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Text"/>
          <p:cNvSpPr/>
          <p:nvPr/>
        </p:nvSpPr>
        <p:spPr>
          <a:xfrm>
            <a:off x="838200" y="2641600"/>
            <a:ext cx="10871200" cy="584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2000" dirty="0">
                <a:solidFill>
                  <a:srgbClr val="262626"/>
                </a:solidFill>
                <a:latin typeface="Calibri" pitchFamily="34" charset="0"/>
                <a:cs typeface="Calibri" pitchFamily="34" charset="0"/>
              </a:rPr>
              <a:t>SQL queries are validated at compile time.</a:t>
            </a:r>
          </a:p>
        </p:txBody>
      </p:sp>
      <p:sp>
        <p:nvSpPr>
          <p:cNvPr id="13" name="Card"/>
          <p:cNvSpPr/>
          <p:nvPr/>
        </p:nvSpPr>
        <p:spPr>
          <a:xfrm>
            <a:off x="457200" y="3378200"/>
            <a:ext cx="3635822" cy="1600200"/>
          </a:xfrm>
          <a:prstGeom prst="roundRect">
            <a:avLst>
              <a:gd name="adj" fmla="val 4571"/>
            </a:avLst>
          </a:prstGeom>
          <a:solidFill>
            <a:srgbClr val="FFFFFF"/>
          </a:solidFill>
          <a:ln w="22225">
            <a:solidFill>
              <a:srgbClr val="2D6B66"/>
            </a:solidFill>
            <a:prstDash val="solid"/>
          </a:ln>
        </p:spPr>
        <p:txBody>
          <a:bodyPr wrap="square" lIns="0" tIns="0" rIns="0" bIns="0" rtlCol="0" anchor="t"/>
          <a:lstStyle/>
          <a:p>
            <a:endParaRPr lang="en-US" sz="2000"/>
          </a:p>
        </p:txBody>
      </p:sp>
      <p:sp>
        <p:nvSpPr>
          <p:cNvPr id="14" name="Text"/>
          <p:cNvSpPr/>
          <p:nvPr/>
        </p:nvSpPr>
        <p:spPr>
          <a:xfrm>
            <a:off x="660400" y="3556000"/>
            <a:ext cx="3229422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2000" b="1" dirty="0">
                <a:solidFill>
                  <a:srgbClr val="262626"/>
                </a:solidFill>
                <a:latin typeface="Calibri" pitchFamily="34" charset="0"/>
                <a:cs typeface="Calibri" pitchFamily="34" charset="0"/>
              </a:rPr>
              <a:t>Entity</a:t>
            </a:r>
          </a:p>
        </p:txBody>
      </p:sp>
      <p:sp>
        <p:nvSpPr>
          <p:cNvPr id="15" name="Text"/>
          <p:cNvSpPr/>
          <p:nvPr/>
        </p:nvSpPr>
        <p:spPr>
          <a:xfrm>
            <a:off x="660400" y="4114800"/>
            <a:ext cx="3229422" cy="711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8000"/>
              </a:lnSpc>
              <a:buNone/>
            </a:pPr>
            <a:r>
              <a:rPr lang="en-US" sz="1900" dirty="0">
                <a:solidFill>
                  <a:srgbClr val="595959"/>
                </a:solidFill>
                <a:latin typeface="Calibri" pitchFamily="34" charset="0"/>
                <a:cs typeface="Calibri" pitchFamily="34" charset="0"/>
              </a:rPr>
              <a:t>Represents a database table.</a:t>
            </a:r>
          </a:p>
        </p:txBody>
      </p:sp>
      <p:sp>
        <p:nvSpPr>
          <p:cNvPr id="16" name="Card"/>
          <p:cNvSpPr/>
          <p:nvPr/>
        </p:nvSpPr>
        <p:spPr>
          <a:xfrm>
            <a:off x="4278089" y="3378200"/>
            <a:ext cx="3635822" cy="1600200"/>
          </a:xfrm>
          <a:prstGeom prst="roundRect">
            <a:avLst>
              <a:gd name="adj" fmla="val 4571"/>
            </a:avLst>
          </a:prstGeom>
          <a:solidFill>
            <a:srgbClr val="FFFFFF"/>
          </a:solidFill>
          <a:ln w="22225">
            <a:solidFill>
              <a:srgbClr val="2D6B66"/>
            </a:solidFill>
            <a:prstDash val="solid"/>
          </a:ln>
        </p:spPr>
        <p:txBody>
          <a:bodyPr wrap="square" lIns="0" tIns="0" rIns="0" bIns="0" rtlCol="0" anchor="t"/>
          <a:lstStyle/>
          <a:p>
            <a:endParaRPr lang="en-US" sz="2000"/>
          </a:p>
        </p:txBody>
      </p:sp>
      <p:sp>
        <p:nvSpPr>
          <p:cNvPr id="17" name="Text"/>
          <p:cNvSpPr/>
          <p:nvPr/>
        </p:nvSpPr>
        <p:spPr>
          <a:xfrm>
            <a:off x="4481289" y="3556000"/>
            <a:ext cx="3229422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2000" b="1" dirty="0">
                <a:solidFill>
                  <a:srgbClr val="262626"/>
                </a:solidFill>
                <a:latin typeface="Calibri" pitchFamily="34" charset="0"/>
                <a:cs typeface="Calibri" pitchFamily="34" charset="0"/>
              </a:rPr>
              <a:t>DAO</a:t>
            </a:r>
          </a:p>
        </p:txBody>
      </p:sp>
      <p:sp>
        <p:nvSpPr>
          <p:cNvPr id="18" name="Text"/>
          <p:cNvSpPr/>
          <p:nvPr/>
        </p:nvSpPr>
        <p:spPr>
          <a:xfrm>
            <a:off x="4481289" y="4114800"/>
            <a:ext cx="3229422" cy="711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8000"/>
              </a:lnSpc>
              <a:buNone/>
            </a:pPr>
            <a:r>
              <a:rPr lang="en-US" sz="1900" dirty="0">
                <a:solidFill>
                  <a:srgbClr val="595959"/>
                </a:solidFill>
                <a:latin typeface="Calibri" pitchFamily="34" charset="0"/>
                <a:cs typeface="Calibri" pitchFamily="34" charset="0"/>
              </a:rPr>
              <a:t>Defines insert, query, update, and delete operations.</a:t>
            </a:r>
          </a:p>
        </p:txBody>
      </p:sp>
      <p:sp>
        <p:nvSpPr>
          <p:cNvPr id="19" name="Card"/>
          <p:cNvSpPr/>
          <p:nvPr/>
        </p:nvSpPr>
        <p:spPr>
          <a:xfrm>
            <a:off x="8098978" y="3378200"/>
            <a:ext cx="3635822" cy="1600200"/>
          </a:xfrm>
          <a:prstGeom prst="roundRect">
            <a:avLst>
              <a:gd name="adj" fmla="val 4571"/>
            </a:avLst>
          </a:prstGeom>
          <a:solidFill>
            <a:srgbClr val="FFFFFF"/>
          </a:solidFill>
          <a:ln w="22225">
            <a:solidFill>
              <a:srgbClr val="2D6B66"/>
            </a:solidFill>
            <a:prstDash val="solid"/>
          </a:ln>
        </p:spPr>
        <p:txBody>
          <a:bodyPr wrap="square" lIns="0" tIns="0" rIns="0" bIns="0" rtlCol="0" anchor="t"/>
          <a:lstStyle/>
          <a:p>
            <a:endParaRPr lang="en-US" sz="2000"/>
          </a:p>
        </p:txBody>
      </p:sp>
      <p:sp>
        <p:nvSpPr>
          <p:cNvPr id="20" name="Text"/>
          <p:cNvSpPr/>
          <p:nvPr/>
        </p:nvSpPr>
        <p:spPr>
          <a:xfrm>
            <a:off x="8302178" y="3556000"/>
            <a:ext cx="3229422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2000" b="1" dirty="0">
                <a:solidFill>
                  <a:srgbClr val="262626"/>
                </a:solidFill>
                <a:latin typeface="Calibri" pitchFamily="34" charset="0"/>
                <a:cs typeface="Calibri" pitchFamily="34" charset="0"/>
              </a:rPr>
              <a:t>Database</a:t>
            </a:r>
          </a:p>
        </p:txBody>
      </p:sp>
      <p:sp>
        <p:nvSpPr>
          <p:cNvPr id="21" name="Text"/>
          <p:cNvSpPr/>
          <p:nvPr/>
        </p:nvSpPr>
        <p:spPr>
          <a:xfrm>
            <a:off x="8302178" y="4114800"/>
            <a:ext cx="3229422" cy="711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8000"/>
              </a:lnSpc>
              <a:buNone/>
            </a:pPr>
            <a:r>
              <a:rPr lang="en-US" sz="1900" dirty="0">
                <a:solidFill>
                  <a:srgbClr val="595959"/>
                </a:solidFill>
                <a:latin typeface="Calibri" pitchFamily="34" charset="0"/>
                <a:cs typeface="Calibri" pitchFamily="34" charset="0"/>
              </a:rPr>
              <a:t>Holds the database and exposes DAOs.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r"/>
          <p:cNvSpPr/>
          <p:nvPr/>
        </p:nvSpPr>
        <p:spPr>
          <a:xfrm>
            <a:off x="0" y="0"/>
            <a:ext cx="12184380" cy="109728"/>
          </a:xfrm>
          <a:prstGeom prst="rect">
            <a:avLst/>
          </a:prstGeom>
          <a:solidFill>
            <a:srgbClr val="2D6B66"/>
          </a:solidFill>
          <a:ln/>
        </p:spPr>
        <p:txBody>
          <a:bodyPr wrap="square" lIns="0" tIns="0" rIns="0" bIns="0" rtlCol="0" anchor="t"/>
          <a:lstStyle/>
          <a:p>
            <a:endParaRPr lang="en-US"/>
          </a:p>
        </p:txBody>
      </p:sp>
      <p:sp>
        <p:nvSpPr>
          <p:cNvPr id="3" name="Text"/>
          <p:cNvSpPr/>
          <p:nvPr/>
        </p:nvSpPr>
        <p:spPr>
          <a:xfrm>
            <a:off x="457200" y="237744"/>
            <a:ext cx="10515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spc="200" dirty="0">
                <a:solidFill>
                  <a:srgbClr val="2D6B66"/>
                </a:solidFill>
                <a:latin typeface="Calibri" pitchFamily="34" charset="0"/>
                <a:cs typeface="Calibri" pitchFamily="34" charset="0"/>
              </a:rPr>
              <a:t>MOBILE APPLICATION DEVELOPMENT  ·  DATABASE CONNECTIVITY</a:t>
            </a:r>
          </a:p>
        </p:txBody>
      </p:sp>
      <p:sp>
        <p:nvSpPr>
          <p:cNvPr id="4" name="Text"/>
          <p:cNvSpPr/>
          <p:nvPr/>
        </p:nvSpPr>
        <p:spPr>
          <a:xfrm>
            <a:off x="457200" y="530352"/>
            <a:ext cx="1123950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3300" b="1" dirty="0">
                <a:solidFill>
                  <a:srgbClr val="262626"/>
                </a:solidFill>
                <a:latin typeface="Calibri Light" pitchFamily="34" charset="0"/>
                <a:cs typeface="Calibri Light" pitchFamily="34" charset="0"/>
              </a:rPr>
              <a:t>Room Architecture: Entity → DAO → Database</a:t>
            </a:r>
          </a:p>
        </p:txBody>
      </p:sp>
      <p:sp>
        <p:nvSpPr>
          <p:cNvPr id="5" name="Rule"/>
          <p:cNvSpPr/>
          <p:nvPr/>
        </p:nvSpPr>
        <p:spPr>
          <a:xfrm>
            <a:off x="457200" y="1243584"/>
            <a:ext cx="1005840" cy="0"/>
          </a:xfrm>
          <a:prstGeom prst="line">
            <a:avLst/>
          </a:prstGeom>
          <a:noFill/>
          <a:ln w="31750">
            <a:solidFill>
              <a:srgbClr val="660000"/>
            </a:solidFill>
            <a:prstDash val="solid"/>
          </a:ln>
        </p:spPr>
        <p:txBody>
          <a:bodyPr wrap="square" lIns="0" tIns="0" rIns="0" bIns="0" rtlCol="0" anchor="t"/>
          <a:lstStyle/>
          <a:p>
            <a:endParaRPr lang="en-US"/>
          </a:p>
        </p:txBody>
      </p:sp>
      <p:sp>
        <p:nvSpPr>
          <p:cNvPr id="6" name="Text"/>
          <p:cNvSpPr/>
          <p:nvPr/>
        </p:nvSpPr>
        <p:spPr>
          <a:xfrm>
            <a:off x="8778240" y="6337300"/>
            <a:ext cx="2954020" cy="2921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300" dirty="0">
                <a:solidFill>
                  <a:srgbClr val="595959"/>
                </a:solidFill>
                <a:latin typeface="Calibri" pitchFamily="34" charset="0"/>
                <a:cs typeface="Calibri" pitchFamily="34" charset="0"/>
              </a:rPr>
              <a:t>Mobile Application Development  ·  13 / 34</a:t>
            </a:r>
          </a:p>
        </p:txBody>
      </p:sp>
      <p:sp>
        <p:nvSpPr>
          <p:cNvPr id="7" name="Card"/>
          <p:cNvSpPr/>
          <p:nvPr/>
        </p:nvSpPr>
        <p:spPr>
          <a:xfrm>
            <a:off x="457200" y="1473200"/>
            <a:ext cx="3635822" cy="2794000"/>
          </a:xfrm>
          <a:prstGeom prst="roundRect">
            <a:avLst>
              <a:gd name="adj" fmla="val 4571"/>
            </a:avLst>
          </a:prstGeom>
          <a:solidFill>
            <a:srgbClr val="FFFFFF"/>
          </a:solidFill>
          <a:ln w="22225">
            <a:solidFill>
              <a:srgbClr val="2D6B66"/>
            </a:solidFill>
            <a:prstDash val="solid"/>
          </a:ln>
        </p:spPr>
        <p:txBody>
          <a:bodyPr wrap="square" lIns="0" tIns="0" rIns="0" bIns="0" rtlCol="0" anchor="t"/>
          <a:lstStyle/>
          <a:p>
            <a:endParaRPr lang="en-US" sz="2000"/>
          </a:p>
        </p:txBody>
      </p:sp>
      <p:sp>
        <p:nvSpPr>
          <p:cNvPr id="8" name="Text"/>
          <p:cNvSpPr/>
          <p:nvPr/>
        </p:nvSpPr>
        <p:spPr>
          <a:xfrm>
            <a:off x="660400" y="1651000"/>
            <a:ext cx="3229422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2000" b="1" dirty="0">
                <a:solidFill>
                  <a:srgbClr val="262626"/>
                </a:solidFill>
                <a:latin typeface="Calibri" pitchFamily="34" charset="0"/>
                <a:cs typeface="Calibri" pitchFamily="34" charset="0"/>
              </a:rPr>
              <a:t>Entity</a:t>
            </a:r>
          </a:p>
        </p:txBody>
      </p:sp>
      <p:sp>
        <p:nvSpPr>
          <p:cNvPr id="9" name="Text"/>
          <p:cNvSpPr/>
          <p:nvPr/>
        </p:nvSpPr>
        <p:spPr>
          <a:xfrm>
            <a:off x="660400" y="2209800"/>
            <a:ext cx="3229422" cy="1905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35000"/>
              </a:lnSpc>
              <a:buNone/>
            </a:pPr>
            <a:r>
              <a:rPr lang="en-US" sz="1700" dirty="0">
                <a:solidFill>
                  <a:srgbClr val="595959"/>
                </a:solidFill>
                <a:latin typeface="Calibri" pitchFamily="34" charset="0"/>
                <a:cs typeface="Calibri" pitchFamily="34" charset="0"/>
              </a:rPr>
              <a:t>Kotlin data class</a:t>
            </a:r>
          </a:p>
          <a:p>
            <a:pPr marL="0" indent="0" algn="l">
              <a:lnSpc>
                <a:spcPct val="135000"/>
              </a:lnSpc>
              <a:buNone/>
            </a:pPr>
            <a:r>
              <a:rPr lang="en-US" sz="1700" dirty="0">
                <a:solidFill>
                  <a:srgbClr val="595959"/>
                </a:solidFill>
                <a:latin typeface="Calibri" pitchFamily="34" charset="0"/>
                <a:cs typeface="Calibri" pitchFamily="34" charset="0"/>
              </a:rPr>
              <a:t>@Table mapping</a:t>
            </a:r>
          </a:p>
        </p:txBody>
      </p:sp>
      <p:sp>
        <p:nvSpPr>
          <p:cNvPr id="10" name="Card"/>
          <p:cNvSpPr/>
          <p:nvPr/>
        </p:nvSpPr>
        <p:spPr>
          <a:xfrm>
            <a:off x="4278089" y="1473200"/>
            <a:ext cx="3635822" cy="2794000"/>
          </a:xfrm>
          <a:prstGeom prst="roundRect">
            <a:avLst>
              <a:gd name="adj" fmla="val 4571"/>
            </a:avLst>
          </a:prstGeom>
          <a:solidFill>
            <a:srgbClr val="FFFFFF"/>
          </a:solidFill>
          <a:ln w="22225">
            <a:solidFill>
              <a:srgbClr val="2D6B66"/>
            </a:solidFill>
            <a:prstDash val="solid"/>
          </a:ln>
        </p:spPr>
        <p:txBody>
          <a:bodyPr wrap="square" lIns="0" tIns="0" rIns="0" bIns="0" rtlCol="0" anchor="t"/>
          <a:lstStyle/>
          <a:p>
            <a:endParaRPr lang="en-US" sz="2000"/>
          </a:p>
        </p:txBody>
      </p:sp>
      <p:sp>
        <p:nvSpPr>
          <p:cNvPr id="11" name="Text"/>
          <p:cNvSpPr/>
          <p:nvPr/>
        </p:nvSpPr>
        <p:spPr>
          <a:xfrm>
            <a:off x="4481289" y="1651000"/>
            <a:ext cx="3229422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2000" b="1" dirty="0">
                <a:solidFill>
                  <a:srgbClr val="262626"/>
                </a:solidFill>
                <a:latin typeface="Calibri" pitchFamily="34" charset="0"/>
                <a:cs typeface="Calibri" pitchFamily="34" charset="0"/>
              </a:rPr>
              <a:t>DAO</a:t>
            </a:r>
          </a:p>
        </p:txBody>
      </p:sp>
      <p:sp>
        <p:nvSpPr>
          <p:cNvPr id="12" name="Text"/>
          <p:cNvSpPr/>
          <p:nvPr/>
        </p:nvSpPr>
        <p:spPr>
          <a:xfrm>
            <a:off x="4481289" y="2209800"/>
            <a:ext cx="3229422" cy="1905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35000"/>
              </a:lnSpc>
              <a:buNone/>
            </a:pPr>
            <a:r>
              <a:rPr lang="en-US" sz="1700" dirty="0">
                <a:solidFill>
                  <a:srgbClr val="595959"/>
                </a:solidFill>
                <a:latin typeface="Calibri" pitchFamily="34" charset="0"/>
                <a:cs typeface="Calibri" pitchFamily="34" charset="0"/>
              </a:rPr>
              <a:t>Database operations</a:t>
            </a:r>
          </a:p>
          <a:p>
            <a:pPr marL="0" indent="0" algn="l">
              <a:lnSpc>
                <a:spcPct val="135000"/>
              </a:lnSpc>
              <a:buNone/>
            </a:pPr>
            <a:r>
              <a:rPr lang="en-US" sz="1700" dirty="0">
                <a:solidFill>
                  <a:srgbClr val="595959"/>
                </a:solidFill>
                <a:latin typeface="Calibri" pitchFamily="34" charset="0"/>
                <a:cs typeface="Calibri" pitchFamily="34" charset="0"/>
              </a:rPr>
              <a:t>@Insert / @Query / @Update / @Delete</a:t>
            </a:r>
          </a:p>
        </p:txBody>
      </p:sp>
      <p:sp>
        <p:nvSpPr>
          <p:cNvPr id="13" name="Card"/>
          <p:cNvSpPr/>
          <p:nvPr/>
        </p:nvSpPr>
        <p:spPr>
          <a:xfrm>
            <a:off x="8098978" y="1473200"/>
            <a:ext cx="3635822" cy="2794000"/>
          </a:xfrm>
          <a:prstGeom prst="roundRect">
            <a:avLst>
              <a:gd name="adj" fmla="val 4571"/>
            </a:avLst>
          </a:prstGeom>
          <a:solidFill>
            <a:srgbClr val="FFFFFF"/>
          </a:solidFill>
          <a:ln w="22225">
            <a:solidFill>
              <a:srgbClr val="2D6B66"/>
            </a:solidFill>
            <a:prstDash val="solid"/>
          </a:ln>
        </p:spPr>
        <p:txBody>
          <a:bodyPr wrap="square" lIns="0" tIns="0" rIns="0" bIns="0" rtlCol="0" anchor="t"/>
          <a:lstStyle/>
          <a:p>
            <a:endParaRPr lang="en-US" sz="2000"/>
          </a:p>
        </p:txBody>
      </p:sp>
      <p:sp>
        <p:nvSpPr>
          <p:cNvPr id="14" name="Text"/>
          <p:cNvSpPr/>
          <p:nvPr/>
        </p:nvSpPr>
        <p:spPr>
          <a:xfrm>
            <a:off x="8302178" y="1651000"/>
            <a:ext cx="3229422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2000" b="1" dirty="0">
                <a:solidFill>
                  <a:srgbClr val="262626"/>
                </a:solidFill>
                <a:latin typeface="Calibri" pitchFamily="34" charset="0"/>
                <a:cs typeface="Calibri" pitchFamily="34" charset="0"/>
              </a:rPr>
              <a:t>Database</a:t>
            </a:r>
          </a:p>
        </p:txBody>
      </p:sp>
      <p:sp>
        <p:nvSpPr>
          <p:cNvPr id="15" name="Text"/>
          <p:cNvSpPr/>
          <p:nvPr/>
        </p:nvSpPr>
        <p:spPr>
          <a:xfrm>
            <a:off x="8302178" y="2209800"/>
            <a:ext cx="3229422" cy="1905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35000"/>
              </a:lnSpc>
              <a:buNone/>
            </a:pPr>
            <a:r>
              <a:rPr lang="en-US" sz="1700" dirty="0">
                <a:solidFill>
                  <a:srgbClr val="595959"/>
                </a:solidFill>
                <a:latin typeface="Calibri" pitchFamily="34" charset="0"/>
                <a:cs typeface="Calibri" pitchFamily="34" charset="0"/>
              </a:rPr>
              <a:t>RoomDatabase</a:t>
            </a:r>
          </a:p>
          <a:p>
            <a:pPr marL="0" indent="0" algn="l">
              <a:lnSpc>
                <a:spcPct val="135000"/>
              </a:lnSpc>
              <a:buNone/>
            </a:pPr>
            <a:r>
              <a:rPr lang="en-US" sz="1700" dirty="0">
                <a:solidFill>
                  <a:srgbClr val="595959"/>
                </a:solidFill>
                <a:latin typeface="Calibri" pitchFamily="34" charset="0"/>
                <a:cs typeface="Calibri" pitchFamily="34" charset="0"/>
              </a:rPr>
              <a:t>DAO access + configuration</a:t>
            </a:r>
          </a:p>
        </p:txBody>
      </p:sp>
      <p:sp>
        <p:nvSpPr>
          <p:cNvPr id="16" name="Text"/>
          <p:cNvSpPr/>
          <p:nvPr/>
        </p:nvSpPr>
        <p:spPr>
          <a:xfrm>
            <a:off x="457200" y="4445000"/>
            <a:ext cx="11277600" cy="431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2000" b="1" dirty="0">
                <a:solidFill>
                  <a:srgbClr val="2D6B66"/>
                </a:solidFill>
                <a:latin typeface="Calibri" pitchFamily="34" charset="0"/>
                <a:cs typeface="Calibri" pitchFamily="34" charset="0"/>
              </a:rPr>
              <a:t>Application / ViewModel calls the DAO rather than writing SQL throughout the UI layer.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r"/>
          <p:cNvSpPr/>
          <p:nvPr/>
        </p:nvSpPr>
        <p:spPr>
          <a:xfrm>
            <a:off x="0" y="0"/>
            <a:ext cx="12184380" cy="109728"/>
          </a:xfrm>
          <a:prstGeom prst="rect">
            <a:avLst/>
          </a:prstGeom>
          <a:solidFill>
            <a:srgbClr val="2D6B66"/>
          </a:solidFill>
          <a:ln/>
        </p:spPr>
        <p:txBody>
          <a:bodyPr wrap="square" lIns="0" tIns="0" rIns="0" bIns="0" rtlCol="0" anchor="t"/>
          <a:lstStyle/>
          <a:p>
            <a:endParaRPr lang="en-US"/>
          </a:p>
        </p:txBody>
      </p:sp>
      <p:sp>
        <p:nvSpPr>
          <p:cNvPr id="3" name="Text"/>
          <p:cNvSpPr/>
          <p:nvPr/>
        </p:nvSpPr>
        <p:spPr>
          <a:xfrm>
            <a:off x="457200" y="237744"/>
            <a:ext cx="10515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spc="200" dirty="0">
                <a:solidFill>
                  <a:srgbClr val="2D6B66"/>
                </a:solidFill>
                <a:latin typeface="Calibri" pitchFamily="34" charset="0"/>
                <a:cs typeface="Calibri" pitchFamily="34" charset="0"/>
              </a:rPr>
              <a:t>MOBILE APPLICATION DEVELOPMENT  ·  DATABASE CONNECTIVITY</a:t>
            </a:r>
          </a:p>
        </p:txBody>
      </p:sp>
      <p:sp>
        <p:nvSpPr>
          <p:cNvPr id="4" name="Text"/>
          <p:cNvSpPr/>
          <p:nvPr/>
        </p:nvSpPr>
        <p:spPr>
          <a:xfrm>
            <a:off x="457200" y="530352"/>
            <a:ext cx="1123950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3300" b="1" dirty="0">
                <a:solidFill>
                  <a:srgbClr val="262626"/>
                </a:solidFill>
                <a:latin typeface="Calibri Light" pitchFamily="34" charset="0"/>
                <a:cs typeface="Calibri Light" pitchFamily="34" charset="0"/>
              </a:rPr>
              <a:t>Room Entity: Mapping a User Table</a:t>
            </a:r>
          </a:p>
        </p:txBody>
      </p:sp>
      <p:sp>
        <p:nvSpPr>
          <p:cNvPr id="5" name="Rule"/>
          <p:cNvSpPr/>
          <p:nvPr/>
        </p:nvSpPr>
        <p:spPr>
          <a:xfrm>
            <a:off x="457200" y="1243584"/>
            <a:ext cx="1005840" cy="0"/>
          </a:xfrm>
          <a:prstGeom prst="line">
            <a:avLst/>
          </a:prstGeom>
          <a:noFill/>
          <a:ln w="31750">
            <a:solidFill>
              <a:srgbClr val="660000"/>
            </a:solidFill>
            <a:prstDash val="solid"/>
          </a:ln>
        </p:spPr>
        <p:txBody>
          <a:bodyPr wrap="square" lIns="0" tIns="0" rIns="0" bIns="0" rtlCol="0" anchor="t"/>
          <a:lstStyle/>
          <a:p>
            <a:endParaRPr lang="en-US"/>
          </a:p>
        </p:txBody>
      </p:sp>
      <p:sp>
        <p:nvSpPr>
          <p:cNvPr id="6" name="Text"/>
          <p:cNvSpPr/>
          <p:nvPr/>
        </p:nvSpPr>
        <p:spPr>
          <a:xfrm>
            <a:off x="8778240" y="6337300"/>
            <a:ext cx="2954020" cy="2921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300" dirty="0">
                <a:solidFill>
                  <a:srgbClr val="595959"/>
                </a:solidFill>
                <a:latin typeface="Calibri" pitchFamily="34" charset="0"/>
                <a:cs typeface="Calibri" pitchFamily="34" charset="0"/>
              </a:rPr>
              <a:t>Mobile Application Development  ·  14 / 34</a:t>
            </a:r>
          </a:p>
        </p:txBody>
      </p:sp>
      <p:sp>
        <p:nvSpPr>
          <p:cNvPr id="7" name="CodePanel"/>
          <p:cNvSpPr/>
          <p:nvPr/>
        </p:nvSpPr>
        <p:spPr>
          <a:xfrm>
            <a:off x="457200" y="1473200"/>
            <a:ext cx="11277600" cy="2998400"/>
          </a:xfrm>
          <a:prstGeom prst="roundRect">
            <a:avLst>
              <a:gd name="adj" fmla="val 4571"/>
            </a:avLst>
          </a:prstGeom>
          <a:solidFill>
            <a:srgbClr val="1E2B2A"/>
          </a:solidFill>
          <a:ln/>
        </p:spPr>
        <p:txBody>
          <a:bodyPr wrap="square" lIns="0" tIns="0" rIns="0" bIns="0" rtlCol="0" anchor="t"/>
          <a:lstStyle/>
          <a:p>
            <a:endParaRPr lang="en-US" sz="2000"/>
          </a:p>
        </p:txBody>
      </p:sp>
      <p:sp>
        <p:nvSpPr>
          <p:cNvPr id="8" name="Text"/>
          <p:cNvSpPr/>
          <p:nvPr/>
        </p:nvSpPr>
        <p:spPr>
          <a:xfrm>
            <a:off x="736600" y="1727200"/>
            <a:ext cx="10718800" cy="2490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35000"/>
              </a:lnSpc>
              <a:buNone/>
            </a:pPr>
            <a:r>
              <a:rPr lang="en-US" sz="1500" dirty="0">
                <a:solidFill>
                  <a:srgbClr val="D9E6E4"/>
                </a:solidFill>
                <a:latin typeface="Consolas" pitchFamily="34" charset="0"/>
                <a:cs typeface="Consolas" pitchFamily="34" charset="0"/>
              </a:rPr>
              <a:t>@Entity(tableName = "users")</a:t>
            </a:r>
          </a:p>
          <a:p>
            <a:pPr marL="0" indent="0" algn="l">
              <a:lnSpc>
                <a:spcPct val="135000"/>
              </a:lnSpc>
              <a:buNone/>
            </a:pPr>
            <a:r>
              <a:rPr lang="en-US" sz="1500" dirty="0">
                <a:solidFill>
                  <a:srgbClr val="D9E6E4"/>
                </a:solidFill>
                <a:latin typeface="Consolas" pitchFamily="34" charset="0"/>
                <a:cs typeface="Consolas" pitchFamily="34" charset="0"/>
              </a:rPr>
              <a:t>data class User(</a:t>
            </a:r>
          </a:p>
          <a:p>
            <a:pPr marL="0" indent="0" algn="l">
              <a:lnSpc>
                <a:spcPct val="135000"/>
              </a:lnSpc>
              <a:buNone/>
            </a:pPr>
            <a:r>
              <a:rPr lang="en-US" sz="1500" dirty="0">
                <a:solidFill>
                  <a:srgbClr val="D9E6E4"/>
                </a:solidFill>
                <a:latin typeface="Consolas" pitchFamily="34" charset="0"/>
                <a:cs typeface="Consolas" pitchFamily="34" charset="0"/>
              </a:rPr>
              <a:t>    @PrimaryKey(autoGenerate = true)</a:t>
            </a:r>
          </a:p>
          <a:p>
            <a:pPr marL="0" indent="0" algn="l">
              <a:lnSpc>
                <a:spcPct val="135000"/>
              </a:lnSpc>
              <a:buNone/>
            </a:pPr>
            <a:r>
              <a:rPr lang="en-US" sz="1500" dirty="0">
                <a:solidFill>
                  <a:srgbClr val="D9E6E4"/>
                </a:solidFill>
                <a:latin typeface="Consolas" pitchFamily="34" charset="0"/>
                <a:cs typeface="Consolas" pitchFamily="34" charset="0"/>
              </a:rPr>
              <a:t>    val id: Int = 0,</a:t>
            </a:r>
          </a:p>
          <a:p>
            <a:pPr marL="0" indent="0" algn="l">
              <a:lnSpc>
                <a:spcPct val="135000"/>
              </a:lnSpc>
              <a:buNone/>
            </a:pPr>
            <a:r>
              <a:rPr lang="en-US" sz="1500" dirty="0">
                <a:solidFill>
                  <a:srgbClr val="D9E6E4"/>
                </a:solidFill>
                <a:latin typeface="Consolas" pitchFamily="34" charset="0"/>
                <a:cs typeface="Consolas" pitchFamily="34" charset="0"/>
              </a:rPr>
              <a:t>    val username: String,</a:t>
            </a:r>
          </a:p>
          <a:p>
            <a:pPr marL="0" indent="0" algn="l">
              <a:lnSpc>
                <a:spcPct val="135000"/>
              </a:lnSpc>
              <a:buNone/>
            </a:pPr>
            <a:r>
              <a:rPr lang="en-US" sz="1500" dirty="0">
                <a:solidFill>
                  <a:srgbClr val="D9E6E4"/>
                </a:solidFill>
                <a:latin typeface="Consolas" pitchFamily="34" charset="0"/>
                <a:cs typeface="Consolas" pitchFamily="34" charset="0"/>
              </a:rPr>
              <a:t>    val email: String,</a:t>
            </a:r>
          </a:p>
          <a:p>
            <a:pPr marL="0" indent="0" algn="l">
              <a:lnSpc>
                <a:spcPct val="135000"/>
              </a:lnSpc>
              <a:buNone/>
            </a:pPr>
            <a:r>
              <a:rPr lang="en-US" sz="1500" dirty="0">
                <a:solidFill>
                  <a:srgbClr val="D9E6E4"/>
                </a:solidFill>
                <a:latin typeface="Consolas" pitchFamily="34" charset="0"/>
                <a:cs typeface="Consolas" pitchFamily="34" charset="0"/>
              </a:rPr>
              <a:t>    val password: String</a:t>
            </a:r>
          </a:p>
          <a:p>
            <a:pPr marL="0" indent="0" algn="l">
              <a:lnSpc>
                <a:spcPct val="135000"/>
              </a:lnSpc>
              <a:buNone/>
            </a:pPr>
            <a:r>
              <a:rPr lang="en-US" sz="1500" dirty="0">
                <a:solidFill>
                  <a:srgbClr val="D9E6E4"/>
                </a:solidFill>
                <a:latin typeface="Consolas" pitchFamily="34" charset="0"/>
                <a:cs typeface="Consolas" pitchFamily="34" charset="0"/>
              </a:rPr>
              <a:t>)</a:t>
            </a:r>
          </a:p>
        </p:txBody>
      </p:sp>
      <p:sp>
        <p:nvSpPr>
          <p:cNvPr id="9" name="Card"/>
          <p:cNvSpPr/>
          <p:nvPr/>
        </p:nvSpPr>
        <p:spPr>
          <a:xfrm>
            <a:off x="457200" y="4649400"/>
            <a:ext cx="3635822" cy="1041400"/>
          </a:xfrm>
          <a:prstGeom prst="roundRect">
            <a:avLst>
              <a:gd name="adj" fmla="val 4571"/>
            </a:avLst>
          </a:prstGeom>
          <a:solidFill>
            <a:srgbClr val="FFFFFF"/>
          </a:solidFill>
          <a:ln w="22225">
            <a:solidFill>
              <a:srgbClr val="2D6B66"/>
            </a:solidFill>
            <a:prstDash val="solid"/>
          </a:ln>
        </p:spPr>
        <p:txBody>
          <a:bodyPr wrap="square" lIns="0" tIns="0" rIns="0" bIns="0" rtlCol="0" anchor="t"/>
          <a:lstStyle/>
          <a:p>
            <a:endParaRPr lang="en-US" sz="2000"/>
          </a:p>
        </p:txBody>
      </p:sp>
      <p:sp>
        <p:nvSpPr>
          <p:cNvPr id="10" name="Text"/>
          <p:cNvSpPr/>
          <p:nvPr/>
        </p:nvSpPr>
        <p:spPr>
          <a:xfrm>
            <a:off x="609600" y="4751000"/>
            <a:ext cx="3331022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1700" b="1" dirty="0">
                <a:solidFill>
                  <a:srgbClr val="262626"/>
                </a:solidFill>
                <a:latin typeface="Calibri" pitchFamily="34" charset="0"/>
                <a:cs typeface="Calibri" pitchFamily="34" charset="0"/>
              </a:rPr>
              <a:t>@Entity</a:t>
            </a:r>
          </a:p>
        </p:txBody>
      </p:sp>
      <p:sp>
        <p:nvSpPr>
          <p:cNvPr id="11" name="Text"/>
          <p:cNvSpPr/>
          <p:nvPr/>
        </p:nvSpPr>
        <p:spPr>
          <a:xfrm>
            <a:off x="609600" y="5106600"/>
            <a:ext cx="3331022" cy="482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500" dirty="0">
                <a:solidFill>
                  <a:srgbClr val="595959"/>
                </a:solidFill>
                <a:latin typeface="Calibri" pitchFamily="34" charset="0"/>
                <a:cs typeface="Calibri" pitchFamily="34" charset="0"/>
              </a:rPr>
              <a:t>Marks the class as a Room table.</a:t>
            </a:r>
          </a:p>
        </p:txBody>
      </p:sp>
      <p:sp>
        <p:nvSpPr>
          <p:cNvPr id="12" name="Card"/>
          <p:cNvSpPr/>
          <p:nvPr/>
        </p:nvSpPr>
        <p:spPr>
          <a:xfrm>
            <a:off x="4278089" y="4649400"/>
            <a:ext cx="3635822" cy="1041400"/>
          </a:xfrm>
          <a:prstGeom prst="roundRect">
            <a:avLst>
              <a:gd name="adj" fmla="val 4571"/>
            </a:avLst>
          </a:prstGeom>
          <a:solidFill>
            <a:srgbClr val="FFFFFF"/>
          </a:solidFill>
          <a:ln w="22225">
            <a:solidFill>
              <a:srgbClr val="2D6B66"/>
            </a:solidFill>
            <a:prstDash val="solid"/>
          </a:ln>
        </p:spPr>
        <p:txBody>
          <a:bodyPr wrap="square" lIns="0" tIns="0" rIns="0" bIns="0" rtlCol="0" anchor="t"/>
          <a:lstStyle/>
          <a:p>
            <a:endParaRPr lang="en-US" sz="2000"/>
          </a:p>
        </p:txBody>
      </p:sp>
      <p:sp>
        <p:nvSpPr>
          <p:cNvPr id="13" name="Text"/>
          <p:cNvSpPr/>
          <p:nvPr/>
        </p:nvSpPr>
        <p:spPr>
          <a:xfrm>
            <a:off x="4430489" y="4751000"/>
            <a:ext cx="3331022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1700" b="1" dirty="0">
                <a:solidFill>
                  <a:srgbClr val="262626"/>
                </a:solidFill>
                <a:latin typeface="Calibri" pitchFamily="34" charset="0"/>
                <a:cs typeface="Calibri" pitchFamily="34" charset="0"/>
              </a:rPr>
              <a:t>@PrimaryKey</a:t>
            </a:r>
          </a:p>
        </p:txBody>
      </p:sp>
      <p:sp>
        <p:nvSpPr>
          <p:cNvPr id="14" name="Text"/>
          <p:cNvSpPr/>
          <p:nvPr/>
        </p:nvSpPr>
        <p:spPr>
          <a:xfrm>
            <a:off x="4430489" y="5106600"/>
            <a:ext cx="3331022" cy="482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500" dirty="0">
                <a:solidFill>
                  <a:srgbClr val="595959"/>
                </a:solidFill>
                <a:latin typeface="Calibri" pitchFamily="34" charset="0"/>
                <a:cs typeface="Calibri" pitchFamily="34" charset="0"/>
              </a:rPr>
              <a:t>Defines the unique identifier; autoGenerate creates IDs automatically.</a:t>
            </a:r>
          </a:p>
        </p:txBody>
      </p:sp>
      <p:sp>
        <p:nvSpPr>
          <p:cNvPr id="15" name="Card"/>
          <p:cNvSpPr/>
          <p:nvPr/>
        </p:nvSpPr>
        <p:spPr>
          <a:xfrm>
            <a:off x="8098978" y="4649400"/>
            <a:ext cx="3635822" cy="1041400"/>
          </a:xfrm>
          <a:prstGeom prst="roundRect">
            <a:avLst>
              <a:gd name="adj" fmla="val 4571"/>
            </a:avLst>
          </a:prstGeom>
          <a:solidFill>
            <a:srgbClr val="FFFFFF"/>
          </a:solidFill>
          <a:ln w="22225">
            <a:solidFill>
              <a:srgbClr val="2D6B66"/>
            </a:solidFill>
            <a:prstDash val="solid"/>
          </a:ln>
        </p:spPr>
        <p:txBody>
          <a:bodyPr wrap="square" lIns="0" tIns="0" rIns="0" bIns="0" rtlCol="0" anchor="t"/>
          <a:lstStyle/>
          <a:p>
            <a:endParaRPr lang="en-US" sz="2000"/>
          </a:p>
        </p:txBody>
      </p:sp>
      <p:sp>
        <p:nvSpPr>
          <p:cNvPr id="16" name="Text"/>
          <p:cNvSpPr/>
          <p:nvPr/>
        </p:nvSpPr>
        <p:spPr>
          <a:xfrm>
            <a:off x="8251378" y="4751000"/>
            <a:ext cx="3331022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1700" b="1" dirty="0">
                <a:solidFill>
                  <a:srgbClr val="262626"/>
                </a:solidFill>
                <a:latin typeface="Calibri" pitchFamily="34" charset="0"/>
                <a:cs typeface="Calibri" pitchFamily="34" charset="0"/>
              </a:rPr>
              <a:t>Columns</a:t>
            </a:r>
          </a:p>
        </p:txBody>
      </p:sp>
      <p:sp>
        <p:nvSpPr>
          <p:cNvPr id="17" name="Text"/>
          <p:cNvSpPr/>
          <p:nvPr/>
        </p:nvSpPr>
        <p:spPr>
          <a:xfrm>
            <a:off x="8251378" y="5106600"/>
            <a:ext cx="3331022" cy="482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500" dirty="0">
                <a:solidFill>
                  <a:srgbClr val="595959"/>
                </a:solidFill>
                <a:latin typeface="Calibri" pitchFamily="34" charset="0"/>
                <a:cs typeface="Calibri" pitchFamily="34" charset="0"/>
              </a:rPr>
              <a:t>Class properties become table columns unless configured otherwise.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r"/>
          <p:cNvSpPr/>
          <p:nvPr/>
        </p:nvSpPr>
        <p:spPr>
          <a:xfrm>
            <a:off x="0" y="0"/>
            <a:ext cx="12184380" cy="109728"/>
          </a:xfrm>
          <a:prstGeom prst="rect">
            <a:avLst/>
          </a:prstGeom>
          <a:solidFill>
            <a:srgbClr val="2D6B66"/>
          </a:solidFill>
          <a:ln/>
        </p:spPr>
        <p:txBody>
          <a:bodyPr wrap="square" lIns="0" tIns="0" rIns="0" bIns="0" rtlCol="0" anchor="t"/>
          <a:lstStyle/>
          <a:p>
            <a:endParaRPr lang="en-US"/>
          </a:p>
        </p:txBody>
      </p:sp>
      <p:sp>
        <p:nvSpPr>
          <p:cNvPr id="3" name="Text"/>
          <p:cNvSpPr/>
          <p:nvPr/>
        </p:nvSpPr>
        <p:spPr>
          <a:xfrm>
            <a:off x="457200" y="237744"/>
            <a:ext cx="10515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spc="200" dirty="0">
                <a:solidFill>
                  <a:srgbClr val="2D6B66"/>
                </a:solidFill>
                <a:latin typeface="Calibri" pitchFamily="34" charset="0"/>
                <a:cs typeface="Calibri" pitchFamily="34" charset="0"/>
              </a:rPr>
              <a:t>MOBILE APPLICATION DEVELOPMENT  ·  DATABASE CONNECTIVITY</a:t>
            </a:r>
          </a:p>
        </p:txBody>
      </p:sp>
      <p:sp>
        <p:nvSpPr>
          <p:cNvPr id="4" name="Text"/>
          <p:cNvSpPr/>
          <p:nvPr/>
        </p:nvSpPr>
        <p:spPr>
          <a:xfrm>
            <a:off x="457200" y="530352"/>
            <a:ext cx="1123950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3300" b="1" dirty="0">
                <a:solidFill>
                  <a:srgbClr val="262626"/>
                </a:solidFill>
                <a:latin typeface="Calibri Light" pitchFamily="34" charset="0"/>
                <a:cs typeface="Calibri Light" pitchFamily="34" charset="0"/>
              </a:rPr>
              <a:t>Room DAO: Defining Database Operations</a:t>
            </a:r>
          </a:p>
        </p:txBody>
      </p:sp>
      <p:sp>
        <p:nvSpPr>
          <p:cNvPr id="5" name="Rule"/>
          <p:cNvSpPr/>
          <p:nvPr/>
        </p:nvSpPr>
        <p:spPr>
          <a:xfrm>
            <a:off x="457200" y="1243584"/>
            <a:ext cx="1005840" cy="0"/>
          </a:xfrm>
          <a:prstGeom prst="line">
            <a:avLst/>
          </a:prstGeom>
          <a:noFill/>
          <a:ln w="31750">
            <a:solidFill>
              <a:srgbClr val="660000"/>
            </a:solidFill>
            <a:prstDash val="solid"/>
          </a:ln>
        </p:spPr>
        <p:txBody>
          <a:bodyPr wrap="square" lIns="0" tIns="0" rIns="0" bIns="0" rtlCol="0" anchor="t"/>
          <a:lstStyle/>
          <a:p>
            <a:endParaRPr lang="en-US"/>
          </a:p>
        </p:txBody>
      </p:sp>
      <p:sp>
        <p:nvSpPr>
          <p:cNvPr id="6" name="Text"/>
          <p:cNvSpPr/>
          <p:nvPr/>
        </p:nvSpPr>
        <p:spPr>
          <a:xfrm>
            <a:off x="8778240" y="6337300"/>
            <a:ext cx="2954020" cy="2921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300" dirty="0">
                <a:solidFill>
                  <a:srgbClr val="595959"/>
                </a:solidFill>
                <a:latin typeface="Calibri" pitchFamily="34" charset="0"/>
                <a:cs typeface="Calibri" pitchFamily="34" charset="0"/>
              </a:rPr>
              <a:t>Mobile Application Development  ·  15 / 34</a:t>
            </a:r>
          </a:p>
        </p:txBody>
      </p:sp>
      <p:sp>
        <p:nvSpPr>
          <p:cNvPr id="7" name="CodePanel"/>
          <p:cNvSpPr/>
          <p:nvPr/>
        </p:nvSpPr>
        <p:spPr>
          <a:xfrm>
            <a:off x="457200" y="1473200"/>
            <a:ext cx="11277600" cy="4522400"/>
          </a:xfrm>
          <a:prstGeom prst="roundRect">
            <a:avLst>
              <a:gd name="adj" fmla="val 4571"/>
            </a:avLst>
          </a:prstGeom>
          <a:solidFill>
            <a:srgbClr val="1E2B2A"/>
          </a:solidFill>
          <a:ln/>
        </p:spPr>
        <p:txBody>
          <a:bodyPr wrap="square" lIns="0" tIns="0" rIns="0" bIns="0" rtlCol="0" anchor="t"/>
          <a:lstStyle/>
          <a:p>
            <a:endParaRPr lang="en-US" sz="2000"/>
          </a:p>
        </p:txBody>
      </p:sp>
      <p:sp>
        <p:nvSpPr>
          <p:cNvPr id="8" name="Text"/>
          <p:cNvSpPr/>
          <p:nvPr/>
        </p:nvSpPr>
        <p:spPr>
          <a:xfrm>
            <a:off x="736600" y="1727200"/>
            <a:ext cx="10718800" cy="40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35000"/>
              </a:lnSpc>
              <a:buNone/>
            </a:pPr>
            <a:r>
              <a:rPr lang="en-US" sz="1300" dirty="0">
                <a:solidFill>
                  <a:srgbClr val="D9E6E4"/>
                </a:solidFill>
                <a:latin typeface="Consolas" pitchFamily="34" charset="0"/>
                <a:cs typeface="Consolas" pitchFamily="34" charset="0"/>
              </a:rPr>
              <a:t>@Dao</a:t>
            </a:r>
          </a:p>
          <a:p>
            <a:pPr marL="0" indent="0" algn="l">
              <a:lnSpc>
                <a:spcPct val="135000"/>
              </a:lnSpc>
              <a:buNone/>
            </a:pPr>
            <a:r>
              <a:rPr lang="en-US" sz="1300" dirty="0">
                <a:solidFill>
                  <a:srgbClr val="D9E6E4"/>
                </a:solidFill>
                <a:latin typeface="Consolas" pitchFamily="34" charset="0"/>
                <a:cs typeface="Consolas" pitchFamily="34" charset="0"/>
              </a:rPr>
              <a:t>interface UserDao {</a:t>
            </a:r>
          </a:p>
          <a:p>
            <a:pPr marL="0" indent="0" algn="l">
              <a:lnSpc>
                <a:spcPct val="135000"/>
              </a:lnSpc>
              <a:buNone/>
            </a:pPr>
            <a:endParaRPr lang="en-US" sz="1300" dirty="0">
              <a:solidFill>
                <a:srgbClr val="D9E6E4"/>
              </a:solidFill>
              <a:latin typeface="Consolas" pitchFamily="34" charset="0"/>
              <a:cs typeface="Consolas" pitchFamily="34" charset="0"/>
            </a:endParaRPr>
          </a:p>
          <a:p>
            <a:pPr marL="0" indent="0" algn="l">
              <a:lnSpc>
                <a:spcPct val="135000"/>
              </a:lnSpc>
              <a:buNone/>
            </a:pPr>
            <a:r>
              <a:rPr lang="en-US" sz="1300" dirty="0">
                <a:solidFill>
                  <a:srgbClr val="D9E6E4"/>
                </a:solidFill>
                <a:latin typeface="Consolas" pitchFamily="34" charset="0"/>
                <a:cs typeface="Consolas" pitchFamily="34" charset="0"/>
              </a:rPr>
              <a:t>    @Insert</a:t>
            </a:r>
          </a:p>
          <a:p>
            <a:pPr marL="0" indent="0" algn="l">
              <a:lnSpc>
                <a:spcPct val="135000"/>
              </a:lnSpc>
              <a:buNone/>
            </a:pPr>
            <a:r>
              <a:rPr lang="en-US" sz="1300" dirty="0">
                <a:solidFill>
                  <a:srgbClr val="D9E6E4"/>
                </a:solidFill>
                <a:latin typeface="Consolas" pitchFamily="34" charset="0"/>
                <a:cs typeface="Consolas" pitchFamily="34" charset="0"/>
              </a:rPr>
              <a:t>    suspend fun insertUser(user: User)</a:t>
            </a:r>
          </a:p>
          <a:p>
            <a:pPr marL="0" indent="0" algn="l">
              <a:lnSpc>
                <a:spcPct val="135000"/>
              </a:lnSpc>
              <a:buNone/>
            </a:pPr>
            <a:endParaRPr lang="en-US" sz="1300" dirty="0">
              <a:solidFill>
                <a:srgbClr val="D9E6E4"/>
              </a:solidFill>
              <a:latin typeface="Consolas" pitchFamily="34" charset="0"/>
              <a:cs typeface="Consolas" pitchFamily="34" charset="0"/>
            </a:endParaRPr>
          </a:p>
          <a:p>
            <a:pPr marL="0" indent="0" algn="l">
              <a:lnSpc>
                <a:spcPct val="135000"/>
              </a:lnSpc>
              <a:buNone/>
            </a:pPr>
            <a:r>
              <a:rPr lang="en-US" sz="1300" dirty="0">
                <a:solidFill>
                  <a:srgbClr val="D9E6E4"/>
                </a:solidFill>
                <a:latin typeface="Consolas" pitchFamily="34" charset="0"/>
                <a:cs typeface="Consolas" pitchFamily="34" charset="0"/>
              </a:rPr>
              <a:t>    @Query("SELECT * FROM users")</a:t>
            </a:r>
          </a:p>
          <a:p>
            <a:pPr marL="0" indent="0" algn="l">
              <a:lnSpc>
                <a:spcPct val="135000"/>
              </a:lnSpc>
              <a:buNone/>
            </a:pPr>
            <a:r>
              <a:rPr lang="en-US" sz="1300" dirty="0">
                <a:solidFill>
                  <a:srgbClr val="D9E6E4"/>
                </a:solidFill>
                <a:latin typeface="Consolas" pitchFamily="34" charset="0"/>
                <a:cs typeface="Consolas" pitchFamily="34" charset="0"/>
              </a:rPr>
              <a:t>    suspend fun getAllUsers(): List&lt;User&gt;</a:t>
            </a:r>
          </a:p>
          <a:p>
            <a:pPr marL="0" indent="0" algn="l">
              <a:lnSpc>
                <a:spcPct val="135000"/>
              </a:lnSpc>
              <a:buNone/>
            </a:pPr>
            <a:endParaRPr lang="en-US" sz="1300" dirty="0">
              <a:solidFill>
                <a:srgbClr val="D9E6E4"/>
              </a:solidFill>
              <a:latin typeface="Consolas" pitchFamily="34" charset="0"/>
              <a:cs typeface="Consolas" pitchFamily="34" charset="0"/>
            </a:endParaRPr>
          </a:p>
          <a:p>
            <a:pPr marL="0" indent="0" algn="l">
              <a:lnSpc>
                <a:spcPct val="135000"/>
              </a:lnSpc>
              <a:buNone/>
            </a:pPr>
            <a:r>
              <a:rPr lang="en-US" sz="1300" dirty="0">
                <a:solidFill>
                  <a:srgbClr val="D9E6E4"/>
                </a:solidFill>
                <a:latin typeface="Consolas" pitchFamily="34" charset="0"/>
                <a:cs typeface="Consolas" pitchFamily="34" charset="0"/>
              </a:rPr>
              <a:t>    @Query("""</a:t>
            </a:r>
          </a:p>
          <a:p>
            <a:pPr marL="0" indent="0" algn="l">
              <a:lnSpc>
                <a:spcPct val="135000"/>
              </a:lnSpc>
              <a:buNone/>
            </a:pPr>
            <a:r>
              <a:rPr lang="en-US" sz="1300" dirty="0">
                <a:solidFill>
                  <a:srgbClr val="D9E6E4"/>
                </a:solidFill>
                <a:latin typeface="Consolas" pitchFamily="34" charset="0"/>
                <a:cs typeface="Consolas" pitchFamily="34" charset="0"/>
              </a:rPr>
              <a:t>        SELECT * FROM users</a:t>
            </a:r>
          </a:p>
          <a:p>
            <a:pPr marL="0" indent="0" algn="l">
              <a:lnSpc>
                <a:spcPct val="135000"/>
              </a:lnSpc>
              <a:buNone/>
            </a:pPr>
            <a:r>
              <a:rPr lang="en-US" sz="1300" dirty="0">
                <a:solidFill>
                  <a:srgbClr val="D9E6E4"/>
                </a:solidFill>
                <a:latin typeface="Consolas" pitchFamily="34" charset="0"/>
                <a:cs typeface="Consolas" pitchFamily="34" charset="0"/>
              </a:rPr>
              <a:t>        WHERE email = :email AND password = :password</a:t>
            </a:r>
          </a:p>
          <a:p>
            <a:pPr marL="0" indent="0" algn="l">
              <a:lnSpc>
                <a:spcPct val="135000"/>
              </a:lnSpc>
              <a:buNone/>
            </a:pPr>
            <a:r>
              <a:rPr lang="en-US" sz="1300" dirty="0">
                <a:solidFill>
                  <a:srgbClr val="D9E6E4"/>
                </a:solidFill>
                <a:latin typeface="Consolas" pitchFamily="34" charset="0"/>
                <a:cs typeface="Consolas" pitchFamily="34" charset="0"/>
              </a:rPr>
              <a:t>    """)</a:t>
            </a:r>
          </a:p>
          <a:p>
            <a:pPr marL="0" indent="0" algn="l">
              <a:lnSpc>
                <a:spcPct val="135000"/>
              </a:lnSpc>
              <a:buNone/>
            </a:pPr>
            <a:r>
              <a:rPr lang="en-US" sz="1300" dirty="0">
                <a:solidFill>
                  <a:srgbClr val="D9E6E4"/>
                </a:solidFill>
                <a:latin typeface="Consolas" pitchFamily="34" charset="0"/>
                <a:cs typeface="Consolas" pitchFamily="34" charset="0"/>
              </a:rPr>
              <a:t>    suspend fun login(email: String, password: String): User?</a:t>
            </a:r>
          </a:p>
          <a:p>
            <a:pPr marL="0" indent="0" algn="l">
              <a:lnSpc>
                <a:spcPct val="135000"/>
              </a:lnSpc>
              <a:buNone/>
            </a:pPr>
            <a:r>
              <a:rPr lang="en-US" sz="1300" dirty="0">
                <a:solidFill>
                  <a:srgbClr val="D9E6E4"/>
                </a:solidFill>
                <a:latin typeface="Consolas" pitchFamily="34" charset="0"/>
                <a:cs typeface="Consolas" pitchFamily="34" charset="0"/>
              </a:rPr>
              <a:t>}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r"/>
          <p:cNvSpPr/>
          <p:nvPr/>
        </p:nvSpPr>
        <p:spPr>
          <a:xfrm>
            <a:off x="0" y="0"/>
            <a:ext cx="12184380" cy="109728"/>
          </a:xfrm>
          <a:prstGeom prst="rect">
            <a:avLst/>
          </a:prstGeom>
          <a:solidFill>
            <a:srgbClr val="2D6B66"/>
          </a:solidFill>
          <a:ln/>
        </p:spPr>
        <p:txBody>
          <a:bodyPr wrap="square" lIns="0" tIns="0" rIns="0" bIns="0" rtlCol="0" anchor="t"/>
          <a:lstStyle/>
          <a:p>
            <a:endParaRPr lang="en-US"/>
          </a:p>
        </p:txBody>
      </p:sp>
      <p:sp>
        <p:nvSpPr>
          <p:cNvPr id="3" name="Text"/>
          <p:cNvSpPr/>
          <p:nvPr/>
        </p:nvSpPr>
        <p:spPr>
          <a:xfrm>
            <a:off x="457200" y="237744"/>
            <a:ext cx="10515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spc="200" dirty="0">
                <a:solidFill>
                  <a:srgbClr val="2D6B66"/>
                </a:solidFill>
                <a:latin typeface="Calibri" pitchFamily="34" charset="0"/>
                <a:cs typeface="Calibri" pitchFamily="34" charset="0"/>
              </a:rPr>
              <a:t>MOBILE APPLICATION DEVELOPMENT  ·  DATABASE CONNECTIVITY</a:t>
            </a:r>
          </a:p>
        </p:txBody>
      </p:sp>
      <p:sp>
        <p:nvSpPr>
          <p:cNvPr id="4" name="Text"/>
          <p:cNvSpPr/>
          <p:nvPr/>
        </p:nvSpPr>
        <p:spPr>
          <a:xfrm>
            <a:off x="457200" y="530352"/>
            <a:ext cx="1123950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3300" b="1" dirty="0">
                <a:solidFill>
                  <a:srgbClr val="262626"/>
                </a:solidFill>
                <a:latin typeface="Calibri Light" pitchFamily="34" charset="0"/>
                <a:cs typeface="Calibri Light" pitchFamily="34" charset="0"/>
              </a:rPr>
              <a:t>Room Database Class &amp; Instance</a:t>
            </a:r>
          </a:p>
        </p:txBody>
      </p:sp>
      <p:sp>
        <p:nvSpPr>
          <p:cNvPr id="5" name="Rule"/>
          <p:cNvSpPr/>
          <p:nvPr/>
        </p:nvSpPr>
        <p:spPr>
          <a:xfrm>
            <a:off x="457200" y="1243584"/>
            <a:ext cx="1005840" cy="0"/>
          </a:xfrm>
          <a:prstGeom prst="line">
            <a:avLst/>
          </a:prstGeom>
          <a:noFill/>
          <a:ln w="31750">
            <a:solidFill>
              <a:srgbClr val="660000"/>
            </a:solidFill>
            <a:prstDash val="solid"/>
          </a:ln>
        </p:spPr>
        <p:txBody>
          <a:bodyPr wrap="square" lIns="0" tIns="0" rIns="0" bIns="0" rtlCol="0" anchor="t"/>
          <a:lstStyle/>
          <a:p>
            <a:endParaRPr lang="en-US"/>
          </a:p>
        </p:txBody>
      </p:sp>
      <p:sp>
        <p:nvSpPr>
          <p:cNvPr id="6" name="Text"/>
          <p:cNvSpPr/>
          <p:nvPr/>
        </p:nvSpPr>
        <p:spPr>
          <a:xfrm>
            <a:off x="8778240" y="6337300"/>
            <a:ext cx="2954020" cy="2921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300" dirty="0">
                <a:solidFill>
                  <a:srgbClr val="595959"/>
                </a:solidFill>
                <a:latin typeface="Calibri" pitchFamily="34" charset="0"/>
                <a:cs typeface="Calibri" pitchFamily="34" charset="0"/>
              </a:rPr>
              <a:t>Mobile Application Development  ·  16 / 34</a:t>
            </a:r>
          </a:p>
        </p:txBody>
      </p:sp>
      <p:sp>
        <p:nvSpPr>
          <p:cNvPr id="7" name="CodePanel"/>
          <p:cNvSpPr/>
          <p:nvPr/>
        </p:nvSpPr>
        <p:spPr>
          <a:xfrm>
            <a:off x="457200" y="1473200"/>
            <a:ext cx="11277600" cy="3608000"/>
          </a:xfrm>
          <a:prstGeom prst="roundRect">
            <a:avLst>
              <a:gd name="adj" fmla="val 4571"/>
            </a:avLst>
          </a:prstGeom>
          <a:solidFill>
            <a:srgbClr val="1E2B2A"/>
          </a:solidFill>
          <a:ln/>
        </p:spPr>
        <p:txBody>
          <a:bodyPr wrap="square" lIns="0" tIns="0" rIns="0" bIns="0" rtlCol="0" anchor="t"/>
          <a:lstStyle/>
          <a:p>
            <a:endParaRPr lang="en-US" sz="2000"/>
          </a:p>
        </p:txBody>
      </p:sp>
      <p:sp>
        <p:nvSpPr>
          <p:cNvPr id="8" name="Text"/>
          <p:cNvSpPr/>
          <p:nvPr/>
        </p:nvSpPr>
        <p:spPr>
          <a:xfrm>
            <a:off x="736600" y="1727200"/>
            <a:ext cx="10718800" cy="310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35000"/>
              </a:lnSpc>
              <a:buNone/>
            </a:pPr>
            <a:r>
              <a:rPr lang="en-US" sz="1500" dirty="0">
                <a:solidFill>
                  <a:srgbClr val="D9E6E4"/>
                </a:solidFill>
                <a:latin typeface="Consolas" pitchFamily="34" charset="0"/>
                <a:cs typeface="Consolas" pitchFamily="34" charset="0"/>
              </a:rPr>
              <a:t>@Database(entities = [User::class], version = 1)</a:t>
            </a:r>
          </a:p>
          <a:p>
            <a:pPr marL="0" indent="0" algn="l">
              <a:lnSpc>
                <a:spcPct val="135000"/>
              </a:lnSpc>
              <a:buNone/>
            </a:pPr>
            <a:r>
              <a:rPr lang="en-US" sz="1500" dirty="0">
                <a:solidFill>
                  <a:srgbClr val="D9E6E4"/>
                </a:solidFill>
                <a:latin typeface="Consolas" pitchFamily="34" charset="0"/>
                <a:cs typeface="Consolas" pitchFamily="34" charset="0"/>
              </a:rPr>
              <a:t>abstract class AppDatabase : RoomDatabase() {</a:t>
            </a:r>
          </a:p>
          <a:p>
            <a:pPr marL="0" indent="0" algn="l">
              <a:lnSpc>
                <a:spcPct val="135000"/>
              </a:lnSpc>
              <a:buNone/>
            </a:pPr>
            <a:r>
              <a:rPr lang="en-US" sz="1500" dirty="0">
                <a:solidFill>
                  <a:srgbClr val="D9E6E4"/>
                </a:solidFill>
                <a:latin typeface="Consolas" pitchFamily="34" charset="0"/>
                <a:cs typeface="Consolas" pitchFamily="34" charset="0"/>
              </a:rPr>
              <a:t>    abstract fun userDao(): UserDao</a:t>
            </a:r>
          </a:p>
          <a:p>
            <a:pPr marL="0" indent="0" algn="l">
              <a:lnSpc>
                <a:spcPct val="135000"/>
              </a:lnSpc>
              <a:buNone/>
            </a:pPr>
            <a:r>
              <a:rPr lang="en-US" sz="1500" dirty="0">
                <a:solidFill>
                  <a:srgbClr val="D9E6E4"/>
                </a:solidFill>
                <a:latin typeface="Consolas" pitchFamily="34" charset="0"/>
                <a:cs typeface="Consolas" pitchFamily="34" charset="0"/>
              </a:rPr>
              <a:t>}</a:t>
            </a:r>
          </a:p>
          <a:p>
            <a:pPr marL="0" indent="0" algn="l">
              <a:lnSpc>
                <a:spcPct val="135000"/>
              </a:lnSpc>
              <a:buNone/>
            </a:pPr>
            <a:endParaRPr lang="en-US" sz="1500" dirty="0">
              <a:solidFill>
                <a:srgbClr val="D9E6E4"/>
              </a:solidFill>
              <a:latin typeface="Consolas" pitchFamily="34" charset="0"/>
              <a:cs typeface="Consolas" pitchFamily="34" charset="0"/>
            </a:endParaRPr>
          </a:p>
          <a:p>
            <a:pPr marL="0" indent="0" algn="l">
              <a:lnSpc>
                <a:spcPct val="135000"/>
              </a:lnSpc>
              <a:buNone/>
            </a:pPr>
            <a:r>
              <a:rPr lang="en-US" sz="1500" dirty="0">
                <a:solidFill>
                  <a:srgbClr val="D9E6E4"/>
                </a:solidFill>
                <a:latin typeface="Consolas" pitchFamily="34" charset="0"/>
                <a:cs typeface="Consolas" pitchFamily="34" charset="0"/>
              </a:rPr>
              <a:t>val db = Room.databaseBuilder(</a:t>
            </a:r>
          </a:p>
          <a:p>
            <a:pPr marL="0" indent="0" algn="l">
              <a:lnSpc>
                <a:spcPct val="135000"/>
              </a:lnSpc>
              <a:buNone/>
            </a:pPr>
            <a:r>
              <a:rPr lang="en-US" sz="1500" dirty="0">
                <a:solidFill>
                  <a:srgbClr val="D9E6E4"/>
                </a:solidFill>
                <a:latin typeface="Consolas" pitchFamily="34" charset="0"/>
                <a:cs typeface="Consolas" pitchFamily="34" charset="0"/>
              </a:rPr>
              <a:t>    applicationContext,</a:t>
            </a:r>
          </a:p>
          <a:p>
            <a:pPr marL="0" indent="0" algn="l">
              <a:lnSpc>
                <a:spcPct val="135000"/>
              </a:lnSpc>
              <a:buNone/>
            </a:pPr>
            <a:r>
              <a:rPr lang="en-US" sz="1500" dirty="0">
                <a:solidFill>
                  <a:srgbClr val="D9E6E4"/>
                </a:solidFill>
                <a:latin typeface="Consolas" pitchFamily="34" charset="0"/>
                <a:cs typeface="Consolas" pitchFamily="34" charset="0"/>
              </a:rPr>
              <a:t>    AppDatabase::class.java,</a:t>
            </a:r>
          </a:p>
          <a:p>
            <a:pPr marL="0" indent="0" algn="l">
              <a:lnSpc>
                <a:spcPct val="135000"/>
              </a:lnSpc>
              <a:buNone/>
            </a:pPr>
            <a:r>
              <a:rPr lang="en-US" sz="1500" dirty="0">
                <a:solidFill>
                  <a:srgbClr val="D9E6E4"/>
                </a:solidFill>
                <a:latin typeface="Consolas" pitchFamily="34" charset="0"/>
                <a:cs typeface="Consolas" pitchFamily="34" charset="0"/>
              </a:rPr>
              <a:t>    "app_database"</a:t>
            </a:r>
          </a:p>
          <a:p>
            <a:pPr marL="0" indent="0" algn="l">
              <a:lnSpc>
                <a:spcPct val="135000"/>
              </a:lnSpc>
              <a:buNone/>
            </a:pPr>
            <a:r>
              <a:rPr lang="en-US" sz="1500" dirty="0">
                <a:solidFill>
                  <a:srgbClr val="D9E6E4"/>
                </a:solidFill>
                <a:latin typeface="Consolas" pitchFamily="34" charset="0"/>
                <a:cs typeface="Consolas" pitchFamily="34" charset="0"/>
              </a:rPr>
              <a:t>).build()</a:t>
            </a:r>
          </a:p>
        </p:txBody>
      </p:sp>
      <p:sp>
        <p:nvSpPr>
          <p:cNvPr id="9" name="Card"/>
          <p:cNvSpPr/>
          <p:nvPr/>
        </p:nvSpPr>
        <p:spPr>
          <a:xfrm>
            <a:off x="457200" y="5259000"/>
            <a:ext cx="3635822" cy="1041400"/>
          </a:xfrm>
          <a:prstGeom prst="roundRect">
            <a:avLst>
              <a:gd name="adj" fmla="val 4571"/>
            </a:avLst>
          </a:prstGeom>
          <a:solidFill>
            <a:srgbClr val="FFFFFF"/>
          </a:solidFill>
          <a:ln w="22225">
            <a:solidFill>
              <a:srgbClr val="2D6B66"/>
            </a:solidFill>
            <a:prstDash val="solid"/>
          </a:ln>
        </p:spPr>
        <p:txBody>
          <a:bodyPr wrap="square" lIns="0" tIns="0" rIns="0" bIns="0" rtlCol="0" anchor="t"/>
          <a:lstStyle/>
          <a:p>
            <a:endParaRPr lang="en-US" sz="2000"/>
          </a:p>
        </p:txBody>
      </p:sp>
      <p:sp>
        <p:nvSpPr>
          <p:cNvPr id="10" name="Text"/>
          <p:cNvSpPr/>
          <p:nvPr/>
        </p:nvSpPr>
        <p:spPr>
          <a:xfrm>
            <a:off x="609600" y="5360600"/>
            <a:ext cx="3331022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1700" b="1" dirty="0">
                <a:solidFill>
                  <a:srgbClr val="262626"/>
                </a:solidFill>
                <a:latin typeface="Calibri" pitchFamily="34" charset="0"/>
                <a:cs typeface="Calibri" pitchFamily="34" charset="0"/>
              </a:rPr>
              <a:t>Database class</a:t>
            </a:r>
          </a:p>
        </p:txBody>
      </p:sp>
      <p:sp>
        <p:nvSpPr>
          <p:cNvPr id="11" name="Text"/>
          <p:cNvSpPr/>
          <p:nvPr/>
        </p:nvSpPr>
        <p:spPr>
          <a:xfrm>
            <a:off x="609600" y="5716200"/>
            <a:ext cx="3331022" cy="482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500" dirty="0">
                <a:solidFill>
                  <a:srgbClr val="595959"/>
                </a:solidFill>
                <a:latin typeface="Calibri" pitchFamily="34" charset="0"/>
                <a:cs typeface="Calibri" pitchFamily="34" charset="0"/>
              </a:rPr>
              <a:t>Lists entities and exposes DAO interfaces.</a:t>
            </a:r>
          </a:p>
        </p:txBody>
      </p:sp>
      <p:sp>
        <p:nvSpPr>
          <p:cNvPr id="12" name="Card"/>
          <p:cNvSpPr/>
          <p:nvPr/>
        </p:nvSpPr>
        <p:spPr>
          <a:xfrm>
            <a:off x="4278089" y="5259000"/>
            <a:ext cx="3635822" cy="1041400"/>
          </a:xfrm>
          <a:prstGeom prst="roundRect">
            <a:avLst>
              <a:gd name="adj" fmla="val 4571"/>
            </a:avLst>
          </a:prstGeom>
          <a:solidFill>
            <a:srgbClr val="FFFFFF"/>
          </a:solidFill>
          <a:ln w="22225">
            <a:solidFill>
              <a:srgbClr val="2D6B66"/>
            </a:solidFill>
            <a:prstDash val="solid"/>
          </a:ln>
        </p:spPr>
        <p:txBody>
          <a:bodyPr wrap="square" lIns="0" tIns="0" rIns="0" bIns="0" rtlCol="0" anchor="t"/>
          <a:lstStyle/>
          <a:p>
            <a:endParaRPr lang="en-US" sz="2000"/>
          </a:p>
        </p:txBody>
      </p:sp>
      <p:sp>
        <p:nvSpPr>
          <p:cNvPr id="13" name="Text"/>
          <p:cNvSpPr/>
          <p:nvPr/>
        </p:nvSpPr>
        <p:spPr>
          <a:xfrm>
            <a:off x="4430489" y="5360600"/>
            <a:ext cx="3331022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1700" b="1" dirty="0">
                <a:solidFill>
                  <a:srgbClr val="262626"/>
                </a:solidFill>
                <a:latin typeface="Calibri" pitchFamily="34" charset="0"/>
                <a:cs typeface="Calibri" pitchFamily="34" charset="0"/>
              </a:rPr>
              <a:t>Database instance</a:t>
            </a:r>
          </a:p>
        </p:txBody>
      </p:sp>
      <p:sp>
        <p:nvSpPr>
          <p:cNvPr id="14" name="Text"/>
          <p:cNvSpPr/>
          <p:nvPr/>
        </p:nvSpPr>
        <p:spPr>
          <a:xfrm>
            <a:off x="4430489" y="5716200"/>
            <a:ext cx="3331022" cy="482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500" dirty="0">
                <a:solidFill>
                  <a:srgbClr val="595959"/>
                </a:solidFill>
                <a:latin typeface="Calibri" pitchFamily="34" charset="0"/>
                <a:cs typeface="Calibri" pitchFamily="34" charset="0"/>
              </a:rPr>
              <a:t>Room’s builder creates the local database instance.</a:t>
            </a:r>
          </a:p>
        </p:txBody>
      </p:sp>
      <p:sp>
        <p:nvSpPr>
          <p:cNvPr id="15" name="Card"/>
          <p:cNvSpPr/>
          <p:nvPr/>
        </p:nvSpPr>
        <p:spPr>
          <a:xfrm>
            <a:off x="8098978" y="5259000"/>
            <a:ext cx="3635822" cy="1041400"/>
          </a:xfrm>
          <a:prstGeom prst="roundRect">
            <a:avLst>
              <a:gd name="adj" fmla="val 4571"/>
            </a:avLst>
          </a:prstGeom>
          <a:solidFill>
            <a:srgbClr val="FFFFFF"/>
          </a:solidFill>
          <a:ln w="22225">
            <a:solidFill>
              <a:srgbClr val="2D6B66"/>
            </a:solidFill>
            <a:prstDash val="solid"/>
          </a:ln>
        </p:spPr>
        <p:txBody>
          <a:bodyPr wrap="square" lIns="0" tIns="0" rIns="0" bIns="0" rtlCol="0" anchor="t"/>
          <a:lstStyle/>
          <a:p>
            <a:endParaRPr lang="en-US" sz="2000"/>
          </a:p>
        </p:txBody>
      </p:sp>
      <p:sp>
        <p:nvSpPr>
          <p:cNvPr id="16" name="Text"/>
          <p:cNvSpPr/>
          <p:nvPr/>
        </p:nvSpPr>
        <p:spPr>
          <a:xfrm>
            <a:off x="8251378" y="5360600"/>
            <a:ext cx="3331022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1700" b="1" dirty="0">
                <a:solidFill>
                  <a:srgbClr val="262626"/>
                </a:solidFill>
                <a:latin typeface="Calibri" pitchFamily="34" charset="0"/>
                <a:cs typeface="Calibri" pitchFamily="34" charset="0"/>
              </a:rPr>
              <a:t>Versioning</a:t>
            </a:r>
          </a:p>
        </p:txBody>
      </p:sp>
      <p:sp>
        <p:nvSpPr>
          <p:cNvPr id="17" name="Text"/>
          <p:cNvSpPr/>
          <p:nvPr/>
        </p:nvSpPr>
        <p:spPr>
          <a:xfrm>
            <a:off x="8251378" y="5716200"/>
            <a:ext cx="3331022" cy="482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500" dirty="0">
                <a:solidFill>
                  <a:srgbClr val="595959"/>
                </a:solidFill>
                <a:latin typeface="Calibri" pitchFamily="34" charset="0"/>
                <a:cs typeface="Calibri" pitchFamily="34" charset="0"/>
              </a:rPr>
              <a:t>Increase the version when the schema changes and define migrations as required.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r"/>
          <p:cNvSpPr/>
          <p:nvPr/>
        </p:nvSpPr>
        <p:spPr>
          <a:xfrm>
            <a:off x="0" y="0"/>
            <a:ext cx="12184380" cy="109728"/>
          </a:xfrm>
          <a:prstGeom prst="rect">
            <a:avLst/>
          </a:prstGeom>
          <a:solidFill>
            <a:srgbClr val="2D6B66"/>
          </a:solidFill>
          <a:ln/>
        </p:spPr>
        <p:txBody>
          <a:bodyPr wrap="square" lIns="0" tIns="0" rIns="0" bIns="0" rtlCol="0" anchor="t"/>
          <a:lstStyle/>
          <a:p>
            <a:endParaRPr lang="en-US"/>
          </a:p>
        </p:txBody>
      </p:sp>
      <p:sp>
        <p:nvSpPr>
          <p:cNvPr id="3" name="Text"/>
          <p:cNvSpPr/>
          <p:nvPr/>
        </p:nvSpPr>
        <p:spPr>
          <a:xfrm>
            <a:off x="457200" y="237744"/>
            <a:ext cx="10515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spc="200" dirty="0">
                <a:solidFill>
                  <a:srgbClr val="2D6B66"/>
                </a:solidFill>
                <a:latin typeface="Calibri" pitchFamily="34" charset="0"/>
                <a:cs typeface="Calibri" pitchFamily="34" charset="0"/>
              </a:rPr>
              <a:t>MOBILE APPLICATION DEVELOPMENT  ·  DATABASE CONNECTIVITY</a:t>
            </a:r>
          </a:p>
        </p:txBody>
      </p:sp>
      <p:sp>
        <p:nvSpPr>
          <p:cNvPr id="4" name="Text"/>
          <p:cNvSpPr/>
          <p:nvPr/>
        </p:nvSpPr>
        <p:spPr>
          <a:xfrm>
            <a:off x="457200" y="530352"/>
            <a:ext cx="1123950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3300" b="1" dirty="0">
                <a:solidFill>
                  <a:srgbClr val="262626"/>
                </a:solidFill>
                <a:latin typeface="Calibri Light" pitchFamily="34" charset="0"/>
                <a:cs typeface="Calibri Light" pitchFamily="34" charset="0"/>
              </a:rPr>
              <a:t>CRUD Operations Using Room</a:t>
            </a:r>
          </a:p>
        </p:txBody>
      </p:sp>
      <p:sp>
        <p:nvSpPr>
          <p:cNvPr id="5" name="Rule"/>
          <p:cNvSpPr/>
          <p:nvPr/>
        </p:nvSpPr>
        <p:spPr>
          <a:xfrm>
            <a:off x="457200" y="1243584"/>
            <a:ext cx="1005840" cy="0"/>
          </a:xfrm>
          <a:prstGeom prst="line">
            <a:avLst/>
          </a:prstGeom>
          <a:noFill/>
          <a:ln w="31750">
            <a:solidFill>
              <a:srgbClr val="660000"/>
            </a:solidFill>
            <a:prstDash val="solid"/>
          </a:ln>
        </p:spPr>
        <p:txBody>
          <a:bodyPr wrap="square" lIns="0" tIns="0" rIns="0" bIns="0" rtlCol="0" anchor="t"/>
          <a:lstStyle/>
          <a:p>
            <a:endParaRPr lang="en-US"/>
          </a:p>
        </p:txBody>
      </p:sp>
      <p:sp>
        <p:nvSpPr>
          <p:cNvPr id="6" name="Text"/>
          <p:cNvSpPr/>
          <p:nvPr/>
        </p:nvSpPr>
        <p:spPr>
          <a:xfrm>
            <a:off x="8778240" y="6337300"/>
            <a:ext cx="2954020" cy="2921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300" dirty="0">
                <a:solidFill>
                  <a:srgbClr val="595959"/>
                </a:solidFill>
                <a:latin typeface="Calibri" pitchFamily="34" charset="0"/>
                <a:cs typeface="Calibri" pitchFamily="34" charset="0"/>
              </a:rPr>
              <a:t>Mobile Application Development  ·  17 / 34</a:t>
            </a:r>
          </a:p>
        </p:txBody>
      </p:sp>
      <p:sp>
        <p:nvSpPr>
          <p:cNvPr id="7" name="Card"/>
          <p:cNvSpPr/>
          <p:nvPr/>
        </p:nvSpPr>
        <p:spPr>
          <a:xfrm>
            <a:off x="457200" y="1473200"/>
            <a:ext cx="2680599" cy="1701800"/>
          </a:xfrm>
          <a:prstGeom prst="roundRect">
            <a:avLst>
              <a:gd name="adj" fmla="val 4571"/>
            </a:avLst>
          </a:prstGeom>
          <a:solidFill>
            <a:srgbClr val="FFFFFF"/>
          </a:solidFill>
          <a:ln w="22225">
            <a:solidFill>
              <a:srgbClr val="2D6B66"/>
            </a:solidFill>
            <a:prstDash val="solid"/>
          </a:ln>
        </p:spPr>
        <p:txBody>
          <a:bodyPr wrap="square" lIns="0" tIns="0" rIns="0" bIns="0" rtlCol="0" anchor="t"/>
          <a:lstStyle/>
          <a:p>
            <a:endParaRPr lang="en-US" sz="2000"/>
          </a:p>
        </p:txBody>
      </p:sp>
      <p:sp>
        <p:nvSpPr>
          <p:cNvPr id="8" name="Text"/>
          <p:cNvSpPr/>
          <p:nvPr/>
        </p:nvSpPr>
        <p:spPr>
          <a:xfrm>
            <a:off x="660400" y="1651000"/>
            <a:ext cx="2274199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2000" b="1" dirty="0">
                <a:solidFill>
                  <a:srgbClr val="262626"/>
                </a:solidFill>
                <a:latin typeface="Calibri" pitchFamily="34" charset="0"/>
                <a:cs typeface="Calibri" pitchFamily="34" charset="0"/>
              </a:rPr>
              <a:t>Create</a:t>
            </a:r>
          </a:p>
        </p:txBody>
      </p:sp>
      <p:sp>
        <p:nvSpPr>
          <p:cNvPr id="9" name="Text"/>
          <p:cNvSpPr/>
          <p:nvPr/>
        </p:nvSpPr>
        <p:spPr>
          <a:xfrm>
            <a:off x="660400" y="2209800"/>
            <a:ext cx="2274199" cy="812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700" dirty="0">
                <a:solidFill>
                  <a:srgbClr val="595959"/>
                </a:solidFill>
                <a:latin typeface="Calibri" pitchFamily="34" charset="0"/>
                <a:cs typeface="Calibri" pitchFamily="34" charset="0"/>
              </a:rPr>
              <a:t>@Insert</a:t>
            </a:r>
          </a:p>
          <a:p>
            <a:pPr marL="0" indent="0" algn="l">
              <a:lnSpc>
                <a:spcPct val="140000"/>
              </a:lnSpc>
              <a:buNone/>
            </a:pPr>
            <a:r>
              <a:rPr lang="en-US" sz="1700" dirty="0">
                <a:solidFill>
                  <a:srgbClr val="595959"/>
                </a:solidFill>
                <a:latin typeface="Consolas" pitchFamily="34" charset="0"/>
                <a:cs typeface="Consolas" pitchFamily="34" charset="0"/>
              </a:rPr>
              <a:t>insertUser(user)</a:t>
            </a:r>
          </a:p>
        </p:txBody>
      </p:sp>
      <p:sp>
        <p:nvSpPr>
          <p:cNvPr id="10" name="Card"/>
          <p:cNvSpPr/>
          <p:nvPr/>
        </p:nvSpPr>
        <p:spPr>
          <a:xfrm>
            <a:off x="3322866" y="1473200"/>
            <a:ext cx="2680599" cy="1701800"/>
          </a:xfrm>
          <a:prstGeom prst="roundRect">
            <a:avLst>
              <a:gd name="adj" fmla="val 4571"/>
            </a:avLst>
          </a:prstGeom>
          <a:solidFill>
            <a:srgbClr val="FFFFFF"/>
          </a:solidFill>
          <a:ln w="22225">
            <a:solidFill>
              <a:srgbClr val="2D6B66"/>
            </a:solidFill>
            <a:prstDash val="solid"/>
          </a:ln>
        </p:spPr>
        <p:txBody>
          <a:bodyPr wrap="square" lIns="0" tIns="0" rIns="0" bIns="0" rtlCol="0" anchor="t"/>
          <a:lstStyle/>
          <a:p>
            <a:endParaRPr lang="en-US" sz="2000"/>
          </a:p>
        </p:txBody>
      </p:sp>
      <p:sp>
        <p:nvSpPr>
          <p:cNvPr id="11" name="Text"/>
          <p:cNvSpPr/>
          <p:nvPr/>
        </p:nvSpPr>
        <p:spPr>
          <a:xfrm>
            <a:off x="3526066" y="1651000"/>
            <a:ext cx="2274199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2000" b="1" dirty="0">
                <a:solidFill>
                  <a:srgbClr val="262626"/>
                </a:solidFill>
                <a:latin typeface="Calibri" pitchFamily="34" charset="0"/>
                <a:cs typeface="Calibri" pitchFamily="34" charset="0"/>
              </a:rPr>
              <a:t>Read</a:t>
            </a:r>
          </a:p>
        </p:txBody>
      </p:sp>
      <p:sp>
        <p:nvSpPr>
          <p:cNvPr id="12" name="Text"/>
          <p:cNvSpPr/>
          <p:nvPr/>
        </p:nvSpPr>
        <p:spPr>
          <a:xfrm>
            <a:off x="3526066" y="2209800"/>
            <a:ext cx="2274199" cy="812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700" dirty="0">
                <a:solidFill>
                  <a:srgbClr val="595959"/>
                </a:solidFill>
                <a:latin typeface="Calibri" pitchFamily="34" charset="0"/>
                <a:cs typeface="Calibri" pitchFamily="34" charset="0"/>
              </a:rPr>
              <a:t>@Query</a:t>
            </a:r>
          </a:p>
          <a:p>
            <a:pPr marL="0" indent="0" algn="l">
              <a:lnSpc>
                <a:spcPct val="140000"/>
              </a:lnSpc>
              <a:buNone/>
            </a:pPr>
            <a:r>
              <a:rPr lang="en-US" sz="1700" dirty="0">
                <a:solidFill>
                  <a:srgbClr val="595959"/>
                </a:solidFill>
                <a:latin typeface="Consolas" pitchFamily="34" charset="0"/>
                <a:cs typeface="Consolas" pitchFamily="34" charset="0"/>
              </a:rPr>
              <a:t>getAllUsers()</a:t>
            </a:r>
          </a:p>
        </p:txBody>
      </p:sp>
      <p:sp>
        <p:nvSpPr>
          <p:cNvPr id="13" name="Card"/>
          <p:cNvSpPr/>
          <p:nvPr/>
        </p:nvSpPr>
        <p:spPr>
          <a:xfrm>
            <a:off x="6188532" y="1473200"/>
            <a:ext cx="2680599" cy="1701800"/>
          </a:xfrm>
          <a:prstGeom prst="roundRect">
            <a:avLst>
              <a:gd name="adj" fmla="val 4571"/>
            </a:avLst>
          </a:prstGeom>
          <a:solidFill>
            <a:srgbClr val="FFFFFF"/>
          </a:solidFill>
          <a:ln w="22225">
            <a:solidFill>
              <a:srgbClr val="2D6B66"/>
            </a:solidFill>
            <a:prstDash val="solid"/>
          </a:ln>
        </p:spPr>
        <p:txBody>
          <a:bodyPr wrap="square" lIns="0" tIns="0" rIns="0" bIns="0" rtlCol="0" anchor="t"/>
          <a:lstStyle/>
          <a:p>
            <a:endParaRPr lang="en-US" sz="2000"/>
          </a:p>
        </p:txBody>
      </p:sp>
      <p:sp>
        <p:nvSpPr>
          <p:cNvPr id="14" name="Text"/>
          <p:cNvSpPr/>
          <p:nvPr/>
        </p:nvSpPr>
        <p:spPr>
          <a:xfrm>
            <a:off x="6391732" y="1651000"/>
            <a:ext cx="2274199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2000" b="1" dirty="0">
                <a:solidFill>
                  <a:srgbClr val="262626"/>
                </a:solidFill>
                <a:latin typeface="Calibri" pitchFamily="34" charset="0"/>
                <a:cs typeface="Calibri" pitchFamily="34" charset="0"/>
              </a:rPr>
              <a:t>Update</a:t>
            </a:r>
          </a:p>
        </p:txBody>
      </p:sp>
      <p:sp>
        <p:nvSpPr>
          <p:cNvPr id="15" name="Text"/>
          <p:cNvSpPr/>
          <p:nvPr/>
        </p:nvSpPr>
        <p:spPr>
          <a:xfrm>
            <a:off x="6391732" y="2209800"/>
            <a:ext cx="2274199" cy="812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700" dirty="0">
                <a:solidFill>
                  <a:srgbClr val="595959"/>
                </a:solidFill>
                <a:latin typeface="Calibri" pitchFamily="34" charset="0"/>
                <a:cs typeface="Calibri" pitchFamily="34" charset="0"/>
              </a:rPr>
              <a:t>@Update</a:t>
            </a:r>
          </a:p>
          <a:p>
            <a:pPr marL="0" indent="0" algn="l">
              <a:lnSpc>
                <a:spcPct val="140000"/>
              </a:lnSpc>
              <a:buNone/>
            </a:pPr>
            <a:r>
              <a:rPr lang="en-US" sz="1700" dirty="0">
                <a:solidFill>
                  <a:srgbClr val="595959"/>
                </a:solidFill>
                <a:latin typeface="Consolas" pitchFamily="34" charset="0"/>
                <a:cs typeface="Consolas" pitchFamily="34" charset="0"/>
              </a:rPr>
              <a:t>updateUser(user)</a:t>
            </a:r>
          </a:p>
        </p:txBody>
      </p:sp>
      <p:sp>
        <p:nvSpPr>
          <p:cNvPr id="16" name="Card"/>
          <p:cNvSpPr/>
          <p:nvPr/>
        </p:nvSpPr>
        <p:spPr>
          <a:xfrm>
            <a:off x="9054198" y="1473200"/>
            <a:ext cx="2680599" cy="1701800"/>
          </a:xfrm>
          <a:prstGeom prst="roundRect">
            <a:avLst>
              <a:gd name="adj" fmla="val 4571"/>
            </a:avLst>
          </a:prstGeom>
          <a:solidFill>
            <a:srgbClr val="FFFFFF"/>
          </a:solidFill>
          <a:ln w="22225">
            <a:solidFill>
              <a:srgbClr val="2D6B66"/>
            </a:solidFill>
            <a:prstDash val="solid"/>
          </a:ln>
        </p:spPr>
        <p:txBody>
          <a:bodyPr wrap="square" lIns="0" tIns="0" rIns="0" bIns="0" rtlCol="0" anchor="t"/>
          <a:lstStyle/>
          <a:p>
            <a:endParaRPr lang="en-US" sz="2000"/>
          </a:p>
        </p:txBody>
      </p:sp>
      <p:sp>
        <p:nvSpPr>
          <p:cNvPr id="17" name="Text"/>
          <p:cNvSpPr/>
          <p:nvPr/>
        </p:nvSpPr>
        <p:spPr>
          <a:xfrm>
            <a:off x="9257398" y="1651000"/>
            <a:ext cx="2274199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2000" b="1" dirty="0">
                <a:solidFill>
                  <a:srgbClr val="262626"/>
                </a:solidFill>
                <a:latin typeface="Calibri" pitchFamily="34" charset="0"/>
                <a:cs typeface="Calibri" pitchFamily="34" charset="0"/>
              </a:rPr>
              <a:t>Delete</a:t>
            </a:r>
          </a:p>
        </p:txBody>
      </p:sp>
      <p:sp>
        <p:nvSpPr>
          <p:cNvPr id="18" name="Text"/>
          <p:cNvSpPr/>
          <p:nvPr/>
        </p:nvSpPr>
        <p:spPr>
          <a:xfrm>
            <a:off x="9257398" y="2209800"/>
            <a:ext cx="2274199" cy="812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700" dirty="0">
                <a:solidFill>
                  <a:srgbClr val="595959"/>
                </a:solidFill>
                <a:latin typeface="Calibri" pitchFamily="34" charset="0"/>
                <a:cs typeface="Calibri" pitchFamily="34" charset="0"/>
              </a:rPr>
              <a:t>@Delete</a:t>
            </a:r>
          </a:p>
          <a:p>
            <a:pPr marL="0" indent="0" algn="l">
              <a:lnSpc>
                <a:spcPct val="140000"/>
              </a:lnSpc>
              <a:buNone/>
            </a:pPr>
            <a:r>
              <a:rPr lang="en-US" sz="1700" dirty="0">
                <a:solidFill>
                  <a:srgbClr val="595959"/>
                </a:solidFill>
                <a:latin typeface="Consolas" pitchFamily="34" charset="0"/>
                <a:cs typeface="Consolas" pitchFamily="34" charset="0"/>
              </a:rPr>
              <a:t>deleteUser(user)</a:t>
            </a:r>
          </a:p>
        </p:txBody>
      </p:sp>
      <p:sp>
        <p:nvSpPr>
          <p:cNvPr id="19" name="CodePanel"/>
          <p:cNvSpPr/>
          <p:nvPr/>
        </p:nvSpPr>
        <p:spPr>
          <a:xfrm>
            <a:off x="457200" y="3352800"/>
            <a:ext cx="11277600" cy="1779200"/>
          </a:xfrm>
          <a:prstGeom prst="roundRect">
            <a:avLst>
              <a:gd name="adj" fmla="val 4571"/>
            </a:avLst>
          </a:prstGeom>
          <a:solidFill>
            <a:srgbClr val="1E2B2A"/>
          </a:solidFill>
          <a:ln/>
        </p:spPr>
        <p:txBody>
          <a:bodyPr wrap="square" lIns="0" tIns="0" rIns="0" bIns="0" rtlCol="0" anchor="t"/>
          <a:lstStyle/>
          <a:p>
            <a:endParaRPr lang="en-US" sz="2000"/>
          </a:p>
        </p:txBody>
      </p:sp>
      <p:sp>
        <p:nvSpPr>
          <p:cNvPr id="20" name="Text"/>
          <p:cNvSpPr/>
          <p:nvPr/>
        </p:nvSpPr>
        <p:spPr>
          <a:xfrm>
            <a:off x="736600" y="3505200"/>
            <a:ext cx="10718800" cy="147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35000"/>
              </a:lnSpc>
              <a:buNone/>
            </a:pPr>
            <a:r>
              <a:rPr lang="en-US" sz="1500" dirty="0">
                <a:solidFill>
                  <a:srgbClr val="D9E6E4"/>
                </a:solidFill>
                <a:latin typeface="Consolas" pitchFamily="34" charset="0"/>
                <a:cs typeface="Consolas" pitchFamily="34" charset="0"/>
              </a:rPr>
              <a:t>lifecycleScope.launch {</a:t>
            </a:r>
          </a:p>
          <a:p>
            <a:pPr marL="0" indent="0" algn="l">
              <a:lnSpc>
                <a:spcPct val="135000"/>
              </a:lnSpc>
              <a:buNone/>
            </a:pPr>
            <a:r>
              <a:rPr lang="en-US" sz="1500" dirty="0">
                <a:solidFill>
                  <a:srgbClr val="D9E6E4"/>
                </a:solidFill>
                <a:latin typeface="Consolas" pitchFamily="34" charset="0"/>
                <a:cs typeface="Consolas" pitchFamily="34" charset="0"/>
              </a:rPr>
              <a:t>    db.userDao().insertUser(User(username, email, password))</a:t>
            </a:r>
          </a:p>
          <a:p>
            <a:pPr marL="0" indent="0" algn="l">
              <a:lnSpc>
                <a:spcPct val="135000"/>
              </a:lnSpc>
              <a:buNone/>
            </a:pPr>
            <a:r>
              <a:rPr lang="en-US" sz="1500" dirty="0">
                <a:solidFill>
                  <a:srgbClr val="D9E6E4"/>
                </a:solidFill>
                <a:latin typeface="Consolas" pitchFamily="34" charset="0"/>
                <a:cs typeface="Consolas" pitchFamily="34" charset="0"/>
              </a:rPr>
              <a:t>    val users = db.userDao().getAllUsers()</a:t>
            </a:r>
          </a:p>
          <a:p>
            <a:pPr marL="0" indent="0" algn="l">
              <a:lnSpc>
                <a:spcPct val="135000"/>
              </a:lnSpc>
              <a:buNone/>
            </a:pPr>
            <a:r>
              <a:rPr lang="en-US" sz="1500" dirty="0">
                <a:solidFill>
                  <a:srgbClr val="D9E6E4"/>
                </a:solidFill>
                <a:latin typeface="Consolas" pitchFamily="34" charset="0"/>
                <a:cs typeface="Consolas" pitchFamily="34" charset="0"/>
              </a:rPr>
              <a:t>}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r"/>
          <p:cNvSpPr/>
          <p:nvPr/>
        </p:nvSpPr>
        <p:spPr>
          <a:xfrm>
            <a:off x="0" y="0"/>
            <a:ext cx="12184380" cy="109728"/>
          </a:xfrm>
          <a:prstGeom prst="rect">
            <a:avLst/>
          </a:prstGeom>
          <a:solidFill>
            <a:srgbClr val="2D6B66"/>
          </a:solidFill>
          <a:ln/>
        </p:spPr>
        <p:txBody>
          <a:bodyPr wrap="square" lIns="0" tIns="0" rIns="0" bIns="0" rtlCol="0" anchor="t"/>
          <a:lstStyle/>
          <a:p>
            <a:endParaRPr lang="en-US"/>
          </a:p>
        </p:txBody>
      </p:sp>
      <p:sp>
        <p:nvSpPr>
          <p:cNvPr id="3" name="Text"/>
          <p:cNvSpPr/>
          <p:nvPr/>
        </p:nvSpPr>
        <p:spPr>
          <a:xfrm>
            <a:off x="457200" y="237744"/>
            <a:ext cx="10515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spc="200" dirty="0">
                <a:solidFill>
                  <a:srgbClr val="2D6B66"/>
                </a:solidFill>
                <a:latin typeface="Calibri" pitchFamily="34" charset="0"/>
                <a:cs typeface="Calibri" pitchFamily="34" charset="0"/>
              </a:rPr>
              <a:t>MOBILE APPLICATION DEVELOPMENT  ·  DATABASE CONNECTIVITY</a:t>
            </a:r>
          </a:p>
        </p:txBody>
      </p:sp>
      <p:sp>
        <p:nvSpPr>
          <p:cNvPr id="4" name="Text"/>
          <p:cNvSpPr/>
          <p:nvPr/>
        </p:nvSpPr>
        <p:spPr>
          <a:xfrm>
            <a:off x="457200" y="530352"/>
            <a:ext cx="1123950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3300" b="1" dirty="0">
                <a:solidFill>
                  <a:srgbClr val="262626"/>
                </a:solidFill>
                <a:latin typeface="Calibri Light" pitchFamily="34" charset="0"/>
                <a:cs typeface="Calibri Light" pitchFamily="34" charset="0"/>
              </a:rPr>
              <a:t>SQLite vs Room</a:t>
            </a:r>
          </a:p>
        </p:txBody>
      </p:sp>
      <p:sp>
        <p:nvSpPr>
          <p:cNvPr id="5" name="Rule"/>
          <p:cNvSpPr/>
          <p:nvPr/>
        </p:nvSpPr>
        <p:spPr>
          <a:xfrm>
            <a:off x="457200" y="1243584"/>
            <a:ext cx="1005840" cy="0"/>
          </a:xfrm>
          <a:prstGeom prst="line">
            <a:avLst/>
          </a:prstGeom>
          <a:noFill/>
          <a:ln w="31750">
            <a:solidFill>
              <a:srgbClr val="660000"/>
            </a:solidFill>
            <a:prstDash val="solid"/>
          </a:ln>
        </p:spPr>
        <p:txBody>
          <a:bodyPr wrap="square" lIns="0" tIns="0" rIns="0" bIns="0" rtlCol="0" anchor="t"/>
          <a:lstStyle/>
          <a:p>
            <a:endParaRPr lang="en-US"/>
          </a:p>
        </p:txBody>
      </p:sp>
      <p:sp>
        <p:nvSpPr>
          <p:cNvPr id="6" name="Text"/>
          <p:cNvSpPr/>
          <p:nvPr/>
        </p:nvSpPr>
        <p:spPr>
          <a:xfrm>
            <a:off x="8778240" y="6337300"/>
            <a:ext cx="2954020" cy="2921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300" dirty="0">
                <a:solidFill>
                  <a:srgbClr val="595959"/>
                </a:solidFill>
                <a:latin typeface="Calibri" pitchFamily="34" charset="0"/>
                <a:cs typeface="Calibri" pitchFamily="34" charset="0"/>
              </a:rPr>
              <a:t>Mobile Application Development  ·  18 / 34</a:t>
            </a:r>
          </a:p>
        </p:txBody>
      </p:sp>
      <p:sp>
        <p:nvSpPr>
          <p:cNvPr id="7" name="Card"/>
          <p:cNvSpPr/>
          <p:nvPr/>
        </p:nvSpPr>
        <p:spPr>
          <a:xfrm>
            <a:off x="457200" y="1473200"/>
            <a:ext cx="5546266" cy="3200400"/>
          </a:xfrm>
          <a:prstGeom prst="roundRect">
            <a:avLst>
              <a:gd name="adj" fmla="val 4571"/>
            </a:avLst>
          </a:prstGeom>
          <a:solidFill>
            <a:srgbClr val="FFFFFF"/>
          </a:solidFill>
          <a:ln w="22225">
            <a:solidFill>
              <a:srgbClr val="2D6B66"/>
            </a:solidFill>
            <a:prstDash val="solid"/>
          </a:ln>
        </p:spPr>
        <p:txBody>
          <a:bodyPr wrap="square" lIns="0" tIns="0" rIns="0" bIns="0" rtlCol="0" anchor="t"/>
          <a:lstStyle/>
          <a:p>
            <a:endParaRPr lang="en-US" sz="2000"/>
          </a:p>
        </p:txBody>
      </p:sp>
      <p:sp>
        <p:nvSpPr>
          <p:cNvPr id="8" name="Text"/>
          <p:cNvSpPr/>
          <p:nvPr/>
        </p:nvSpPr>
        <p:spPr>
          <a:xfrm>
            <a:off x="660400" y="1651000"/>
            <a:ext cx="5139866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2000" b="1" dirty="0">
                <a:solidFill>
                  <a:srgbClr val="262626"/>
                </a:solidFill>
                <a:latin typeface="Calibri" pitchFamily="34" charset="0"/>
                <a:cs typeface="Calibri" pitchFamily="34" charset="0"/>
              </a:rPr>
              <a:t>Raw SQLite</a:t>
            </a:r>
          </a:p>
        </p:txBody>
      </p:sp>
      <p:sp>
        <p:nvSpPr>
          <p:cNvPr id="9" name="Text"/>
          <p:cNvSpPr/>
          <p:nvPr/>
        </p:nvSpPr>
        <p:spPr>
          <a:xfrm>
            <a:off x="660400" y="2209800"/>
            <a:ext cx="5139866" cy="2311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1800" dirty="0">
                <a:solidFill>
                  <a:srgbClr val="595959"/>
                </a:solidFill>
                <a:latin typeface="Calibri" pitchFamily="34" charset="0"/>
                <a:cs typeface="Calibri" pitchFamily="34" charset="0"/>
              </a:rPr>
              <a:t>Direct database APIs.</a:t>
            </a:r>
          </a:p>
          <a:p>
            <a:pPr marL="0" indent="0" algn="l">
              <a:lnSpc>
                <a:spcPct val="145000"/>
              </a:lnSpc>
              <a:buNone/>
            </a:pPr>
            <a:r>
              <a:rPr lang="en-US" sz="1800" dirty="0">
                <a:solidFill>
                  <a:srgbClr val="595959"/>
                </a:solidFill>
                <a:latin typeface="Calibri" pitchFamily="34" charset="0"/>
                <a:cs typeface="Calibri" pitchFamily="34" charset="0"/>
              </a:rPr>
              <a:t>Manual SQL + Cursor handling.</a:t>
            </a:r>
          </a:p>
          <a:p>
            <a:pPr marL="0" indent="0" algn="l">
              <a:lnSpc>
                <a:spcPct val="145000"/>
              </a:lnSpc>
              <a:buNone/>
            </a:pPr>
            <a:r>
              <a:rPr lang="en-US" sz="1800" dirty="0">
                <a:solidFill>
                  <a:srgbClr val="595959"/>
                </a:solidFill>
                <a:latin typeface="Calibri" pitchFamily="34" charset="0"/>
                <a:cs typeface="Calibri" pitchFamily="34" charset="0"/>
              </a:rPr>
              <a:t>More boilerplate.</a:t>
            </a:r>
          </a:p>
          <a:p>
            <a:pPr marL="0" indent="0" algn="l">
              <a:lnSpc>
                <a:spcPct val="145000"/>
              </a:lnSpc>
              <a:buNone/>
            </a:pPr>
            <a:r>
              <a:rPr lang="en-US" sz="1800" dirty="0">
                <a:solidFill>
                  <a:srgbClr val="595959"/>
                </a:solidFill>
                <a:latin typeface="Calibri" pitchFamily="34" charset="0"/>
                <a:cs typeface="Calibri" pitchFamily="34" charset="0"/>
              </a:rPr>
              <a:t>Useful for understanding fundamentals.</a:t>
            </a:r>
          </a:p>
        </p:txBody>
      </p:sp>
      <p:sp>
        <p:nvSpPr>
          <p:cNvPr id="10" name="Card"/>
          <p:cNvSpPr/>
          <p:nvPr/>
        </p:nvSpPr>
        <p:spPr>
          <a:xfrm>
            <a:off x="6188533" y="1473200"/>
            <a:ext cx="5546266" cy="3200400"/>
          </a:xfrm>
          <a:prstGeom prst="roundRect">
            <a:avLst>
              <a:gd name="adj" fmla="val 4571"/>
            </a:avLst>
          </a:prstGeom>
          <a:solidFill>
            <a:srgbClr val="FFFFFF"/>
          </a:solidFill>
          <a:ln w="22225">
            <a:solidFill>
              <a:srgbClr val="2D6B66"/>
            </a:solidFill>
            <a:prstDash val="solid"/>
          </a:ln>
        </p:spPr>
        <p:txBody>
          <a:bodyPr wrap="square" lIns="0" tIns="0" rIns="0" bIns="0" rtlCol="0" anchor="t"/>
          <a:lstStyle/>
          <a:p>
            <a:endParaRPr lang="en-US" sz="2000"/>
          </a:p>
        </p:txBody>
      </p:sp>
      <p:sp>
        <p:nvSpPr>
          <p:cNvPr id="11" name="Text"/>
          <p:cNvSpPr/>
          <p:nvPr/>
        </p:nvSpPr>
        <p:spPr>
          <a:xfrm>
            <a:off x="6391733" y="1651000"/>
            <a:ext cx="5139866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2000" b="1" dirty="0">
                <a:solidFill>
                  <a:srgbClr val="262626"/>
                </a:solidFill>
                <a:latin typeface="Calibri" pitchFamily="34" charset="0"/>
                <a:cs typeface="Calibri" pitchFamily="34" charset="0"/>
              </a:rPr>
              <a:t>Room</a:t>
            </a:r>
          </a:p>
        </p:txBody>
      </p:sp>
      <p:sp>
        <p:nvSpPr>
          <p:cNvPr id="12" name="Text"/>
          <p:cNvSpPr/>
          <p:nvPr/>
        </p:nvSpPr>
        <p:spPr>
          <a:xfrm>
            <a:off x="6391733" y="2209800"/>
            <a:ext cx="5139866" cy="2311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1800" dirty="0">
                <a:solidFill>
                  <a:srgbClr val="595959"/>
                </a:solidFill>
                <a:latin typeface="Calibri" pitchFamily="34" charset="0"/>
                <a:cs typeface="Calibri" pitchFamily="34" charset="0"/>
              </a:rPr>
              <a:t>SQLite abstraction.</a:t>
            </a:r>
          </a:p>
          <a:p>
            <a:pPr marL="0" indent="0" algn="l">
              <a:lnSpc>
                <a:spcPct val="145000"/>
              </a:lnSpc>
              <a:buNone/>
            </a:pPr>
            <a:r>
              <a:rPr lang="en-US" sz="1800" dirty="0">
                <a:solidFill>
                  <a:srgbClr val="595959"/>
                </a:solidFill>
                <a:latin typeface="Calibri" pitchFamily="34" charset="0"/>
                <a:cs typeface="Calibri" pitchFamily="34" charset="0"/>
              </a:rPr>
              <a:t>Entity + DAO + Database.</a:t>
            </a:r>
          </a:p>
          <a:p>
            <a:pPr marL="0" indent="0" algn="l">
              <a:lnSpc>
                <a:spcPct val="145000"/>
              </a:lnSpc>
              <a:buNone/>
            </a:pPr>
            <a:r>
              <a:rPr lang="en-US" sz="1800" dirty="0">
                <a:solidFill>
                  <a:srgbClr val="595959"/>
                </a:solidFill>
                <a:latin typeface="Calibri" pitchFamily="34" charset="0"/>
                <a:cs typeface="Calibri" pitchFamily="34" charset="0"/>
              </a:rPr>
              <a:t>Compile-time query validation.</a:t>
            </a:r>
          </a:p>
          <a:p>
            <a:pPr marL="0" indent="0" algn="l">
              <a:lnSpc>
                <a:spcPct val="145000"/>
              </a:lnSpc>
              <a:buNone/>
            </a:pPr>
            <a:r>
              <a:rPr lang="en-US" sz="1800" dirty="0">
                <a:solidFill>
                  <a:srgbClr val="595959"/>
                </a:solidFill>
                <a:latin typeface="Calibri" pitchFamily="34" charset="0"/>
                <a:cs typeface="Calibri" pitchFamily="34" charset="0"/>
              </a:rPr>
              <a:t>Cleaner and easier to maintain.</a:t>
            </a:r>
          </a:p>
        </p:txBody>
      </p:sp>
      <p:sp>
        <p:nvSpPr>
          <p:cNvPr id="13" name="Text"/>
          <p:cNvSpPr/>
          <p:nvPr/>
        </p:nvSpPr>
        <p:spPr>
          <a:xfrm>
            <a:off x="457200" y="4851400"/>
            <a:ext cx="11277600" cy="431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2000" b="1" dirty="0">
                <a:solidFill>
                  <a:srgbClr val="2D6B66"/>
                </a:solidFill>
                <a:latin typeface="Calibri" pitchFamily="34" charset="0"/>
                <a:cs typeface="Calibri" pitchFamily="34" charset="0"/>
              </a:rPr>
              <a:t>Key idea: Room still uses SQLite locally; it improves how the application interacts with it.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r"/>
          <p:cNvSpPr/>
          <p:nvPr/>
        </p:nvSpPr>
        <p:spPr>
          <a:xfrm>
            <a:off x="0" y="0"/>
            <a:ext cx="12184380" cy="109728"/>
          </a:xfrm>
          <a:prstGeom prst="rect">
            <a:avLst/>
          </a:prstGeom>
          <a:solidFill>
            <a:srgbClr val="2D6B66"/>
          </a:solidFill>
          <a:ln/>
        </p:spPr>
        <p:txBody>
          <a:bodyPr wrap="square" lIns="0" tIns="0" rIns="0" bIns="0" rtlCol="0" anchor="t"/>
          <a:lstStyle/>
          <a:p>
            <a:endParaRPr lang="en-US"/>
          </a:p>
        </p:txBody>
      </p:sp>
      <p:sp>
        <p:nvSpPr>
          <p:cNvPr id="3" name="Text"/>
          <p:cNvSpPr/>
          <p:nvPr/>
        </p:nvSpPr>
        <p:spPr>
          <a:xfrm>
            <a:off x="457200" y="237744"/>
            <a:ext cx="10515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spc="200" dirty="0">
                <a:solidFill>
                  <a:srgbClr val="2D6B66"/>
                </a:solidFill>
                <a:latin typeface="Calibri" pitchFamily="34" charset="0"/>
                <a:cs typeface="Calibri" pitchFamily="34" charset="0"/>
              </a:rPr>
              <a:t>MOBILE APPLICATION DEVELOPMENT  ·  DATABASE CONNECTIVITY</a:t>
            </a:r>
          </a:p>
        </p:txBody>
      </p:sp>
      <p:sp>
        <p:nvSpPr>
          <p:cNvPr id="4" name="Text"/>
          <p:cNvSpPr/>
          <p:nvPr/>
        </p:nvSpPr>
        <p:spPr>
          <a:xfrm>
            <a:off x="457200" y="530352"/>
            <a:ext cx="1123950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3300" b="1" dirty="0">
                <a:solidFill>
                  <a:srgbClr val="262626"/>
                </a:solidFill>
                <a:latin typeface="Calibri Light" pitchFamily="34" charset="0"/>
                <a:cs typeface="Calibri Light" pitchFamily="34" charset="0"/>
              </a:rPr>
              <a:t>Why Use a Cloud Database?</a:t>
            </a:r>
          </a:p>
        </p:txBody>
      </p:sp>
      <p:sp>
        <p:nvSpPr>
          <p:cNvPr id="5" name="Rule"/>
          <p:cNvSpPr/>
          <p:nvPr/>
        </p:nvSpPr>
        <p:spPr>
          <a:xfrm>
            <a:off x="457200" y="1243584"/>
            <a:ext cx="1005840" cy="0"/>
          </a:xfrm>
          <a:prstGeom prst="line">
            <a:avLst/>
          </a:prstGeom>
          <a:noFill/>
          <a:ln w="31750">
            <a:solidFill>
              <a:srgbClr val="660000"/>
            </a:solidFill>
            <a:prstDash val="solid"/>
          </a:ln>
        </p:spPr>
        <p:txBody>
          <a:bodyPr wrap="square" lIns="0" tIns="0" rIns="0" bIns="0" rtlCol="0" anchor="t"/>
          <a:lstStyle/>
          <a:p>
            <a:endParaRPr lang="en-US"/>
          </a:p>
        </p:txBody>
      </p:sp>
      <p:sp>
        <p:nvSpPr>
          <p:cNvPr id="6" name="Text"/>
          <p:cNvSpPr/>
          <p:nvPr/>
        </p:nvSpPr>
        <p:spPr>
          <a:xfrm>
            <a:off x="8778240" y="6337300"/>
            <a:ext cx="2954020" cy="2921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300" dirty="0">
                <a:solidFill>
                  <a:srgbClr val="595959"/>
                </a:solidFill>
                <a:latin typeface="Calibri" pitchFamily="34" charset="0"/>
                <a:cs typeface="Calibri" pitchFamily="34" charset="0"/>
              </a:rPr>
              <a:t>Mobile Application Development  ·  19 / 34</a:t>
            </a:r>
          </a:p>
        </p:txBody>
      </p:sp>
      <p:sp>
        <p:nvSpPr>
          <p:cNvPr id="7" name="Dot"/>
          <p:cNvSpPr/>
          <p:nvPr/>
        </p:nvSpPr>
        <p:spPr>
          <a:xfrm>
            <a:off x="482600" y="1600200"/>
            <a:ext cx="127000" cy="127000"/>
          </a:xfrm>
          <a:prstGeom prst="ellipse">
            <a:avLst/>
          </a:prstGeom>
          <a:solidFill>
            <a:srgbClr val="2D6B6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"/>
          <p:cNvSpPr/>
          <p:nvPr/>
        </p:nvSpPr>
        <p:spPr>
          <a:xfrm>
            <a:off x="838200" y="1473200"/>
            <a:ext cx="10871200" cy="660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2000" dirty="0">
                <a:solidFill>
                  <a:srgbClr val="262626"/>
                </a:solidFill>
                <a:latin typeface="Calibri" pitchFamily="34" charset="0"/>
                <a:cs typeface="Calibri" pitchFamily="34" charset="0"/>
              </a:rPr>
              <a:t>Local databases are tied to a particular device.</a:t>
            </a:r>
          </a:p>
        </p:txBody>
      </p:sp>
      <p:sp>
        <p:nvSpPr>
          <p:cNvPr id="9" name="Dot"/>
          <p:cNvSpPr/>
          <p:nvPr/>
        </p:nvSpPr>
        <p:spPr>
          <a:xfrm>
            <a:off x="482600" y="2260600"/>
            <a:ext cx="127000" cy="127000"/>
          </a:xfrm>
          <a:prstGeom prst="ellipse">
            <a:avLst/>
          </a:prstGeom>
          <a:solidFill>
            <a:srgbClr val="2D6B6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"/>
          <p:cNvSpPr/>
          <p:nvPr/>
        </p:nvSpPr>
        <p:spPr>
          <a:xfrm>
            <a:off x="838200" y="2133600"/>
            <a:ext cx="10871200" cy="660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2000" dirty="0">
                <a:solidFill>
                  <a:srgbClr val="262626"/>
                </a:solidFill>
                <a:latin typeface="Calibri" pitchFamily="34" charset="0"/>
                <a:cs typeface="Calibri" pitchFamily="34" charset="0"/>
              </a:rPr>
              <a:t>A cloud database can provide a shared source of data for multiple users and devices.</a:t>
            </a:r>
          </a:p>
        </p:txBody>
      </p:sp>
      <p:sp>
        <p:nvSpPr>
          <p:cNvPr id="11" name="Dot"/>
          <p:cNvSpPr/>
          <p:nvPr/>
        </p:nvSpPr>
        <p:spPr>
          <a:xfrm>
            <a:off x="482600" y="2921000"/>
            <a:ext cx="127000" cy="127000"/>
          </a:xfrm>
          <a:prstGeom prst="ellipse">
            <a:avLst/>
          </a:prstGeom>
          <a:solidFill>
            <a:srgbClr val="2D6B6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Text"/>
          <p:cNvSpPr/>
          <p:nvPr/>
        </p:nvSpPr>
        <p:spPr>
          <a:xfrm>
            <a:off x="838200" y="2794000"/>
            <a:ext cx="10871200" cy="660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2000" dirty="0">
                <a:solidFill>
                  <a:srgbClr val="262626"/>
                </a:solidFill>
                <a:latin typeface="Calibri" pitchFamily="34" charset="0"/>
                <a:cs typeface="Calibri" pitchFamily="34" charset="0"/>
              </a:rPr>
              <a:t>Cloud services can support real-time updates, centralized access, authentication integration, and scalable backend capabilities.</a:t>
            </a:r>
          </a:p>
        </p:txBody>
      </p:sp>
      <p:sp>
        <p:nvSpPr>
          <p:cNvPr id="13" name="Dot"/>
          <p:cNvSpPr/>
          <p:nvPr/>
        </p:nvSpPr>
        <p:spPr>
          <a:xfrm>
            <a:off x="482600" y="3581400"/>
            <a:ext cx="127000" cy="127000"/>
          </a:xfrm>
          <a:prstGeom prst="ellipse">
            <a:avLst/>
          </a:prstGeom>
          <a:solidFill>
            <a:srgbClr val="2D6B6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Text"/>
          <p:cNvSpPr/>
          <p:nvPr/>
        </p:nvSpPr>
        <p:spPr>
          <a:xfrm>
            <a:off x="838200" y="3454400"/>
            <a:ext cx="10871200" cy="660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2000" dirty="0">
                <a:solidFill>
                  <a:srgbClr val="262626"/>
                </a:solidFill>
                <a:latin typeface="Calibri" pitchFamily="34" charset="0"/>
                <a:cs typeface="Calibri" pitchFamily="34" charset="0"/>
              </a:rPr>
              <a:t>Applications must account for network availability, latency, security rules, and synchronization.</a:t>
            </a:r>
          </a:p>
        </p:txBody>
      </p:sp>
      <p:sp>
        <p:nvSpPr>
          <p:cNvPr id="15" name="Text"/>
          <p:cNvSpPr/>
          <p:nvPr/>
        </p:nvSpPr>
        <p:spPr>
          <a:xfrm>
            <a:off x="457200" y="4267200"/>
            <a:ext cx="11277600" cy="431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2000" b="1" dirty="0">
                <a:solidFill>
                  <a:srgbClr val="2D6B66"/>
                </a:solidFill>
                <a:latin typeface="Calibri" pitchFamily="34" charset="0"/>
                <a:cs typeface="Calibri" pitchFamily="34" charset="0"/>
              </a:rPr>
              <a:t>Example: a student directory stored in the cloud can be accessed from a student’s phone, tablet, or another authorized device.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r"/>
          <p:cNvSpPr/>
          <p:nvPr/>
        </p:nvSpPr>
        <p:spPr>
          <a:xfrm>
            <a:off x="0" y="0"/>
            <a:ext cx="12184380" cy="109728"/>
          </a:xfrm>
          <a:prstGeom prst="rect">
            <a:avLst/>
          </a:prstGeom>
          <a:solidFill>
            <a:srgbClr val="2D6B66"/>
          </a:solidFill>
          <a:ln/>
        </p:spPr>
        <p:txBody>
          <a:bodyPr wrap="square" lIns="0" tIns="0" rIns="0" bIns="0" rtlCol="0" anchor="t"/>
          <a:lstStyle/>
          <a:p>
            <a:endParaRPr lang="en-US"/>
          </a:p>
        </p:txBody>
      </p:sp>
      <p:sp>
        <p:nvSpPr>
          <p:cNvPr id="3" name="Text"/>
          <p:cNvSpPr/>
          <p:nvPr/>
        </p:nvSpPr>
        <p:spPr>
          <a:xfrm>
            <a:off x="457200" y="237744"/>
            <a:ext cx="10515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spc="200" dirty="0">
                <a:solidFill>
                  <a:srgbClr val="2D6B66"/>
                </a:solidFill>
                <a:latin typeface="Calibri" pitchFamily="34" charset="0"/>
                <a:cs typeface="Calibri" pitchFamily="34" charset="0"/>
              </a:rPr>
              <a:t>MOBILE APPLICATION DEVELOPMENT  ·  DATABASE CONNECTIVITY</a:t>
            </a:r>
          </a:p>
        </p:txBody>
      </p:sp>
      <p:sp>
        <p:nvSpPr>
          <p:cNvPr id="4" name="Text"/>
          <p:cNvSpPr/>
          <p:nvPr/>
        </p:nvSpPr>
        <p:spPr>
          <a:xfrm>
            <a:off x="457200" y="530352"/>
            <a:ext cx="1123950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3300" b="1" dirty="0">
                <a:solidFill>
                  <a:srgbClr val="262626"/>
                </a:solidFill>
                <a:latin typeface="Calibri Light" pitchFamily="34" charset="0"/>
                <a:cs typeface="Calibri Light" pitchFamily="34" charset="0"/>
              </a:rPr>
              <a:t>Firebase: Cloud Data Options</a:t>
            </a:r>
          </a:p>
        </p:txBody>
      </p:sp>
      <p:sp>
        <p:nvSpPr>
          <p:cNvPr id="5" name="Rule"/>
          <p:cNvSpPr/>
          <p:nvPr/>
        </p:nvSpPr>
        <p:spPr>
          <a:xfrm>
            <a:off x="457200" y="1243584"/>
            <a:ext cx="1005840" cy="0"/>
          </a:xfrm>
          <a:prstGeom prst="line">
            <a:avLst/>
          </a:prstGeom>
          <a:noFill/>
          <a:ln w="31750">
            <a:solidFill>
              <a:srgbClr val="660000"/>
            </a:solidFill>
            <a:prstDash val="solid"/>
          </a:ln>
        </p:spPr>
        <p:txBody>
          <a:bodyPr wrap="square" lIns="0" tIns="0" rIns="0" bIns="0" rtlCol="0" anchor="t"/>
          <a:lstStyle/>
          <a:p>
            <a:endParaRPr lang="en-US"/>
          </a:p>
        </p:txBody>
      </p:sp>
      <p:sp>
        <p:nvSpPr>
          <p:cNvPr id="6" name="Text"/>
          <p:cNvSpPr/>
          <p:nvPr/>
        </p:nvSpPr>
        <p:spPr>
          <a:xfrm>
            <a:off x="8778240" y="6337300"/>
            <a:ext cx="2954020" cy="2921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300" dirty="0">
                <a:solidFill>
                  <a:srgbClr val="595959"/>
                </a:solidFill>
                <a:latin typeface="Calibri" pitchFamily="34" charset="0"/>
                <a:cs typeface="Calibri" pitchFamily="34" charset="0"/>
              </a:rPr>
              <a:t>Mobile Application Development  ·  20 / 34</a:t>
            </a:r>
          </a:p>
        </p:txBody>
      </p:sp>
      <p:sp>
        <p:nvSpPr>
          <p:cNvPr id="7" name="Card"/>
          <p:cNvSpPr/>
          <p:nvPr/>
        </p:nvSpPr>
        <p:spPr>
          <a:xfrm>
            <a:off x="457200" y="1473200"/>
            <a:ext cx="5546266" cy="2794000"/>
          </a:xfrm>
          <a:prstGeom prst="roundRect">
            <a:avLst>
              <a:gd name="adj" fmla="val 4571"/>
            </a:avLst>
          </a:prstGeom>
          <a:solidFill>
            <a:srgbClr val="FFFFFF"/>
          </a:solidFill>
          <a:ln w="22225">
            <a:solidFill>
              <a:srgbClr val="2D6B66"/>
            </a:solidFill>
            <a:prstDash val="solid"/>
          </a:ln>
        </p:spPr>
        <p:txBody>
          <a:bodyPr wrap="square" lIns="0" tIns="0" rIns="0" bIns="0" rtlCol="0" anchor="t"/>
          <a:lstStyle/>
          <a:p>
            <a:endParaRPr lang="en-US" sz="2000"/>
          </a:p>
        </p:txBody>
      </p:sp>
      <p:sp>
        <p:nvSpPr>
          <p:cNvPr id="8" name="Text"/>
          <p:cNvSpPr/>
          <p:nvPr/>
        </p:nvSpPr>
        <p:spPr>
          <a:xfrm>
            <a:off x="660400" y="1651000"/>
            <a:ext cx="5139866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2000" b="1" dirty="0">
                <a:solidFill>
                  <a:srgbClr val="262626"/>
                </a:solidFill>
                <a:latin typeface="Calibri" pitchFamily="34" charset="0"/>
                <a:cs typeface="Calibri" pitchFamily="34" charset="0"/>
              </a:rPr>
              <a:t>Cloud Firestore</a:t>
            </a:r>
          </a:p>
        </p:txBody>
      </p:sp>
      <p:sp>
        <p:nvSpPr>
          <p:cNvPr id="9" name="Text"/>
          <p:cNvSpPr/>
          <p:nvPr/>
        </p:nvSpPr>
        <p:spPr>
          <a:xfrm>
            <a:off x="660400" y="2209800"/>
            <a:ext cx="5139866" cy="1905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1800" dirty="0">
                <a:solidFill>
                  <a:srgbClr val="595959"/>
                </a:solidFill>
                <a:latin typeface="Calibri" pitchFamily="34" charset="0"/>
                <a:cs typeface="Calibri" pitchFamily="34" charset="0"/>
              </a:rPr>
              <a:t>Document-oriented NoSQL database.</a:t>
            </a:r>
          </a:p>
          <a:p>
            <a:pPr marL="0" indent="0" algn="l">
              <a:lnSpc>
                <a:spcPct val="145000"/>
              </a:lnSpc>
              <a:buNone/>
            </a:pPr>
            <a:r>
              <a:rPr lang="en-US" sz="1800" dirty="0">
                <a:solidFill>
                  <a:srgbClr val="595959"/>
                </a:solidFill>
                <a:latin typeface="Calibri" pitchFamily="34" charset="0"/>
                <a:cs typeface="Calibri" pitchFamily="34" charset="0"/>
              </a:rPr>
              <a:t>Collections → Documents → Fields</a:t>
            </a:r>
          </a:p>
          <a:p>
            <a:pPr marL="0" indent="0" algn="l">
              <a:lnSpc>
                <a:spcPct val="145000"/>
              </a:lnSpc>
              <a:buNone/>
            </a:pPr>
            <a:r>
              <a:rPr lang="en-US" sz="1800" dirty="0">
                <a:solidFill>
                  <a:srgbClr val="595959"/>
                </a:solidFill>
                <a:latin typeface="Calibri" pitchFamily="34" charset="0"/>
                <a:cs typeface="Calibri" pitchFamily="34" charset="0"/>
              </a:rPr>
              <a:t>Supports queries, offline caching, and real-time listeners.</a:t>
            </a:r>
          </a:p>
        </p:txBody>
      </p:sp>
      <p:sp>
        <p:nvSpPr>
          <p:cNvPr id="10" name="Card"/>
          <p:cNvSpPr/>
          <p:nvPr/>
        </p:nvSpPr>
        <p:spPr>
          <a:xfrm>
            <a:off x="6188533" y="1473200"/>
            <a:ext cx="5546266" cy="2794000"/>
          </a:xfrm>
          <a:prstGeom prst="roundRect">
            <a:avLst>
              <a:gd name="adj" fmla="val 4571"/>
            </a:avLst>
          </a:prstGeom>
          <a:solidFill>
            <a:srgbClr val="FFFFFF"/>
          </a:solidFill>
          <a:ln w="22225">
            <a:solidFill>
              <a:srgbClr val="2D6B66"/>
            </a:solidFill>
            <a:prstDash val="solid"/>
          </a:ln>
        </p:spPr>
        <p:txBody>
          <a:bodyPr wrap="square" lIns="0" tIns="0" rIns="0" bIns="0" rtlCol="0" anchor="t"/>
          <a:lstStyle/>
          <a:p>
            <a:endParaRPr lang="en-US" sz="2000"/>
          </a:p>
        </p:txBody>
      </p:sp>
      <p:sp>
        <p:nvSpPr>
          <p:cNvPr id="11" name="Text"/>
          <p:cNvSpPr/>
          <p:nvPr/>
        </p:nvSpPr>
        <p:spPr>
          <a:xfrm>
            <a:off x="6391733" y="1651000"/>
            <a:ext cx="5139866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2000" b="1" dirty="0">
                <a:solidFill>
                  <a:srgbClr val="262626"/>
                </a:solidFill>
                <a:latin typeface="Calibri" pitchFamily="34" charset="0"/>
                <a:cs typeface="Calibri" pitchFamily="34" charset="0"/>
              </a:rPr>
              <a:t>Realtime Database</a:t>
            </a:r>
          </a:p>
        </p:txBody>
      </p:sp>
      <p:sp>
        <p:nvSpPr>
          <p:cNvPr id="12" name="Text"/>
          <p:cNvSpPr/>
          <p:nvPr/>
        </p:nvSpPr>
        <p:spPr>
          <a:xfrm>
            <a:off x="6391733" y="2209800"/>
            <a:ext cx="5139866" cy="1905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1800" dirty="0">
                <a:solidFill>
                  <a:srgbClr val="595959"/>
                </a:solidFill>
                <a:latin typeface="Calibri" pitchFamily="34" charset="0"/>
                <a:cs typeface="Calibri" pitchFamily="34" charset="0"/>
              </a:rPr>
              <a:t>JSON tree-based cloud database.</a:t>
            </a:r>
          </a:p>
          <a:p>
            <a:pPr marL="0" indent="0" algn="l">
              <a:lnSpc>
                <a:spcPct val="145000"/>
              </a:lnSpc>
              <a:buNone/>
            </a:pPr>
            <a:r>
              <a:rPr lang="en-US" sz="1800" dirty="0">
                <a:solidFill>
                  <a:srgbClr val="595959"/>
                </a:solidFill>
                <a:latin typeface="Calibri" pitchFamily="34" charset="0"/>
                <a:cs typeface="Calibri" pitchFamily="34" charset="0"/>
              </a:rPr>
              <a:t>Useful for low-latency synchronized data and real-time state.</a:t>
            </a:r>
          </a:p>
        </p:txBody>
      </p:sp>
      <p:sp>
        <p:nvSpPr>
          <p:cNvPr id="13" name="Text"/>
          <p:cNvSpPr/>
          <p:nvPr/>
        </p:nvSpPr>
        <p:spPr>
          <a:xfrm>
            <a:off x="457200" y="4445000"/>
            <a:ext cx="11277600" cy="431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2000" b="1" dirty="0">
                <a:solidFill>
                  <a:srgbClr val="2D6B66"/>
                </a:solidFill>
                <a:latin typeface="Calibri" pitchFamily="34" charset="0"/>
                <a:cs typeface="Calibri" pitchFamily="34" charset="0"/>
              </a:rPr>
              <a:t>For a new application, choose the Firebase database based on the data model, query requirements, real-time behavior, and project constraints.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r"/>
          <p:cNvSpPr/>
          <p:nvPr/>
        </p:nvSpPr>
        <p:spPr>
          <a:xfrm>
            <a:off x="0" y="0"/>
            <a:ext cx="12184380" cy="109728"/>
          </a:xfrm>
          <a:prstGeom prst="rect">
            <a:avLst/>
          </a:prstGeom>
          <a:solidFill>
            <a:srgbClr val="2D6B66"/>
          </a:solidFill>
          <a:ln/>
        </p:spPr>
        <p:txBody>
          <a:bodyPr wrap="square" lIns="0" tIns="0" rIns="0" bIns="0" rtlCol="0" anchor="t"/>
          <a:lstStyle/>
          <a:p>
            <a:endParaRPr lang="en-US"/>
          </a:p>
        </p:txBody>
      </p:sp>
      <p:sp>
        <p:nvSpPr>
          <p:cNvPr id="3" name="Text"/>
          <p:cNvSpPr/>
          <p:nvPr/>
        </p:nvSpPr>
        <p:spPr>
          <a:xfrm>
            <a:off x="457200" y="237744"/>
            <a:ext cx="10515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spc="200" dirty="0">
                <a:solidFill>
                  <a:srgbClr val="2D6B66"/>
                </a:solidFill>
                <a:latin typeface="Calibri" pitchFamily="34" charset="0"/>
                <a:cs typeface="Calibri" pitchFamily="34" charset="0"/>
              </a:rPr>
              <a:t>MOBILE APPLICATION DEVELOPMENT  ·  DATABASE CONNECTIVITY</a:t>
            </a:r>
          </a:p>
        </p:txBody>
      </p:sp>
      <p:sp>
        <p:nvSpPr>
          <p:cNvPr id="4" name="Text"/>
          <p:cNvSpPr/>
          <p:nvPr/>
        </p:nvSpPr>
        <p:spPr>
          <a:xfrm>
            <a:off x="457200" y="530352"/>
            <a:ext cx="1123950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3300" b="1" dirty="0">
                <a:solidFill>
                  <a:srgbClr val="262626"/>
                </a:solidFill>
                <a:latin typeface="Calibri Light" pitchFamily="34" charset="0"/>
                <a:cs typeface="Calibri Light" pitchFamily="34" charset="0"/>
              </a:rPr>
              <a:t>Firestore Data Model</a:t>
            </a:r>
          </a:p>
        </p:txBody>
      </p:sp>
      <p:sp>
        <p:nvSpPr>
          <p:cNvPr id="5" name="Rule"/>
          <p:cNvSpPr/>
          <p:nvPr/>
        </p:nvSpPr>
        <p:spPr>
          <a:xfrm>
            <a:off x="457200" y="1243584"/>
            <a:ext cx="1005840" cy="0"/>
          </a:xfrm>
          <a:prstGeom prst="line">
            <a:avLst/>
          </a:prstGeom>
          <a:noFill/>
          <a:ln w="31750">
            <a:solidFill>
              <a:srgbClr val="660000"/>
            </a:solidFill>
            <a:prstDash val="solid"/>
          </a:ln>
        </p:spPr>
        <p:txBody>
          <a:bodyPr wrap="square" lIns="0" tIns="0" rIns="0" bIns="0" rtlCol="0" anchor="t"/>
          <a:lstStyle/>
          <a:p>
            <a:endParaRPr lang="en-US"/>
          </a:p>
        </p:txBody>
      </p:sp>
      <p:sp>
        <p:nvSpPr>
          <p:cNvPr id="6" name="Text"/>
          <p:cNvSpPr/>
          <p:nvPr/>
        </p:nvSpPr>
        <p:spPr>
          <a:xfrm>
            <a:off x="8778240" y="6337300"/>
            <a:ext cx="2954020" cy="2921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300" dirty="0">
                <a:solidFill>
                  <a:srgbClr val="595959"/>
                </a:solidFill>
                <a:latin typeface="Calibri" pitchFamily="34" charset="0"/>
                <a:cs typeface="Calibri" pitchFamily="34" charset="0"/>
              </a:rPr>
              <a:t>Mobile Application Development  ·  21 / 34</a:t>
            </a:r>
          </a:p>
        </p:txBody>
      </p:sp>
      <p:sp>
        <p:nvSpPr>
          <p:cNvPr id="7" name="Node"/>
          <p:cNvSpPr/>
          <p:nvPr/>
        </p:nvSpPr>
        <p:spPr>
          <a:xfrm>
            <a:off x="2794000" y="1473200"/>
            <a:ext cx="6604000" cy="685800"/>
          </a:xfrm>
          <a:prstGeom prst="roundRect">
            <a:avLst>
              <a:gd name="adj" fmla="val 4571"/>
            </a:avLst>
          </a:prstGeom>
          <a:solidFill>
            <a:srgbClr val="F1F6F5"/>
          </a:solidFill>
          <a:ln w="22225">
            <a:solidFill>
              <a:srgbClr val="2D6B66"/>
            </a:solidFill>
            <a:prstDash val="solid"/>
          </a:ln>
        </p:spPr>
        <p:txBody>
          <a:bodyPr wrap="square" lIns="0" tIns="0" rIns="0" bIns="0" rtlCol="0" anchor="t"/>
          <a:lstStyle/>
          <a:p>
            <a:endParaRPr lang="en-US" sz="2000"/>
          </a:p>
        </p:txBody>
      </p:sp>
      <p:sp>
        <p:nvSpPr>
          <p:cNvPr id="8" name="Text"/>
          <p:cNvSpPr/>
          <p:nvPr/>
        </p:nvSpPr>
        <p:spPr>
          <a:xfrm>
            <a:off x="2997200" y="1473200"/>
            <a:ext cx="6197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1900" b="1" dirty="0">
                <a:solidFill>
                  <a:srgbClr val="262626"/>
                </a:solidFill>
                <a:latin typeface="Calibri" pitchFamily="34" charset="0"/>
                <a:cs typeface="Calibri" pitchFamily="34" charset="0"/>
              </a:rPr>
              <a:t>Collection: users</a:t>
            </a:r>
          </a:p>
        </p:txBody>
      </p:sp>
      <p:sp>
        <p:nvSpPr>
          <p:cNvPr id="9" name="Arrow"/>
          <p:cNvSpPr/>
          <p:nvPr/>
        </p:nvSpPr>
        <p:spPr>
          <a:xfrm>
            <a:off x="5981700" y="2110740"/>
            <a:ext cx="228600" cy="248920"/>
          </a:xfrm>
          <a:prstGeom prst="downArrow">
            <a:avLst/>
          </a:prstGeom>
          <a:solidFill>
            <a:srgbClr val="2D6B66"/>
          </a:solidFill>
          <a:ln/>
        </p:spPr>
        <p:txBody>
          <a:bodyPr wrap="square" lIns="0" tIns="0" rIns="0" bIns="0" rtlCol="0" anchor="t"/>
          <a:lstStyle/>
          <a:p>
            <a:endParaRPr lang="en-US" sz="2000"/>
          </a:p>
        </p:txBody>
      </p:sp>
      <p:sp>
        <p:nvSpPr>
          <p:cNvPr id="10" name="Node"/>
          <p:cNvSpPr/>
          <p:nvPr/>
        </p:nvSpPr>
        <p:spPr>
          <a:xfrm>
            <a:off x="2794000" y="2311400"/>
            <a:ext cx="6604000" cy="685800"/>
          </a:xfrm>
          <a:prstGeom prst="roundRect">
            <a:avLst>
              <a:gd name="adj" fmla="val 4571"/>
            </a:avLst>
          </a:prstGeom>
          <a:solidFill>
            <a:srgbClr val="FFFFFF"/>
          </a:solidFill>
          <a:ln w="22225">
            <a:solidFill>
              <a:srgbClr val="2D6B66"/>
            </a:solidFill>
            <a:prstDash val="solid"/>
          </a:ln>
        </p:spPr>
        <p:txBody>
          <a:bodyPr wrap="square" lIns="0" tIns="0" rIns="0" bIns="0" rtlCol="0" anchor="t"/>
          <a:lstStyle/>
          <a:p>
            <a:endParaRPr lang="en-US" sz="2000"/>
          </a:p>
        </p:txBody>
      </p:sp>
      <p:sp>
        <p:nvSpPr>
          <p:cNvPr id="11" name="Text"/>
          <p:cNvSpPr/>
          <p:nvPr/>
        </p:nvSpPr>
        <p:spPr>
          <a:xfrm>
            <a:off x="2997200" y="2311400"/>
            <a:ext cx="6197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1900" b="1" dirty="0">
                <a:solidFill>
                  <a:srgbClr val="262626"/>
                </a:solidFill>
                <a:latin typeface="Calibri" pitchFamily="34" charset="0"/>
                <a:cs typeface="Calibri" pitchFamily="34" charset="0"/>
              </a:rPr>
              <a:t>Document: user_001</a:t>
            </a:r>
          </a:p>
        </p:txBody>
      </p:sp>
      <p:sp>
        <p:nvSpPr>
          <p:cNvPr id="12" name="Arrow"/>
          <p:cNvSpPr/>
          <p:nvPr/>
        </p:nvSpPr>
        <p:spPr>
          <a:xfrm>
            <a:off x="5981700" y="2948940"/>
            <a:ext cx="228600" cy="248920"/>
          </a:xfrm>
          <a:prstGeom prst="downArrow">
            <a:avLst/>
          </a:prstGeom>
          <a:solidFill>
            <a:srgbClr val="2D6B66"/>
          </a:solidFill>
          <a:ln/>
        </p:spPr>
        <p:txBody>
          <a:bodyPr wrap="square" lIns="0" tIns="0" rIns="0" bIns="0" rtlCol="0" anchor="t"/>
          <a:lstStyle/>
          <a:p>
            <a:endParaRPr lang="en-US" sz="2000"/>
          </a:p>
        </p:txBody>
      </p:sp>
      <p:sp>
        <p:nvSpPr>
          <p:cNvPr id="13" name="Node"/>
          <p:cNvSpPr/>
          <p:nvPr/>
        </p:nvSpPr>
        <p:spPr>
          <a:xfrm>
            <a:off x="2794000" y="3149600"/>
            <a:ext cx="6604000" cy="685800"/>
          </a:xfrm>
          <a:prstGeom prst="roundRect">
            <a:avLst>
              <a:gd name="adj" fmla="val 4571"/>
            </a:avLst>
          </a:prstGeom>
          <a:solidFill>
            <a:srgbClr val="F1F6F5"/>
          </a:solidFill>
          <a:ln w="22225">
            <a:solidFill>
              <a:srgbClr val="2D6B66"/>
            </a:solidFill>
            <a:prstDash val="solid"/>
          </a:ln>
        </p:spPr>
        <p:txBody>
          <a:bodyPr wrap="square" lIns="0" tIns="0" rIns="0" bIns="0" rtlCol="0" anchor="t"/>
          <a:lstStyle/>
          <a:p>
            <a:endParaRPr lang="en-US" sz="2000"/>
          </a:p>
        </p:txBody>
      </p:sp>
      <p:sp>
        <p:nvSpPr>
          <p:cNvPr id="14" name="Text"/>
          <p:cNvSpPr/>
          <p:nvPr/>
        </p:nvSpPr>
        <p:spPr>
          <a:xfrm>
            <a:off x="2997200" y="3149600"/>
            <a:ext cx="6197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1900" b="1" dirty="0">
                <a:solidFill>
                  <a:srgbClr val="262626"/>
                </a:solidFill>
                <a:latin typeface="Calibri" pitchFamily="34" charset="0"/>
                <a:cs typeface="Calibri" pitchFamily="34" charset="0"/>
              </a:rPr>
              <a:t>Fields</a:t>
            </a:r>
          </a:p>
        </p:txBody>
      </p:sp>
      <p:sp>
        <p:nvSpPr>
          <p:cNvPr id="15" name="Card"/>
          <p:cNvSpPr/>
          <p:nvPr/>
        </p:nvSpPr>
        <p:spPr>
          <a:xfrm>
            <a:off x="457200" y="4165600"/>
            <a:ext cx="3635822" cy="685800"/>
          </a:xfrm>
          <a:prstGeom prst="roundRect">
            <a:avLst>
              <a:gd name="adj" fmla="val 4571"/>
            </a:avLst>
          </a:prstGeom>
          <a:solidFill>
            <a:srgbClr val="F1F6F5"/>
          </a:solidFill>
          <a:ln w="22225">
            <a:solidFill>
              <a:srgbClr val="2D6B66"/>
            </a:solidFill>
            <a:prstDash val="solid"/>
          </a:ln>
        </p:spPr>
        <p:txBody>
          <a:bodyPr wrap="square" lIns="0" tIns="0" rIns="0" bIns="0" rtlCol="0" anchor="t"/>
          <a:lstStyle/>
          <a:p>
            <a:endParaRPr lang="en-US" sz="2000"/>
          </a:p>
        </p:txBody>
      </p:sp>
      <p:sp>
        <p:nvSpPr>
          <p:cNvPr id="16" name="Text"/>
          <p:cNvSpPr/>
          <p:nvPr/>
        </p:nvSpPr>
        <p:spPr>
          <a:xfrm>
            <a:off x="609600" y="4165600"/>
            <a:ext cx="333102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700" b="1" dirty="0">
                <a:solidFill>
                  <a:srgbClr val="262626"/>
                </a:solidFill>
                <a:latin typeface="Calibri" pitchFamily="34" charset="0"/>
                <a:cs typeface="Calibri" pitchFamily="34" charset="0"/>
              </a:rPr>
              <a:t>name</a:t>
            </a:r>
          </a:p>
          <a:p>
            <a:pPr marL="0" indent="0" algn="l">
              <a:lnSpc>
                <a:spcPct val="120000"/>
              </a:lnSpc>
              <a:buNone/>
            </a:pPr>
            <a:r>
              <a:rPr lang="en-US" sz="1600" dirty="0">
                <a:solidFill>
                  <a:srgbClr val="595959"/>
                </a:solidFill>
                <a:latin typeface="Calibri" pitchFamily="34" charset="0"/>
                <a:cs typeface="Calibri" pitchFamily="34" charset="0"/>
              </a:rPr>
              <a:t>“Nimal”</a:t>
            </a:r>
          </a:p>
        </p:txBody>
      </p:sp>
      <p:sp>
        <p:nvSpPr>
          <p:cNvPr id="17" name="Card"/>
          <p:cNvSpPr/>
          <p:nvPr/>
        </p:nvSpPr>
        <p:spPr>
          <a:xfrm>
            <a:off x="4278089" y="4165600"/>
            <a:ext cx="3635822" cy="685800"/>
          </a:xfrm>
          <a:prstGeom prst="roundRect">
            <a:avLst>
              <a:gd name="adj" fmla="val 4571"/>
            </a:avLst>
          </a:prstGeom>
          <a:solidFill>
            <a:srgbClr val="F1F6F5"/>
          </a:solidFill>
          <a:ln w="22225">
            <a:solidFill>
              <a:srgbClr val="2D6B66"/>
            </a:solidFill>
            <a:prstDash val="solid"/>
          </a:ln>
        </p:spPr>
        <p:txBody>
          <a:bodyPr wrap="square" lIns="0" tIns="0" rIns="0" bIns="0" rtlCol="0" anchor="t"/>
          <a:lstStyle/>
          <a:p>
            <a:endParaRPr lang="en-US" sz="2000"/>
          </a:p>
        </p:txBody>
      </p:sp>
      <p:sp>
        <p:nvSpPr>
          <p:cNvPr id="18" name="Text"/>
          <p:cNvSpPr/>
          <p:nvPr/>
        </p:nvSpPr>
        <p:spPr>
          <a:xfrm>
            <a:off x="4430489" y="4165600"/>
            <a:ext cx="333102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700" b="1" dirty="0">
                <a:solidFill>
                  <a:srgbClr val="262626"/>
                </a:solidFill>
                <a:latin typeface="Calibri" pitchFamily="34" charset="0"/>
                <a:cs typeface="Calibri" pitchFamily="34" charset="0"/>
              </a:rPr>
              <a:t>email</a:t>
            </a:r>
          </a:p>
          <a:p>
            <a:pPr marL="0" indent="0" algn="l">
              <a:lnSpc>
                <a:spcPct val="120000"/>
              </a:lnSpc>
              <a:buNone/>
            </a:pPr>
            <a:r>
              <a:rPr lang="en-US" sz="1600" dirty="0">
                <a:solidFill>
                  <a:srgbClr val="595959"/>
                </a:solidFill>
                <a:latin typeface="Calibri" pitchFamily="34" charset="0"/>
                <a:cs typeface="Calibri" pitchFamily="34" charset="0"/>
              </a:rPr>
              <a:t>“nimal@...”</a:t>
            </a:r>
          </a:p>
        </p:txBody>
      </p:sp>
      <p:sp>
        <p:nvSpPr>
          <p:cNvPr id="19" name="Card"/>
          <p:cNvSpPr/>
          <p:nvPr/>
        </p:nvSpPr>
        <p:spPr>
          <a:xfrm>
            <a:off x="8098978" y="4165600"/>
            <a:ext cx="3635822" cy="685800"/>
          </a:xfrm>
          <a:prstGeom prst="roundRect">
            <a:avLst>
              <a:gd name="adj" fmla="val 4571"/>
            </a:avLst>
          </a:prstGeom>
          <a:solidFill>
            <a:srgbClr val="F1F6F5"/>
          </a:solidFill>
          <a:ln w="22225">
            <a:solidFill>
              <a:srgbClr val="2D6B66"/>
            </a:solidFill>
            <a:prstDash val="solid"/>
          </a:ln>
        </p:spPr>
        <p:txBody>
          <a:bodyPr wrap="square" lIns="0" tIns="0" rIns="0" bIns="0" rtlCol="0" anchor="t"/>
          <a:lstStyle/>
          <a:p>
            <a:endParaRPr lang="en-US" sz="2000"/>
          </a:p>
        </p:txBody>
      </p:sp>
      <p:sp>
        <p:nvSpPr>
          <p:cNvPr id="20" name="Text"/>
          <p:cNvSpPr/>
          <p:nvPr/>
        </p:nvSpPr>
        <p:spPr>
          <a:xfrm>
            <a:off x="8251378" y="4165600"/>
            <a:ext cx="333102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700" b="1" dirty="0">
                <a:solidFill>
                  <a:srgbClr val="262626"/>
                </a:solidFill>
                <a:latin typeface="Calibri" pitchFamily="34" charset="0"/>
                <a:cs typeface="Calibri" pitchFamily="34" charset="0"/>
              </a:rPr>
              <a:t>department</a:t>
            </a:r>
          </a:p>
          <a:p>
            <a:pPr marL="0" indent="0" algn="l">
              <a:lnSpc>
                <a:spcPct val="120000"/>
              </a:lnSpc>
              <a:buNone/>
            </a:pPr>
            <a:r>
              <a:rPr lang="en-US" sz="1600" dirty="0">
                <a:solidFill>
                  <a:srgbClr val="595959"/>
                </a:solidFill>
                <a:latin typeface="Calibri" pitchFamily="34" charset="0"/>
                <a:cs typeface="Calibri" pitchFamily="34" charset="0"/>
              </a:rPr>
              <a:t>“IT”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r"/>
          <p:cNvSpPr/>
          <p:nvPr/>
        </p:nvSpPr>
        <p:spPr>
          <a:xfrm>
            <a:off x="0" y="0"/>
            <a:ext cx="12184380" cy="109728"/>
          </a:xfrm>
          <a:prstGeom prst="rect">
            <a:avLst/>
          </a:prstGeom>
          <a:solidFill>
            <a:srgbClr val="2D6B66"/>
          </a:solidFill>
          <a:ln/>
        </p:spPr>
        <p:txBody>
          <a:bodyPr wrap="square" lIns="0" tIns="0" rIns="0" bIns="0" rtlCol="0" anchor="t"/>
          <a:lstStyle/>
          <a:p>
            <a:endParaRPr lang="en-US"/>
          </a:p>
        </p:txBody>
      </p:sp>
      <p:sp>
        <p:nvSpPr>
          <p:cNvPr id="3" name="Text"/>
          <p:cNvSpPr/>
          <p:nvPr/>
        </p:nvSpPr>
        <p:spPr>
          <a:xfrm>
            <a:off x="457200" y="237744"/>
            <a:ext cx="10515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spc="200" dirty="0">
                <a:solidFill>
                  <a:srgbClr val="2D6B66"/>
                </a:solidFill>
                <a:latin typeface="Calibri" pitchFamily="34" charset="0"/>
                <a:cs typeface="Calibri" pitchFamily="34" charset="0"/>
              </a:rPr>
              <a:t>MOBILE APPLICATION DEVELOPMENT  ·  DATABASE CONNECTIVITY</a:t>
            </a:r>
          </a:p>
        </p:txBody>
      </p:sp>
      <p:sp>
        <p:nvSpPr>
          <p:cNvPr id="4" name="Text"/>
          <p:cNvSpPr/>
          <p:nvPr/>
        </p:nvSpPr>
        <p:spPr>
          <a:xfrm>
            <a:off x="457200" y="530352"/>
            <a:ext cx="1123950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3300" b="1" dirty="0">
                <a:solidFill>
                  <a:srgbClr val="262626"/>
                </a:solidFill>
                <a:latin typeface="Calibri Light" pitchFamily="34" charset="0"/>
                <a:cs typeface="Calibri Light" pitchFamily="34" charset="0"/>
              </a:rPr>
              <a:t>Firebase Android Flow</a:t>
            </a:r>
          </a:p>
        </p:txBody>
      </p:sp>
      <p:sp>
        <p:nvSpPr>
          <p:cNvPr id="5" name="Rule"/>
          <p:cNvSpPr/>
          <p:nvPr/>
        </p:nvSpPr>
        <p:spPr>
          <a:xfrm>
            <a:off x="457200" y="1243584"/>
            <a:ext cx="1005840" cy="0"/>
          </a:xfrm>
          <a:prstGeom prst="line">
            <a:avLst/>
          </a:prstGeom>
          <a:noFill/>
          <a:ln w="31750">
            <a:solidFill>
              <a:srgbClr val="660000"/>
            </a:solidFill>
            <a:prstDash val="solid"/>
          </a:ln>
        </p:spPr>
        <p:txBody>
          <a:bodyPr wrap="square" lIns="0" tIns="0" rIns="0" bIns="0" rtlCol="0" anchor="t"/>
          <a:lstStyle/>
          <a:p>
            <a:endParaRPr lang="en-US"/>
          </a:p>
        </p:txBody>
      </p:sp>
      <p:sp>
        <p:nvSpPr>
          <p:cNvPr id="6" name="Text"/>
          <p:cNvSpPr/>
          <p:nvPr/>
        </p:nvSpPr>
        <p:spPr>
          <a:xfrm>
            <a:off x="8778240" y="6337300"/>
            <a:ext cx="2954020" cy="2921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300" dirty="0">
                <a:solidFill>
                  <a:srgbClr val="595959"/>
                </a:solidFill>
                <a:latin typeface="Calibri" pitchFamily="34" charset="0"/>
                <a:cs typeface="Calibri" pitchFamily="34" charset="0"/>
              </a:rPr>
              <a:t>Mobile Application Development  ·  22 / 34</a:t>
            </a:r>
          </a:p>
        </p:txBody>
      </p:sp>
      <p:sp>
        <p:nvSpPr>
          <p:cNvPr id="7" name="Node"/>
          <p:cNvSpPr/>
          <p:nvPr/>
        </p:nvSpPr>
        <p:spPr>
          <a:xfrm>
            <a:off x="2794000" y="1473200"/>
            <a:ext cx="6604000" cy="685800"/>
          </a:xfrm>
          <a:prstGeom prst="roundRect">
            <a:avLst>
              <a:gd name="adj" fmla="val 4571"/>
            </a:avLst>
          </a:prstGeom>
          <a:solidFill>
            <a:srgbClr val="F1F6F5"/>
          </a:solidFill>
          <a:ln w="22225">
            <a:solidFill>
              <a:srgbClr val="2D6B66"/>
            </a:solidFill>
            <a:prstDash val="solid"/>
          </a:ln>
        </p:spPr>
        <p:txBody>
          <a:bodyPr wrap="square" lIns="0" tIns="0" rIns="0" bIns="0" rtlCol="0" anchor="t"/>
          <a:lstStyle/>
          <a:p>
            <a:endParaRPr lang="en-US" sz="2000"/>
          </a:p>
        </p:txBody>
      </p:sp>
      <p:sp>
        <p:nvSpPr>
          <p:cNvPr id="8" name="Text"/>
          <p:cNvSpPr/>
          <p:nvPr/>
        </p:nvSpPr>
        <p:spPr>
          <a:xfrm>
            <a:off x="2997200" y="1473200"/>
            <a:ext cx="6197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1900" b="1" dirty="0">
                <a:solidFill>
                  <a:srgbClr val="262626"/>
                </a:solidFill>
                <a:latin typeface="Calibri" pitchFamily="34" charset="0"/>
                <a:cs typeface="Calibri" pitchFamily="34" charset="0"/>
              </a:rPr>
              <a:t>Android App</a:t>
            </a:r>
          </a:p>
        </p:txBody>
      </p:sp>
      <p:sp>
        <p:nvSpPr>
          <p:cNvPr id="9" name="Arrow"/>
          <p:cNvSpPr/>
          <p:nvPr/>
        </p:nvSpPr>
        <p:spPr>
          <a:xfrm>
            <a:off x="5981700" y="2110740"/>
            <a:ext cx="228600" cy="248920"/>
          </a:xfrm>
          <a:prstGeom prst="downArrow">
            <a:avLst/>
          </a:prstGeom>
          <a:solidFill>
            <a:srgbClr val="2D6B66"/>
          </a:solidFill>
          <a:ln/>
        </p:spPr>
        <p:txBody>
          <a:bodyPr wrap="square" lIns="0" tIns="0" rIns="0" bIns="0" rtlCol="0" anchor="t"/>
          <a:lstStyle/>
          <a:p>
            <a:endParaRPr lang="en-US" sz="2000"/>
          </a:p>
        </p:txBody>
      </p:sp>
      <p:sp>
        <p:nvSpPr>
          <p:cNvPr id="10" name="Node"/>
          <p:cNvSpPr/>
          <p:nvPr/>
        </p:nvSpPr>
        <p:spPr>
          <a:xfrm>
            <a:off x="2794000" y="2311400"/>
            <a:ext cx="6604000" cy="685800"/>
          </a:xfrm>
          <a:prstGeom prst="roundRect">
            <a:avLst>
              <a:gd name="adj" fmla="val 4571"/>
            </a:avLst>
          </a:prstGeom>
          <a:solidFill>
            <a:srgbClr val="FFFFFF"/>
          </a:solidFill>
          <a:ln w="22225">
            <a:solidFill>
              <a:srgbClr val="2D6B66"/>
            </a:solidFill>
            <a:prstDash val="solid"/>
          </a:ln>
        </p:spPr>
        <p:txBody>
          <a:bodyPr wrap="square" lIns="0" tIns="0" rIns="0" bIns="0" rtlCol="0" anchor="t"/>
          <a:lstStyle/>
          <a:p>
            <a:endParaRPr lang="en-US" sz="2000"/>
          </a:p>
        </p:txBody>
      </p:sp>
      <p:sp>
        <p:nvSpPr>
          <p:cNvPr id="11" name="Text"/>
          <p:cNvSpPr/>
          <p:nvPr/>
        </p:nvSpPr>
        <p:spPr>
          <a:xfrm>
            <a:off x="2997200" y="2311400"/>
            <a:ext cx="6197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1900" b="1" dirty="0">
                <a:solidFill>
                  <a:srgbClr val="262626"/>
                </a:solidFill>
                <a:latin typeface="Calibri" pitchFamily="34" charset="0"/>
                <a:cs typeface="Calibri" pitchFamily="34" charset="0"/>
              </a:rPr>
              <a:t>Firebase SDK</a:t>
            </a:r>
          </a:p>
        </p:txBody>
      </p:sp>
      <p:sp>
        <p:nvSpPr>
          <p:cNvPr id="12" name="Arrow"/>
          <p:cNvSpPr/>
          <p:nvPr/>
        </p:nvSpPr>
        <p:spPr>
          <a:xfrm>
            <a:off x="5981700" y="2948940"/>
            <a:ext cx="228600" cy="248920"/>
          </a:xfrm>
          <a:prstGeom prst="downArrow">
            <a:avLst/>
          </a:prstGeom>
          <a:solidFill>
            <a:srgbClr val="2D6B66"/>
          </a:solidFill>
          <a:ln/>
        </p:spPr>
        <p:txBody>
          <a:bodyPr wrap="square" lIns="0" tIns="0" rIns="0" bIns="0" rtlCol="0" anchor="t"/>
          <a:lstStyle/>
          <a:p>
            <a:endParaRPr lang="en-US" sz="2000"/>
          </a:p>
        </p:txBody>
      </p:sp>
      <p:sp>
        <p:nvSpPr>
          <p:cNvPr id="13" name="Node"/>
          <p:cNvSpPr/>
          <p:nvPr/>
        </p:nvSpPr>
        <p:spPr>
          <a:xfrm>
            <a:off x="2794000" y="3149600"/>
            <a:ext cx="6604000" cy="685800"/>
          </a:xfrm>
          <a:prstGeom prst="roundRect">
            <a:avLst>
              <a:gd name="adj" fmla="val 4571"/>
            </a:avLst>
          </a:prstGeom>
          <a:solidFill>
            <a:srgbClr val="F1F6F5"/>
          </a:solidFill>
          <a:ln w="22225">
            <a:solidFill>
              <a:srgbClr val="2D6B66"/>
            </a:solidFill>
            <a:prstDash val="solid"/>
          </a:ln>
        </p:spPr>
        <p:txBody>
          <a:bodyPr wrap="square" lIns="0" tIns="0" rIns="0" bIns="0" rtlCol="0" anchor="t"/>
          <a:lstStyle/>
          <a:p>
            <a:endParaRPr lang="en-US" sz="2000"/>
          </a:p>
        </p:txBody>
      </p:sp>
      <p:sp>
        <p:nvSpPr>
          <p:cNvPr id="14" name="Text"/>
          <p:cNvSpPr/>
          <p:nvPr/>
        </p:nvSpPr>
        <p:spPr>
          <a:xfrm>
            <a:off x="2997200" y="3149600"/>
            <a:ext cx="6197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1900" b="1" dirty="0">
                <a:solidFill>
                  <a:srgbClr val="262626"/>
                </a:solidFill>
                <a:latin typeface="Calibri" pitchFamily="34" charset="0"/>
                <a:cs typeface="Calibri" pitchFamily="34" charset="0"/>
              </a:rPr>
              <a:t>Cloud Database</a:t>
            </a:r>
          </a:p>
        </p:txBody>
      </p:sp>
      <p:sp>
        <p:nvSpPr>
          <p:cNvPr id="15" name="Arrow"/>
          <p:cNvSpPr/>
          <p:nvPr/>
        </p:nvSpPr>
        <p:spPr>
          <a:xfrm>
            <a:off x="5981700" y="3787140"/>
            <a:ext cx="228600" cy="248920"/>
          </a:xfrm>
          <a:prstGeom prst="downArrow">
            <a:avLst/>
          </a:prstGeom>
          <a:solidFill>
            <a:srgbClr val="2D6B66"/>
          </a:solidFill>
          <a:ln/>
        </p:spPr>
        <p:txBody>
          <a:bodyPr wrap="square" lIns="0" tIns="0" rIns="0" bIns="0" rtlCol="0" anchor="t"/>
          <a:lstStyle/>
          <a:p>
            <a:endParaRPr lang="en-US" sz="2000"/>
          </a:p>
        </p:txBody>
      </p:sp>
      <p:sp>
        <p:nvSpPr>
          <p:cNvPr id="16" name="Node"/>
          <p:cNvSpPr/>
          <p:nvPr/>
        </p:nvSpPr>
        <p:spPr>
          <a:xfrm>
            <a:off x="2794000" y="3987800"/>
            <a:ext cx="6604000" cy="685800"/>
          </a:xfrm>
          <a:prstGeom prst="roundRect">
            <a:avLst>
              <a:gd name="adj" fmla="val 4571"/>
            </a:avLst>
          </a:prstGeom>
          <a:solidFill>
            <a:srgbClr val="FFFFFF"/>
          </a:solidFill>
          <a:ln w="22225">
            <a:solidFill>
              <a:srgbClr val="2D6B66"/>
            </a:solidFill>
            <a:prstDash val="solid"/>
          </a:ln>
        </p:spPr>
        <p:txBody>
          <a:bodyPr wrap="square" lIns="0" tIns="0" rIns="0" bIns="0" rtlCol="0" anchor="t"/>
          <a:lstStyle/>
          <a:p>
            <a:endParaRPr lang="en-US" sz="2000"/>
          </a:p>
        </p:txBody>
      </p:sp>
      <p:sp>
        <p:nvSpPr>
          <p:cNvPr id="17" name="Text"/>
          <p:cNvSpPr/>
          <p:nvPr/>
        </p:nvSpPr>
        <p:spPr>
          <a:xfrm>
            <a:off x="2997200" y="3987800"/>
            <a:ext cx="6197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1900" b="1" dirty="0">
                <a:solidFill>
                  <a:srgbClr val="262626"/>
                </a:solidFill>
                <a:latin typeface="Calibri" pitchFamily="34" charset="0"/>
                <a:cs typeface="Calibri" pitchFamily="34" charset="0"/>
              </a:rPr>
              <a:t>Security Rules</a:t>
            </a:r>
          </a:p>
        </p:txBody>
      </p:sp>
      <p:sp>
        <p:nvSpPr>
          <p:cNvPr id="18" name="Dot"/>
          <p:cNvSpPr/>
          <p:nvPr/>
        </p:nvSpPr>
        <p:spPr>
          <a:xfrm>
            <a:off x="482600" y="5181600"/>
            <a:ext cx="127000" cy="127000"/>
          </a:xfrm>
          <a:prstGeom prst="ellipse">
            <a:avLst/>
          </a:prstGeom>
          <a:solidFill>
            <a:srgbClr val="2D6B6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9" name="Text"/>
          <p:cNvSpPr/>
          <p:nvPr/>
        </p:nvSpPr>
        <p:spPr>
          <a:xfrm>
            <a:off x="838200" y="5054600"/>
            <a:ext cx="10871200" cy="482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2000" dirty="0">
                <a:solidFill>
                  <a:srgbClr val="262626"/>
                </a:solidFill>
                <a:latin typeface="Calibri" pitchFamily="34" charset="0"/>
                <a:cs typeface="Calibri" pitchFamily="34" charset="0"/>
              </a:rPr>
              <a:t>The application communicates through Firebase SDKs rather than opening a direct database connection.</a:t>
            </a:r>
          </a:p>
        </p:txBody>
      </p:sp>
      <p:sp>
        <p:nvSpPr>
          <p:cNvPr id="20" name="Dot"/>
          <p:cNvSpPr/>
          <p:nvPr/>
        </p:nvSpPr>
        <p:spPr>
          <a:xfrm>
            <a:off x="482600" y="5664200"/>
            <a:ext cx="127000" cy="127000"/>
          </a:xfrm>
          <a:prstGeom prst="ellipse">
            <a:avLst/>
          </a:prstGeom>
          <a:solidFill>
            <a:srgbClr val="2D6B6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1" name="Text"/>
          <p:cNvSpPr/>
          <p:nvPr/>
        </p:nvSpPr>
        <p:spPr>
          <a:xfrm>
            <a:off x="838200" y="5537200"/>
            <a:ext cx="10871200" cy="482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2000" dirty="0">
                <a:solidFill>
                  <a:srgbClr val="262626"/>
                </a:solidFill>
                <a:latin typeface="Calibri" pitchFamily="34" charset="0"/>
                <a:cs typeface="Calibri" pitchFamily="34" charset="0"/>
              </a:rPr>
              <a:t>Authentication and authorization rules determine who can access which data.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r"/>
          <p:cNvSpPr/>
          <p:nvPr/>
        </p:nvSpPr>
        <p:spPr>
          <a:xfrm>
            <a:off x="0" y="0"/>
            <a:ext cx="12184380" cy="109728"/>
          </a:xfrm>
          <a:prstGeom prst="rect">
            <a:avLst/>
          </a:prstGeom>
          <a:solidFill>
            <a:srgbClr val="2D6B66"/>
          </a:solidFill>
          <a:ln/>
        </p:spPr>
        <p:txBody>
          <a:bodyPr wrap="square" lIns="0" tIns="0" rIns="0" bIns="0" rtlCol="0" anchor="t"/>
          <a:lstStyle/>
          <a:p>
            <a:endParaRPr lang="en-US"/>
          </a:p>
        </p:txBody>
      </p:sp>
      <p:sp>
        <p:nvSpPr>
          <p:cNvPr id="3" name="Text"/>
          <p:cNvSpPr/>
          <p:nvPr/>
        </p:nvSpPr>
        <p:spPr>
          <a:xfrm>
            <a:off x="457200" y="237744"/>
            <a:ext cx="10515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spc="200" dirty="0">
                <a:solidFill>
                  <a:srgbClr val="2D6B66"/>
                </a:solidFill>
                <a:latin typeface="Calibri" pitchFamily="34" charset="0"/>
                <a:cs typeface="Calibri" pitchFamily="34" charset="0"/>
              </a:rPr>
              <a:t>MOBILE APPLICATION DEVELOPMENT  ·  DATABASE CONNECTIVITY</a:t>
            </a:r>
          </a:p>
        </p:txBody>
      </p:sp>
      <p:sp>
        <p:nvSpPr>
          <p:cNvPr id="4" name="Text"/>
          <p:cNvSpPr/>
          <p:nvPr/>
        </p:nvSpPr>
        <p:spPr>
          <a:xfrm>
            <a:off x="457200" y="530352"/>
            <a:ext cx="1123950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3300" b="1" dirty="0">
                <a:solidFill>
                  <a:srgbClr val="262626"/>
                </a:solidFill>
                <a:latin typeface="Calibri Light" pitchFamily="34" charset="0"/>
                <a:cs typeface="Calibri Light" pitchFamily="34" charset="0"/>
              </a:rPr>
              <a:t>Cloud Database Example: Firestore Read</a:t>
            </a:r>
          </a:p>
        </p:txBody>
      </p:sp>
      <p:sp>
        <p:nvSpPr>
          <p:cNvPr id="5" name="Rule"/>
          <p:cNvSpPr/>
          <p:nvPr/>
        </p:nvSpPr>
        <p:spPr>
          <a:xfrm>
            <a:off x="457200" y="1243584"/>
            <a:ext cx="1005840" cy="0"/>
          </a:xfrm>
          <a:prstGeom prst="line">
            <a:avLst/>
          </a:prstGeom>
          <a:noFill/>
          <a:ln w="31750">
            <a:solidFill>
              <a:srgbClr val="660000"/>
            </a:solidFill>
            <a:prstDash val="solid"/>
          </a:ln>
        </p:spPr>
        <p:txBody>
          <a:bodyPr wrap="square" lIns="0" tIns="0" rIns="0" bIns="0" rtlCol="0" anchor="t"/>
          <a:lstStyle/>
          <a:p>
            <a:endParaRPr lang="en-US"/>
          </a:p>
        </p:txBody>
      </p:sp>
      <p:sp>
        <p:nvSpPr>
          <p:cNvPr id="6" name="Text"/>
          <p:cNvSpPr/>
          <p:nvPr/>
        </p:nvSpPr>
        <p:spPr>
          <a:xfrm>
            <a:off x="8778240" y="6337300"/>
            <a:ext cx="2954020" cy="2921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300" dirty="0">
                <a:solidFill>
                  <a:srgbClr val="595959"/>
                </a:solidFill>
                <a:latin typeface="Calibri" pitchFamily="34" charset="0"/>
                <a:cs typeface="Calibri" pitchFamily="34" charset="0"/>
              </a:rPr>
              <a:t>Mobile Application Development  ·  23 / 34</a:t>
            </a:r>
          </a:p>
        </p:txBody>
      </p:sp>
      <p:sp>
        <p:nvSpPr>
          <p:cNvPr id="7" name="CodePanel"/>
          <p:cNvSpPr/>
          <p:nvPr/>
        </p:nvSpPr>
        <p:spPr>
          <a:xfrm>
            <a:off x="457200" y="1473200"/>
            <a:ext cx="11277600" cy="4258240"/>
          </a:xfrm>
          <a:prstGeom prst="roundRect">
            <a:avLst>
              <a:gd name="adj" fmla="val 4571"/>
            </a:avLst>
          </a:prstGeom>
          <a:solidFill>
            <a:srgbClr val="1E2B2A"/>
          </a:solidFill>
          <a:ln/>
        </p:spPr>
        <p:txBody>
          <a:bodyPr wrap="square" lIns="0" tIns="0" rIns="0" bIns="0" rtlCol="0" anchor="t"/>
          <a:lstStyle/>
          <a:p>
            <a:endParaRPr lang="en-US" sz="2000"/>
          </a:p>
        </p:txBody>
      </p:sp>
      <p:sp>
        <p:nvSpPr>
          <p:cNvPr id="8" name="Text"/>
          <p:cNvSpPr/>
          <p:nvPr/>
        </p:nvSpPr>
        <p:spPr>
          <a:xfrm>
            <a:off x="736600" y="1727200"/>
            <a:ext cx="10718800" cy="375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35000"/>
              </a:lnSpc>
              <a:buNone/>
            </a:pPr>
            <a:r>
              <a:rPr lang="en-US" sz="1300" dirty="0">
                <a:solidFill>
                  <a:srgbClr val="D9E6E4"/>
                </a:solidFill>
                <a:latin typeface="Consolas" pitchFamily="34" charset="0"/>
                <a:cs typeface="Consolas" pitchFamily="34" charset="0"/>
              </a:rPr>
              <a:t>val db = FirebaseFirestore.getInstance()</a:t>
            </a:r>
          </a:p>
          <a:p>
            <a:pPr marL="0" indent="0" algn="l">
              <a:lnSpc>
                <a:spcPct val="135000"/>
              </a:lnSpc>
              <a:buNone/>
            </a:pPr>
            <a:endParaRPr lang="en-US" sz="1300" dirty="0">
              <a:solidFill>
                <a:srgbClr val="D9E6E4"/>
              </a:solidFill>
              <a:latin typeface="Consolas" pitchFamily="34" charset="0"/>
              <a:cs typeface="Consolas" pitchFamily="34" charset="0"/>
            </a:endParaRPr>
          </a:p>
          <a:p>
            <a:pPr marL="0" indent="0" algn="l">
              <a:lnSpc>
                <a:spcPct val="135000"/>
              </a:lnSpc>
              <a:buNone/>
            </a:pPr>
            <a:r>
              <a:rPr lang="en-US" sz="1300" dirty="0">
                <a:solidFill>
                  <a:srgbClr val="D9E6E4"/>
                </a:solidFill>
                <a:latin typeface="Consolas" pitchFamily="34" charset="0"/>
                <a:cs typeface="Consolas" pitchFamily="34" charset="0"/>
              </a:rPr>
              <a:t>db.collection("users")</a:t>
            </a:r>
          </a:p>
          <a:p>
            <a:pPr marL="0" indent="0" algn="l">
              <a:lnSpc>
                <a:spcPct val="135000"/>
              </a:lnSpc>
              <a:buNone/>
            </a:pPr>
            <a:r>
              <a:rPr lang="en-US" sz="1300" dirty="0">
                <a:solidFill>
                  <a:srgbClr val="D9E6E4"/>
                </a:solidFill>
                <a:latin typeface="Consolas" pitchFamily="34" charset="0"/>
                <a:cs typeface="Consolas" pitchFamily="34" charset="0"/>
              </a:rPr>
              <a:t>    .get()</a:t>
            </a:r>
          </a:p>
          <a:p>
            <a:pPr marL="0" indent="0" algn="l">
              <a:lnSpc>
                <a:spcPct val="135000"/>
              </a:lnSpc>
              <a:buNone/>
            </a:pPr>
            <a:r>
              <a:rPr lang="en-US" sz="1300" dirty="0">
                <a:solidFill>
                  <a:srgbClr val="D9E6E4"/>
                </a:solidFill>
                <a:latin typeface="Consolas" pitchFamily="34" charset="0"/>
                <a:cs typeface="Consolas" pitchFamily="34" charset="0"/>
              </a:rPr>
              <a:t>    .addOnSuccessListener { result -&gt;</a:t>
            </a:r>
          </a:p>
          <a:p>
            <a:pPr marL="0" indent="0" algn="l">
              <a:lnSpc>
                <a:spcPct val="135000"/>
              </a:lnSpc>
              <a:buNone/>
            </a:pPr>
            <a:r>
              <a:rPr lang="en-US" sz="1300" dirty="0">
                <a:solidFill>
                  <a:srgbClr val="D9E6E4"/>
                </a:solidFill>
                <a:latin typeface="Consolas" pitchFamily="34" charset="0"/>
                <a:cs typeface="Consolas" pitchFamily="34" charset="0"/>
              </a:rPr>
              <a:t>        for (document in result) {</a:t>
            </a:r>
          </a:p>
          <a:p>
            <a:pPr marL="0" indent="0" algn="l">
              <a:lnSpc>
                <a:spcPct val="135000"/>
              </a:lnSpc>
              <a:buNone/>
            </a:pPr>
            <a:r>
              <a:rPr lang="en-US" sz="1300" dirty="0">
                <a:solidFill>
                  <a:srgbClr val="D9E6E4"/>
                </a:solidFill>
                <a:latin typeface="Consolas" pitchFamily="34" charset="0"/>
                <a:cs typeface="Consolas" pitchFamily="34" charset="0"/>
              </a:rPr>
              <a:t>            val name = document.getString("name")</a:t>
            </a:r>
          </a:p>
          <a:p>
            <a:pPr marL="0" indent="0" algn="l">
              <a:lnSpc>
                <a:spcPct val="135000"/>
              </a:lnSpc>
              <a:buNone/>
            </a:pPr>
            <a:r>
              <a:rPr lang="en-US" sz="1300" dirty="0">
                <a:solidFill>
                  <a:srgbClr val="D9E6E4"/>
                </a:solidFill>
                <a:latin typeface="Consolas" pitchFamily="34" charset="0"/>
                <a:cs typeface="Consolas" pitchFamily="34" charset="0"/>
              </a:rPr>
              <a:t>            val email = document.getString("email")</a:t>
            </a:r>
          </a:p>
          <a:p>
            <a:pPr marL="0" indent="0" algn="l">
              <a:lnSpc>
                <a:spcPct val="135000"/>
              </a:lnSpc>
              <a:buNone/>
            </a:pPr>
            <a:r>
              <a:rPr lang="en-US" sz="1300" dirty="0">
                <a:solidFill>
                  <a:srgbClr val="D9E6E4"/>
                </a:solidFill>
                <a:latin typeface="Consolas" pitchFamily="34" charset="0"/>
                <a:cs typeface="Consolas" pitchFamily="34" charset="0"/>
              </a:rPr>
              <a:t>            // Update UI / ViewModel with data</a:t>
            </a:r>
          </a:p>
          <a:p>
            <a:pPr marL="0" indent="0" algn="l">
              <a:lnSpc>
                <a:spcPct val="135000"/>
              </a:lnSpc>
              <a:buNone/>
            </a:pPr>
            <a:r>
              <a:rPr lang="en-US" sz="1300" dirty="0">
                <a:solidFill>
                  <a:srgbClr val="D9E6E4"/>
                </a:solidFill>
                <a:latin typeface="Consolas" pitchFamily="34" charset="0"/>
                <a:cs typeface="Consolas" pitchFamily="34" charset="0"/>
              </a:rPr>
              <a:t>        }</a:t>
            </a:r>
          </a:p>
          <a:p>
            <a:pPr marL="0" indent="0" algn="l">
              <a:lnSpc>
                <a:spcPct val="135000"/>
              </a:lnSpc>
              <a:buNone/>
            </a:pPr>
            <a:r>
              <a:rPr lang="en-US" sz="1300" dirty="0">
                <a:solidFill>
                  <a:srgbClr val="D9E6E4"/>
                </a:solidFill>
                <a:latin typeface="Consolas" pitchFamily="34" charset="0"/>
                <a:cs typeface="Consolas" pitchFamily="34" charset="0"/>
              </a:rPr>
              <a:t>    }</a:t>
            </a:r>
          </a:p>
          <a:p>
            <a:pPr marL="0" indent="0" algn="l">
              <a:lnSpc>
                <a:spcPct val="135000"/>
              </a:lnSpc>
              <a:buNone/>
            </a:pPr>
            <a:r>
              <a:rPr lang="en-US" sz="1300" dirty="0">
                <a:solidFill>
                  <a:srgbClr val="D9E6E4"/>
                </a:solidFill>
                <a:latin typeface="Consolas" pitchFamily="34" charset="0"/>
                <a:cs typeface="Consolas" pitchFamily="34" charset="0"/>
              </a:rPr>
              <a:t>    .addOnFailureListener { exception -&gt;</a:t>
            </a:r>
          </a:p>
          <a:p>
            <a:pPr marL="0" indent="0" algn="l">
              <a:lnSpc>
                <a:spcPct val="135000"/>
              </a:lnSpc>
              <a:buNone/>
            </a:pPr>
            <a:r>
              <a:rPr lang="en-US" sz="1300" dirty="0">
                <a:solidFill>
                  <a:srgbClr val="D9E6E4"/>
                </a:solidFill>
                <a:latin typeface="Consolas" pitchFamily="34" charset="0"/>
                <a:cs typeface="Consolas" pitchFamily="34" charset="0"/>
              </a:rPr>
              <a:t>        // Handle network or permission error</a:t>
            </a:r>
          </a:p>
          <a:p>
            <a:pPr marL="0" indent="0" algn="l">
              <a:lnSpc>
                <a:spcPct val="135000"/>
              </a:lnSpc>
              <a:buNone/>
            </a:pPr>
            <a:r>
              <a:rPr lang="en-US" sz="1300" dirty="0">
                <a:solidFill>
                  <a:srgbClr val="D9E6E4"/>
                </a:solidFill>
                <a:latin typeface="Consolas" pitchFamily="34" charset="0"/>
                <a:cs typeface="Consolas" pitchFamily="34" charset="0"/>
              </a:rPr>
              <a:t>    }</a:t>
            </a:r>
          </a:p>
        </p:txBody>
      </p:sp>
      <p:sp>
        <p:nvSpPr>
          <p:cNvPr id="9" name="Dot"/>
          <p:cNvSpPr/>
          <p:nvPr/>
        </p:nvSpPr>
        <p:spPr>
          <a:xfrm>
            <a:off x="482600" y="5960040"/>
            <a:ext cx="127000" cy="127000"/>
          </a:xfrm>
          <a:prstGeom prst="ellipse">
            <a:avLst/>
          </a:prstGeom>
          <a:solidFill>
            <a:srgbClr val="2D6B6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"/>
          <p:cNvSpPr/>
          <p:nvPr/>
        </p:nvSpPr>
        <p:spPr>
          <a:xfrm>
            <a:off x="838200" y="5833040"/>
            <a:ext cx="10871200" cy="52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2000" dirty="0">
                <a:solidFill>
                  <a:srgbClr val="262626"/>
                </a:solidFill>
                <a:latin typeface="Calibri" pitchFamily="34" charset="0"/>
                <a:cs typeface="Calibri" pitchFamily="34" charset="0"/>
              </a:rPr>
              <a:t>Real applications should move data work out of the UI thread and expose loading/error/success states to the UI.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r"/>
          <p:cNvSpPr/>
          <p:nvPr/>
        </p:nvSpPr>
        <p:spPr>
          <a:xfrm>
            <a:off x="0" y="0"/>
            <a:ext cx="12184380" cy="109728"/>
          </a:xfrm>
          <a:prstGeom prst="rect">
            <a:avLst/>
          </a:prstGeom>
          <a:solidFill>
            <a:srgbClr val="2D6B66"/>
          </a:solidFill>
          <a:ln/>
        </p:spPr>
        <p:txBody>
          <a:bodyPr wrap="square" lIns="0" tIns="0" rIns="0" bIns="0" rtlCol="0" anchor="t"/>
          <a:lstStyle/>
          <a:p>
            <a:endParaRPr lang="en-US"/>
          </a:p>
        </p:txBody>
      </p:sp>
      <p:sp>
        <p:nvSpPr>
          <p:cNvPr id="3" name="Text"/>
          <p:cNvSpPr/>
          <p:nvPr/>
        </p:nvSpPr>
        <p:spPr>
          <a:xfrm>
            <a:off x="457200" y="237744"/>
            <a:ext cx="10515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spc="200" dirty="0">
                <a:solidFill>
                  <a:srgbClr val="2D6B66"/>
                </a:solidFill>
                <a:latin typeface="Calibri" pitchFamily="34" charset="0"/>
                <a:cs typeface="Calibri" pitchFamily="34" charset="0"/>
              </a:rPr>
              <a:t>MOBILE APPLICATION DEVELOPMENT  ·  DATABASE CONNECTIVITY</a:t>
            </a:r>
          </a:p>
        </p:txBody>
      </p:sp>
      <p:sp>
        <p:nvSpPr>
          <p:cNvPr id="4" name="Text"/>
          <p:cNvSpPr/>
          <p:nvPr/>
        </p:nvSpPr>
        <p:spPr>
          <a:xfrm>
            <a:off x="457200" y="530352"/>
            <a:ext cx="1123950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3300" b="1" dirty="0">
                <a:solidFill>
                  <a:srgbClr val="262626"/>
                </a:solidFill>
                <a:latin typeface="Calibri Light" pitchFamily="34" charset="0"/>
                <a:cs typeface="Calibri Light" pitchFamily="34" charset="0"/>
              </a:rPr>
              <a:t>What Is Data Synchronization?</a:t>
            </a:r>
          </a:p>
        </p:txBody>
      </p:sp>
      <p:sp>
        <p:nvSpPr>
          <p:cNvPr id="5" name="Rule"/>
          <p:cNvSpPr/>
          <p:nvPr/>
        </p:nvSpPr>
        <p:spPr>
          <a:xfrm>
            <a:off x="457200" y="1243584"/>
            <a:ext cx="1005840" cy="0"/>
          </a:xfrm>
          <a:prstGeom prst="line">
            <a:avLst/>
          </a:prstGeom>
          <a:noFill/>
          <a:ln w="31750">
            <a:solidFill>
              <a:srgbClr val="660000"/>
            </a:solidFill>
            <a:prstDash val="solid"/>
          </a:ln>
        </p:spPr>
        <p:txBody>
          <a:bodyPr wrap="square" lIns="0" tIns="0" rIns="0" bIns="0" rtlCol="0" anchor="t"/>
          <a:lstStyle/>
          <a:p>
            <a:endParaRPr lang="en-US"/>
          </a:p>
        </p:txBody>
      </p:sp>
      <p:sp>
        <p:nvSpPr>
          <p:cNvPr id="6" name="Text"/>
          <p:cNvSpPr/>
          <p:nvPr/>
        </p:nvSpPr>
        <p:spPr>
          <a:xfrm>
            <a:off x="8778240" y="6337300"/>
            <a:ext cx="2954020" cy="2921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300" dirty="0">
                <a:solidFill>
                  <a:srgbClr val="595959"/>
                </a:solidFill>
                <a:latin typeface="Calibri" pitchFamily="34" charset="0"/>
                <a:cs typeface="Calibri" pitchFamily="34" charset="0"/>
              </a:rPr>
              <a:t>Mobile Application Development  ·  24 / 34</a:t>
            </a:r>
          </a:p>
        </p:txBody>
      </p:sp>
      <p:sp>
        <p:nvSpPr>
          <p:cNvPr id="7" name="Dot"/>
          <p:cNvSpPr/>
          <p:nvPr/>
        </p:nvSpPr>
        <p:spPr>
          <a:xfrm>
            <a:off x="482600" y="1600200"/>
            <a:ext cx="127000" cy="127000"/>
          </a:xfrm>
          <a:prstGeom prst="ellipse">
            <a:avLst/>
          </a:prstGeom>
          <a:solidFill>
            <a:srgbClr val="2D6B6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"/>
          <p:cNvSpPr/>
          <p:nvPr/>
        </p:nvSpPr>
        <p:spPr>
          <a:xfrm>
            <a:off x="838200" y="1473200"/>
            <a:ext cx="10871200" cy="660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2000" dirty="0">
                <a:solidFill>
                  <a:srgbClr val="262626"/>
                </a:solidFill>
                <a:latin typeface="Calibri" pitchFamily="34" charset="0"/>
                <a:cs typeface="Calibri" pitchFamily="34" charset="0"/>
              </a:rPr>
              <a:t>Synchronization is the process of keeping data consistent between two or more locations.</a:t>
            </a:r>
          </a:p>
        </p:txBody>
      </p:sp>
      <p:sp>
        <p:nvSpPr>
          <p:cNvPr id="9" name="Dot"/>
          <p:cNvSpPr/>
          <p:nvPr/>
        </p:nvSpPr>
        <p:spPr>
          <a:xfrm>
            <a:off x="482600" y="2260600"/>
            <a:ext cx="127000" cy="127000"/>
          </a:xfrm>
          <a:prstGeom prst="ellipse">
            <a:avLst/>
          </a:prstGeom>
          <a:solidFill>
            <a:srgbClr val="2D6B6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"/>
          <p:cNvSpPr/>
          <p:nvPr/>
        </p:nvSpPr>
        <p:spPr>
          <a:xfrm>
            <a:off x="838200" y="2133600"/>
            <a:ext cx="10871200" cy="660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2000" dirty="0">
                <a:solidFill>
                  <a:srgbClr val="262626"/>
                </a:solidFill>
                <a:latin typeface="Calibri" pitchFamily="34" charset="0"/>
                <a:cs typeface="Calibri" pitchFamily="34" charset="0"/>
              </a:rPr>
              <a:t>Typical Android example: local Room database ↔ cloud database.</a:t>
            </a:r>
          </a:p>
        </p:txBody>
      </p:sp>
      <p:sp>
        <p:nvSpPr>
          <p:cNvPr id="11" name="Dot"/>
          <p:cNvSpPr/>
          <p:nvPr/>
        </p:nvSpPr>
        <p:spPr>
          <a:xfrm>
            <a:off x="482600" y="2921000"/>
            <a:ext cx="127000" cy="127000"/>
          </a:xfrm>
          <a:prstGeom prst="ellipse">
            <a:avLst/>
          </a:prstGeom>
          <a:solidFill>
            <a:srgbClr val="2D6B6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Text"/>
          <p:cNvSpPr/>
          <p:nvPr/>
        </p:nvSpPr>
        <p:spPr>
          <a:xfrm>
            <a:off x="838200" y="2794000"/>
            <a:ext cx="10871200" cy="660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2000" dirty="0">
                <a:solidFill>
                  <a:srgbClr val="262626"/>
                </a:solidFill>
                <a:latin typeface="Calibri" pitchFamily="34" charset="0"/>
                <a:cs typeface="Calibri" pitchFamily="34" charset="0"/>
              </a:rPr>
              <a:t>Synchronization must handle connectivity changes, retries, duplicate updates, stale data, and conflicting edits.</a:t>
            </a:r>
          </a:p>
        </p:txBody>
      </p:sp>
      <p:sp>
        <p:nvSpPr>
          <p:cNvPr id="13" name="Dot"/>
          <p:cNvSpPr/>
          <p:nvPr/>
        </p:nvSpPr>
        <p:spPr>
          <a:xfrm>
            <a:off x="482600" y="3581400"/>
            <a:ext cx="127000" cy="127000"/>
          </a:xfrm>
          <a:prstGeom prst="ellipse">
            <a:avLst/>
          </a:prstGeom>
          <a:solidFill>
            <a:srgbClr val="2D6B6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Text"/>
          <p:cNvSpPr/>
          <p:nvPr/>
        </p:nvSpPr>
        <p:spPr>
          <a:xfrm>
            <a:off x="838200" y="3454400"/>
            <a:ext cx="10871200" cy="660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2000" dirty="0">
                <a:solidFill>
                  <a:srgbClr val="262626"/>
                </a:solidFill>
                <a:latin typeface="Calibri" pitchFamily="34" charset="0"/>
                <a:cs typeface="Calibri" pitchFamily="34" charset="0"/>
              </a:rPr>
              <a:t>The goal is not simply ‘copy everything’; it is to define clear rules for what data is authoritative and when updates are exchanged.</a:t>
            </a:r>
          </a:p>
        </p:txBody>
      </p:sp>
      <p:sp>
        <p:nvSpPr>
          <p:cNvPr id="15" name="Text"/>
          <p:cNvSpPr/>
          <p:nvPr/>
        </p:nvSpPr>
        <p:spPr>
          <a:xfrm>
            <a:off x="457200" y="4394200"/>
            <a:ext cx="11277600" cy="431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2000" b="1" dirty="0">
                <a:solidFill>
                  <a:srgbClr val="2D6B66"/>
                </a:solidFill>
                <a:latin typeface="Calibri" pitchFamily="34" charset="0"/>
                <a:cs typeface="Calibri" pitchFamily="34" charset="0"/>
              </a:rPr>
              <a:t>Source of truth: decide whether the cloud, local database, or a defined conflict-resolution rule is authoritative.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r"/>
          <p:cNvSpPr/>
          <p:nvPr/>
        </p:nvSpPr>
        <p:spPr>
          <a:xfrm>
            <a:off x="0" y="0"/>
            <a:ext cx="12184380" cy="109728"/>
          </a:xfrm>
          <a:prstGeom prst="rect">
            <a:avLst/>
          </a:prstGeom>
          <a:solidFill>
            <a:srgbClr val="2D6B66"/>
          </a:solidFill>
          <a:ln/>
        </p:spPr>
        <p:txBody>
          <a:bodyPr wrap="square" lIns="0" tIns="0" rIns="0" bIns="0" rtlCol="0" anchor="t"/>
          <a:lstStyle/>
          <a:p>
            <a:endParaRPr lang="en-US"/>
          </a:p>
        </p:txBody>
      </p:sp>
      <p:sp>
        <p:nvSpPr>
          <p:cNvPr id="3" name="Text"/>
          <p:cNvSpPr/>
          <p:nvPr/>
        </p:nvSpPr>
        <p:spPr>
          <a:xfrm>
            <a:off x="457200" y="237744"/>
            <a:ext cx="10515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spc="200" dirty="0">
                <a:solidFill>
                  <a:srgbClr val="2D6B66"/>
                </a:solidFill>
                <a:latin typeface="Calibri" pitchFamily="34" charset="0"/>
                <a:cs typeface="Calibri" pitchFamily="34" charset="0"/>
              </a:rPr>
              <a:t>MOBILE APPLICATION DEVELOPMENT  ·  DATABASE CONNECTIVITY</a:t>
            </a:r>
          </a:p>
        </p:txBody>
      </p:sp>
      <p:sp>
        <p:nvSpPr>
          <p:cNvPr id="4" name="Text"/>
          <p:cNvSpPr/>
          <p:nvPr/>
        </p:nvSpPr>
        <p:spPr>
          <a:xfrm>
            <a:off x="457200" y="530352"/>
            <a:ext cx="1123950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3300" b="1" dirty="0">
                <a:solidFill>
                  <a:srgbClr val="262626"/>
                </a:solidFill>
                <a:latin typeface="Calibri Light" pitchFamily="34" charset="0"/>
                <a:cs typeface="Calibri Light" pitchFamily="34" charset="0"/>
              </a:rPr>
              <a:t>Common Synchronization Strategies</a:t>
            </a:r>
          </a:p>
        </p:txBody>
      </p:sp>
      <p:sp>
        <p:nvSpPr>
          <p:cNvPr id="5" name="Rule"/>
          <p:cNvSpPr/>
          <p:nvPr/>
        </p:nvSpPr>
        <p:spPr>
          <a:xfrm>
            <a:off x="457200" y="1243584"/>
            <a:ext cx="1005840" cy="0"/>
          </a:xfrm>
          <a:prstGeom prst="line">
            <a:avLst/>
          </a:prstGeom>
          <a:noFill/>
          <a:ln w="31750">
            <a:solidFill>
              <a:srgbClr val="660000"/>
            </a:solidFill>
            <a:prstDash val="solid"/>
          </a:ln>
        </p:spPr>
        <p:txBody>
          <a:bodyPr wrap="square" lIns="0" tIns="0" rIns="0" bIns="0" rtlCol="0" anchor="t"/>
          <a:lstStyle/>
          <a:p>
            <a:endParaRPr lang="en-US"/>
          </a:p>
        </p:txBody>
      </p:sp>
      <p:sp>
        <p:nvSpPr>
          <p:cNvPr id="6" name="Text"/>
          <p:cNvSpPr/>
          <p:nvPr/>
        </p:nvSpPr>
        <p:spPr>
          <a:xfrm>
            <a:off x="8778240" y="6337300"/>
            <a:ext cx="2954020" cy="2921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300" dirty="0">
                <a:solidFill>
                  <a:srgbClr val="595959"/>
                </a:solidFill>
                <a:latin typeface="Calibri" pitchFamily="34" charset="0"/>
                <a:cs typeface="Calibri" pitchFamily="34" charset="0"/>
              </a:rPr>
              <a:t>Mobile Application Development  ·  25 / 34</a:t>
            </a:r>
          </a:p>
        </p:txBody>
      </p:sp>
      <p:sp>
        <p:nvSpPr>
          <p:cNvPr id="7" name="Card"/>
          <p:cNvSpPr/>
          <p:nvPr/>
        </p:nvSpPr>
        <p:spPr>
          <a:xfrm>
            <a:off x="457200" y="1473200"/>
            <a:ext cx="2680599" cy="2540000"/>
          </a:xfrm>
          <a:prstGeom prst="roundRect">
            <a:avLst>
              <a:gd name="adj" fmla="val 4571"/>
            </a:avLst>
          </a:prstGeom>
          <a:solidFill>
            <a:srgbClr val="FFFFFF"/>
          </a:solidFill>
          <a:ln w="22225">
            <a:solidFill>
              <a:srgbClr val="2D6B66"/>
            </a:solidFill>
            <a:prstDash val="solid"/>
          </a:ln>
        </p:spPr>
        <p:txBody>
          <a:bodyPr wrap="square" lIns="0" tIns="0" rIns="0" bIns="0" rtlCol="0" anchor="t"/>
          <a:lstStyle/>
          <a:p>
            <a:endParaRPr lang="en-US" sz="2000"/>
          </a:p>
        </p:txBody>
      </p:sp>
      <p:sp>
        <p:nvSpPr>
          <p:cNvPr id="8" name="Text"/>
          <p:cNvSpPr/>
          <p:nvPr/>
        </p:nvSpPr>
        <p:spPr>
          <a:xfrm>
            <a:off x="660400" y="1651000"/>
            <a:ext cx="2274199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2000" b="1" dirty="0">
                <a:solidFill>
                  <a:srgbClr val="262626"/>
                </a:solidFill>
                <a:latin typeface="Calibri" pitchFamily="34" charset="0"/>
                <a:cs typeface="Calibri" pitchFamily="34" charset="0"/>
              </a:rPr>
              <a:t>Online-only</a:t>
            </a:r>
          </a:p>
        </p:txBody>
      </p:sp>
      <p:sp>
        <p:nvSpPr>
          <p:cNvPr id="9" name="Text"/>
          <p:cNvSpPr/>
          <p:nvPr/>
        </p:nvSpPr>
        <p:spPr>
          <a:xfrm>
            <a:off x="660400" y="2209800"/>
            <a:ext cx="2274199" cy="165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8000"/>
              </a:lnSpc>
              <a:buNone/>
            </a:pPr>
            <a:r>
              <a:rPr lang="en-US" sz="1900" dirty="0">
                <a:solidFill>
                  <a:srgbClr val="595959"/>
                </a:solidFill>
                <a:latin typeface="Calibri" pitchFamily="34" charset="0"/>
                <a:cs typeface="Calibri" pitchFamily="34" charset="0"/>
              </a:rPr>
              <a:t>Read/write directly against cloud. Simple architecture, but poor offline experience.</a:t>
            </a:r>
          </a:p>
        </p:txBody>
      </p:sp>
      <p:sp>
        <p:nvSpPr>
          <p:cNvPr id="10" name="Card"/>
          <p:cNvSpPr/>
          <p:nvPr/>
        </p:nvSpPr>
        <p:spPr>
          <a:xfrm>
            <a:off x="3322866" y="1473200"/>
            <a:ext cx="2680599" cy="2540000"/>
          </a:xfrm>
          <a:prstGeom prst="roundRect">
            <a:avLst>
              <a:gd name="adj" fmla="val 4571"/>
            </a:avLst>
          </a:prstGeom>
          <a:solidFill>
            <a:srgbClr val="FFFFFF"/>
          </a:solidFill>
          <a:ln w="22225">
            <a:solidFill>
              <a:srgbClr val="2D6B66"/>
            </a:solidFill>
            <a:prstDash val="solid"/>
          </a:ln>
        </p:spPr>
        <p:txBody>
          <a:bodyPr wrap="square" lIns="0" tIns="0" rIns="0" bIns="0" rtlCol="0" anchor="t"/>
          <a:lstStyle/>
          <a:p>
            <a:endParaRPr lang="en-US" sz="2000"/>
          </a:p>
        </p:txBody>
      </p:sp>
      <p:sp>
        <p:nvSpPr>
          <p:cNvPr id="11" name="Text"/>
          <p:cNvSpPr/>
          <p:nvPr/>
        </p:nvSpPr>
        <p:spPr>
          <a:xfrm>
            <a:off x="3526066" y="1651000"/>
            <a:ext cx="2274199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2000" b="1" dirty="0">
                <a:solidFill>
                  <a:srgbClr val="262626"/>
                </a:solidFill>
                <a:latin typeface="Calibri" pitchFamily="34" charset="0"/>
                <a:cs typeface="Calibri" pitchFamily="34" charset="0"/>
              </a:rPr>
              <a:t>Periodic Sync</a:t>
            </a:r>
          </a:p>
        </p:txBody>
      </p:sp>
      <p:sp>
        <p:nvSpPr>
          <p:cNvPr id="12" name="Text"/>
          <p:cNvSpPr/>
          <p:nvPr/>
        </p:nvSpPr>
        <p:spPr>
          <a:xfrm>
            <a:off x="3526066" y="2209800"/>
            <a:ext cx="2274199" cy="165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8000"/>
              </a:lnSpc>
              <a:buNone/>
            </a:pPr>
            <a:r>
              <a:rPr lang="en-US" sz="1900" dirty="0">
                <a:solidFill>
                  <a:srgbClr val="595959"/>
                </a:solidFill>
                <a:latin typeface="Calibri" pitchFamily="34" charset="0"/>
                <a:cs typeface="Calibri" pitchFamily="34" charset="0"/>
              </a:rPr>
              <a:t>Upload/download at intervals or when the app starts. Lower continuous network use.</a:t>
            </a:r>
          </a:p>
        </p:txBody>
      </p:sp>
      <p:sp>
        <p:nvSpPr>
          <p:cNvPr id="13" name="Card"/>
          <p:cNvSpPr/>
          <p:nvPr/>
        </p:nvSpPr>
        <p:spPr>
          <a:xfrm>
            <a:off x="6188532" y="1473200"/>
            <a:ext cx="2680599" cy="2540000"/>
          </a:xfrm>
          <a:prstGeom prst="roundRect">
            <a:avLst>
              <a:gd name="adj" fmla="val 4571"/>
            </a:avLst>
          </a:prstGeom>
          <a:solidFill>
            <a:srgbClr val="FFFFFF"/>
          </a:solidFill>
          <a:ln w="22225">
            <a:solidFill>
              <a:srgbClr val="2D6B66"/>
            </a:solidFill>
            <a:prstDash val="solid"/>
          </a:ln>
        </p:spPr>
        <p:txBody>
          <a:bodyPr wrap="square" lIns="0" tIns="0" rIns="0" bIns="0" rtlCol="0" anchor="t"/>
          <a:lstStyle/>
          <a:p>
            <a:endParaRPr lang="en-US" sz="2000"/>
          </a:p>
        </p:txBody>
      </p:sp>
      <p:sp>
        <p:nvSpPr>
          <p:cNvPr id="14" name="Text"/>
          <p:cNvSpPr/>
          <p:nvPr/>
        </p:nvSpPr>
        <p:spPr>
          <a:xfrm>
            <a:off x="6391732" y="1651000"/>
            <a:ext cx="2274199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2000" b="1" dirty="0">
                <a:solidFill>
                  <a:srgbClr val="262626"/>
                </a:solidFill>
                <a:latin typeface="Calibri" pitchFamily="34" charset="0"/>
                <a:cs typeface="Calibri" pitchFamily="34" charset="0"/>
              </a:rPr>
              <a:t>Event-driven / Real-time</a:t>
            </a:r>
          </a:p>
        </p:txBody>
      </p:sp>
      <p:sp>
        <p:nvSpPr>
          <p:cNvPr id="15" name="Text"/>
          <p:cNvSpPr/>
          <p:nvPr/>
        </p:nvSpPr>
        <p:spPr>
          <a:xfrm>
            <a:off x="6391732" y="2209800"/>
            <a:ext cx="2274199" cy="165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8000"/>
              </a:lnSpc>
              <a:buNone/>
            </a:pPr>
            <a:r>
              <a:rPr lang="en-US" sz="1900" dirty="0">
                <a:solidFill>
                  <a:srgbClr val="595959"/>
                </a:solidFill>
                <a:latin typeface="Calibri" pitchFamily="34" charset="0"/>
                <a:cs typeface="Calibri" pitchFamily="34" charset="0"/>
              </a:rPr>
              <a:t>Cloud changes trigger updates to connected clients. Useful for collaborative/live data.</a:t>
            </a:r>
          </a:p>
        </p:txBody>
      </p:sp>
      <p:sp>
        <p:nvSpPr>
          <p:cNvPr id="16" name="Card"/>
          <p:cNvSpPr/>
          <p:nvPr/>
        </p:nvSpPr>
        <p:spPr>
          <a:xfrm>
            <a:off x="9054198" y="1473200"/>
            <a:ext cx="2680599" cy="2540000"/>
          </a:xfrm>
          <a:prstGeom prst="roundRect">
            <a:avLst>
              <a:gd name="adj" fmla="val 4571"/>
            </a:avLst>
          </a:prstGeom>
          <a:solidFill>
            <a:srgbClr val="FFFFFF"/>
          </a:solidFill>
          <a:ln w="22225">
            <a:solidFill>
              <a:srgbClr val="2D6B66"/>
            </a:solidFill>
            <a:prstDash val="solid"/>
          </a:ln>
        </p:spPr>
        <p:txBody>
          <a:bodyPr wrap="square" lIns="0" tIns="0" rIns="0" bIns="0" rtlCol="0" anchor="t"/>
          <a:lstStyle/>
          <a:p>
            <a:endParaRPr lang="en-US" sz="2000"/>
          </a:p>
        </p:txBody>
      </p:sp>
      <p:sp>
        <p:nvSpPr>
          <p:cNvPr id="17" name="Text"/>
          <p:cNvSpPr/>
          <p:nvPr/>
        </p:nvSpPr>
        <p:spPr>
          <a:xfrm>
            <a:off x="9257398" y="1651000"/>
            <a:ext cx="2274199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2000" b="1" dirty="0">
                <a:solidFill>
                  <a:srgbClr val="262626"/>
                </a:solidFill>
                <a:latin typeface="Calibri" pitchFamily="34" charset="0"/>
                <a:cs typeface="Calibri" pitchFamily="34" charset="0"/>
              </a:rPr>
              <a:t>Offline-first</a:t>
            </a:r>
          </a:p>
        </p:txBody>
      </p:sp>
      <p:sp>
        <p:nvSpPr>
          <p:cNvPr id="18" name="Text"/>
          <p:cNvSpPr/>
          <p:nvPr/>
        </p:nvSpPr>
        <p:spPr>
          <a:xfrm>
            <a:off x="9257398" y="2209800"/>
            <a:ext cx="2274199" cy="165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8000"/>
              </a:lnSpc>
              <a:buNone/>
            </a:pPr>
            <a:r>
              <a:rPr lang="en-US" sz="1900" dirty="0">
                <a:solidFill>
                  <a:srgbClr val="595959"/>
                </a:solidFill>
                <a:latin typeface="Calibri" pitchFamily="34" charset="0"/>
                <a:cs typeface="Calibri" pitchFamily="34" charset="0"/>
              </a:rPr>
              <a:t>Local database is used immediately; changes synchronize when connectivity returns.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r"/>
          <p:cNvSpPr/>
          <p:nvPr/>
        </p:nvSpPr>
        <p:spPr>
          <a:xfrm>
            <a:off x="0" y="0"/>
            <a:ext cx="12184380" cy="109728"/>
          </a:xfrm>
          <a:prstGeom prst="rect">
            <a:avLst/>
          </a:prstGeom>
          <a:solidFill>
            <a:srgbClr val="2D6B66"/>
          </a:solidFill>
          <a:ln/>
        </p:spPr>
        <p:txBody>
          <a:bodyPr wrap="square" lIns="0" tIns="0" rIns="0" bIns="0" rtlCol="0" anchor="t"/>
          <a:lstStyle/>
          <a:p>
            <a:endParaRPr lang="en-US"/>
          </a:p>
        </p:txBody>
      </p:sp>
      <p:sp>
        <p:nvSpPr>
          <p:cNvPr id="3" name="Text"/>
          <p:cNvSpPr/>
          <p:nvPr/>
        </p:nvSpPr>
        <p:spPr>
          <a:xfrm>
            <a:off x="457200" y="237744"/>
            <a:ext cx="10515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spc="200" dirty="0">
                <a:solidFill>
                  <a:srgbClr val="2D6B66"/>
                </a:solidFill>
                <a:latin typeface="Calibri" pitchFamily="34" charset="0"/>
                <a:cs typeface="Calibri" pitchFamily="34" charset="0"/>
              </a:rPr>
              <a:t>MOBILE APPLICATION DEVELOPMENT  ·  DATABASE CONNECTIVITY</a:t>
            </a:r>
          </a:p>
        </p:txBody>
      </p:sp>
      <p:sp>
        <p:nvSpPr>
          <p:cNvPr id="4" name="Text"/>
          <p:cNvSpPr/>
          <p:nvPr/>
        </p:nvSpPr>
        <p:spPr>
          <a:xfrm>
            <a:off x="457200" y="530352"/>
            <a:ext cx="1123950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3300" b="1" dirty="0">
                <a:solidFill>
                  <a:srgbClr val="262626"/>
                </a:solidFill>
                <a:latin typeface="Calibri Light" pitchFamily="34" charset="0"/>
                <a:cs typeface="Calibri Light" pitchFamily="34" charset="0"/>
              </a:rPr>
              <a:t>Offline-First Synchronization Flow</a:t>
            </a:r>
          </a:p>
        </p:txBody>
      </p:sp>
      <p:sp>
        <p:nvSpPr>
          <p:cNvPr id="5" name="Rule"/>
          <p:cNvSpPr/>
          <p:nvPr/>
        </p:nvSpPr>
        <p:spPr>
          <a:xfrm>
            <a:off x="457200" y="1243584"/>
            <a:ext cx="1005840" cy="0"/>
          </a:xfrm>
          <a:prstGeom prst="line">
            <a:avLst/>
          </a:prstGeom>
          <a:noFill/>
          <a:ln w="31750">
            <a:solidFill>
              <a:srgbClr val="660000"/>
            </a:solidFill>
            <a:prstDash val="solid"/>
          </a:ln>
        </p:spPr>
        <p:txBody>
          <a:bodyPr wrap="square" lIns="0" tIns="0" rIns="0" bIns="0" rtlCol="0" anchor="t"/>
          <a:lstStyle/>
          <a:p>
            <a:endParaRPr lang="en-US"/>
          </a:p>
        </p:txBody>
      </p:sp>
      <p:sp>
        <p:nvSpPr>
          <p:cNvPr id="6" name="Text"/>
          <p:cNvSpPr/>
          <p:nvPr/>
        </p:nvSpPr>
        <p:spPr>
          <a:xfrm>
            <a:off x="8778240" y="6337300"/>
            <a:ext cx="2954020" cy="2921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300" dirty="0">
                <a:solidFill>
                  <a:srgbClr val="595959"/>
                </a:solidFill>
                <a:latin typeface="Calibri" pitchFamily="34" charset="0"/>
                <a:cs typeface="Calibri" pitchFamily="34" charset="0"/>
              </a:rPr>
              <a:t>Mobile Application Development  ·  26 / 34</a:t>
            </a:r>
          </a:p>
        </p:txBody>
      </p:sp>
      <p:sp>
        <p:nvSpPr>
          <p:cNvPr id="7" name="Badge"/>
          <p:cNvSpPr/>
          <p:nvPr/>
        </p:nvSpPr>
        <p:spPr>
          <a:xfrm>
            <a:off x="457200" y="1600200"/>
            <a:ext cx="419100" cy="419100"/>
          </a:xfrm>
          <a:prstGeom prst="ellipse">
            <a:avLst/>
          </a:prstGeom>
          <a:solidFill>
            <a:srgbClr val="2D6B6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BadgeTxt"/>
          <p:cNvSpPr/>
          <p:nvPr/>
        </p:nvSpPr>
        <p:spPr>
          <a:xfrm>
            <a:off x="457200" y="1600200"/>
            <a:ext cx="419100" cy="4191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cs typeface="Calibri" pitchFamily="34" charset="0"/>
              </a:rPr>
              <a:t>01</a:t>
            </a:r>
          </a:p>
        </p:txBody>
      </p:sp>
      <p:sp>
        <p:nvSpPr>
          <p:cNvPr id="9" name="Text"/>
          <p:cNvSpPr/>
          <p:nvPr/>
        </p:nvSpPr>
        <p:spPr>
          <a:xfrm>
            <a:off x="1066800" y="1562100"/>
            <a:ext cx="4724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2000" dirty="0">
                <a:solidFill>
                  <a:srgbClr val="262626"/>
                </a:solidFill>
                <a:latin typeface="Calibri" pitchFamily="34" charset="0"/>
                <a:cs typeface="Calibri" pitchFamily="34" charset="0"/>
              </a:rPr>
              <a:t>User changes data</a:t>
            </a:r>
          </a:p>
        </p:txBody>
      </p:sp>
      <p:sp>
        <p:nvSpPr>
          <p:cNvPr id="10" name="Badge"/>
          <p:cNvSpPr/>
          <p:nvPr/>
        </p:nvSpPr>
        <p:spPr>
          <a:xfrm>
            <a:off x="457200" y="2438400"/>
            <a:ext cx="419100" cy="419100"/>
          </a:xfrm>
          <a:prstGeom prst="ellipse">
            <a:avLst/>
          </a:prstGeom>
          <a:solidFill>
            <a:srgbClr val="2D6B6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BadgeTxt"/>
          <p:cNvSpPr/>
          <p:nvPr/>
        </p:nvSpPr>
        <p:spPr>
          <a:xfrm>
            <a:off x="457200" y="2438400"/>
            <a:ext cx="419100" cy="4191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cs typeface="Calibri" pitchFamily="34" charset="0"/>
              </a:rPr>
              <a:t>02</a:t>
            </a:r>
          </a:p>
        </p:txBody>
      </p:sp>
      <p:sp>
        <p:nvSpPr>
          <p:cNvPr id="12" name="Text"/>
          <p:cNvSpPr/>
          <p:nvPr/>
        </p:nvSpPr>
        <p:spPr>
          <a:xfrm>
            <a:off x="1066800" y="2400300"/>
            <a:ext cx="4724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2000" dirty="0">
                <a:solidFill>
                  <a:srgbClr val="262626"/>
                </a:solidFill>
                <a:latin typeface="Calibri" pitchFamily="34" charset="0"/>
                <a:cs typeface="Calibri" pitchFamily="34" charset="0"/>
              </a:rPr>
              <a:t>Save locally</a:t>
            </a:r>
          </a:p>
        </p:txBody>
      </p:sp>
      <p:sp>
        <p:nvSpPr>
          <p:cNvPr id="13" name="Badge"/>
          <p:cNvSpPr/>
          <p:nvPr/>
        </p:nvSpPr>
        <p:spPr>
          <a:xfrm>
            <a:off x="457200" y="3276600"/>
            <a:ext cx="419100" cy="419100"/>
          </a:xfrm>
          <a:prstGeom prst="ellipse">
            <a:avLst/>
          </a:prstGeom>
          <a:solidFill>
            <a:srgbClr val="2D6B6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BadgeTxt"/>
          <p:cNvSpPr/>
          <p:nvPr/>
        </p:nvSpPr>
        <p:spPr>
          <a:xfrm>
            <a:off x="457200" y="3276600"/>
            <a:ext cx="419100" cy="4191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cs typeface="Calibri" pitchFamily="34" charset="0"/>
              </a:rPr>
              <a:t>03</a:t>
            </a:r>
          </a:p>
        </p:txBody>
      </p:sp>
      <p:sp>
        <p:nvSpPr>
          <p:cNvPr id="15" name="Text"/>
          <p:cNvSpPr/>
          <p:nvPr/>
        </p:nvSpPr>
        <p:spPr>
          <a:xfrm>
            <a:off x="1066800" y="3238500"/>
            <a:ext cx="4724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2000" dirty="0">
                <a:solidFill>
                  <a:srgbClr val="262626"/>
                </a:solidFill>
                <a:latin typeface="Calibri" pitchFamily="34" charset="0"/>
                <a:cs typeface="Calibri" pitchFamily="34" charset="0"/>
              </a:rPr>
              <a:t>Mark pending sync</a:t>
            </a:r>
          </a:p>
        </p:txBody>
      </p:sp>
      <p:sp>
        <p:nvSpPr>
          <p:cNvPr id="16" name="Badge"/>
          <p:cNvSpPr/>
          <p:nvPr/>
        </p:nvSpPr>
        <p:spPr>
          <a:xfrm>
            <a:off x="457200" y="4114800"/>
            <a:ext cx="419100" cy="419100"/>
          </a:xfrm>
          <a:prstGeom prst="ellipse">
            <a:avLst/>
          </a:prstGeom>
          <a:solidFill>
            <a:srgbClr val="2D6B6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BadgeTxt"/>
          <p:cNvSpPr/>
          <p:nvPr/>
        </p:nvSpPr>
        <p:spPr>
          <a:xfrm>
            <a:off x="457200" y="4114800"/>
            <a:ext cx="419100" cy="4191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cs typeface="Calibri" pitchFamily="34" charset="0"/>
              </a:rPr>
              <a:t>04</a:t>
            </a:r>
          </a:p>
        </p:txBody>
      </p:sp>
      <p:sp>
        <p:nvSpPr>
          <p:cNvPr id="18" name="Text"/>
          <p:cNvSpPr/>
          <p:nvPr/>
        </p:nvSpPr>
        <p:spPr>
          <a:xfrm>
            <a:off x="1066800" y="4076700"/>
            <a:ext cx="4724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2000" dirty="0">
                <a:solidFill>
                  <a:srgbClr val="262626"/>
                </a:solidFill>
                <a:latin typeface="Calibri" pitchFamily="34" charset="0"/>
                <a:cs typeface="Calibri" pitchFamily="34" charset="0"/>
              </a:rPr>
              <a:t>Network available</a:t>
            </a:r>
          </a:p>
        </p:txBody>
      </p:sp>
      <p:sp>
        <p:nvSpPr>
          <p:cNvPr id="19" name="Badge"/>
          <p:cNvSpPr/>
          <p:nvPr/>
        </p:nvSpPr>
        <p:spPr>
          <a:xfrm>
            <a:off x="6248400" y="1600200"/>
            <a:ext cx="419100" cy="419100"/>
          </a:xfrm>
          <a:prstGeom prst="ellipse">
            <a:avLst/>
          </a:prstGeom>
          <a:solidFill>
            <a:srgbClr val="2D6B6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0" name="BadgeTxt"/>
          <p:cNvSpPr/>
          <p:nvPr/>
        </p:nvSpPr>
        <p:spPr>
          <a:xfrm>
            <a:off x="6248400" y="1600200"/>
            <a:ext cx="419100" cy="4191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cs typeface="Calibri" pitchFamily="34" charset="0"/>
              </a:rPr>
              <a:t>05</a:t>
            </a:r>
          </a:p>
        </p:txBody>
      </p:sp>
      <p:sp>
        <p:nvSpPr>
          <p:cNvPr id="21" name="Text"/>
          <p:cNvSpPr/>
          <p:nvPr/>
        </p:nvSpPr>
        <p:spPr>
          <a:xfrm>
            <a:off x="6858000" y="1562100"/>
            <a:ext cx="4724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2000" dirty="0">
                <a:solidFill>
                  <a:srgbClr val="262626"/>
                </a:solidFill>
                <a:latin typeface="Calibri" pitchFamily="34" charset="0"/>
                <a:cs typeface="Calibri" pitchFamily="34" charset="0"/>
              </a:rPr>
              <a:t>Push changes</a:t>
            </a:r>
          </a:p>
        </p:txBody>
      </p:sp>
      <p:sp>
        <p:nvSpPr>
          <p:cNvPr id="22" name="Badge"/>
          <p:cNvSpPr/>
          <p:nvPr/>
        </p:nvSpPr>
        <p:spPr>
          <a:xfrm>
            <a:off x="6248400" y="2438400"/>
            <a:ext cx="419100" cy="419100"/>
          </a:xfrm>
          <a:prstGeom prst="ellipse">
            <a:avLst/>
          </a:prstGeom>
          <a:solidFill>
            <a:srgbClr val="2D6B6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3" name="BadgeTxt"/>
          <p:cNvSpPr/>
          <p:nvPr/>
        </p:nvSpPr>
        <p:spPr>
          <a:xfrm>
            <a:off x="6248400" y="2438400"/>
            <a:ext cx="419100" cy="4191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cs typeface="Calibri" pitchFamily="34" charset="0"/>
              </a:rPr>
              <a:t>06</a:t>
            </a:r>
          </a:p>
        </p:txBody>
      </p:sp>
      <p:sp>
        <p:nvSpPr>
          <p:cNvPr id="24" name="Text"/>
          <p:cNvSpPr/>
          <p:nvPr/>
        </p:nvSpPr>
        <p:spPr>
          <a:xfrm>
            <a:off x="6858000" y="2400300"/>
            <a:ext cx="4724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2000" dirty="0">
                <a:solidFill>
                  <a:srgbClr val="262626"/>
                </a:solidFill>
                <a:latin typeface="Calibri" pitchFamily="34" charset="0"/>
                <a:cs typeface="Calibri" pitchFamily="34" charset="0"/>
              </a:rPr>
              <a:t>Pull remote changes</a:t>
            </a:r>
          </a:p>
        </p:txBody>
      </p:sp>
      <p:sp>
        <p:nvSpPr>
          <p:cNvPr id="25" name="Badge"/>
          <p:cNvSpPr/>
          <p:nvPr/>
        </p:nvSpPr>
        <p:spPr>
          <a:xfrm>
            <a:off x="6248400" y="3276600"/>
            <a:ext cx="419100" cy="419100"/>
          </a:xfrm>
          <a:prstGeom prst="ellipse">
            <a:avLst/>
          </a:prstGeom>
          <a:solidFill>
            <a:srgbClr val="2D6B6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6" name="BadgeTxt"/>
          <p:cNvSpPr/>
          <p:nvPr/>
        </p:nvSpPr>
        <p:spPr>
          <a:xfrm>
            <a:off x="6248400" y="3276600"/>
            <a:ext cx="419100" cy="4191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cs typeface="Calibri" pitchFamily="34" charset="0"/>
              </a:rPr>
              <a:t>07</a:t>
            </a:r>
          </a:p>
        </p:txBody>
      </p:sp>
      <p:sp>
        <p:nvSpPr>
          <p:cNvPr id="27" name="Text"/>
          <p:cNvSpPr/>
          <p:nvPr/>
        </p:nvSpPr>
        <p:spPr>
          <a:xfrm>
            <a:off x="6858000" y="3238500"/>
            <a:ext cx="4724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2000" dirty="0">
                <a:solidFill>
                  <a:srgbClr val="262626"/>
                </a:solidFill>
                <a:latin typeface="Calibri" pitchFamily="34" charset="0"/>
                <a:cs typeface="Calibri" pitchFamily="34" charset="0"/>
              </a:rPr>
              <a:t>Resolve conflicts</a:t>
            </a:r>
          </a:p>
        </p:txBody>
      </p:sp>
      <p:sp>
        <p:nvSpPr>
          <p:cNvPr id="28" name="Badge"/>
          <p:cNvSpPr/>
          <p:nvPr/>
        </p:nvSpPr>
        <p:spPr>
          <a:xfrm>
            <a:off x="6248400" y="4114800"/>
            <a:ext cx="419100" cy="419100"/>
          </a:xfrm>
          <a:prstGeom prst="ellipse">
            <a:avLst/>
          </a:prstGeom>
          <a:solidFill>
            <a:srgbClr val="2D6B6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9" name="BadgeTxt"/>
          <p:cNvSpPr/>
          <p:nvPr/>
        </p:nvSpPr>
        <p:spPr>
          <a:xfrm>
            <a:off x="6248400" y="4114800"/>
            <a:ext cx="419100" cy="4191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cs typeface="Calibri" pitchFamily="34" charset="0"/>
              </a:rPr>
              <a:t>08</a:t>
            </a:r>
          </a:p>
        </p:txBody>
      </p:sp>
      <p:sp>
        <p:nvSpPr>
          <p:cNvPr id="30" name="Text"/>
          <p:cNvSpPr/>
          <p:nvPr/>
        </p:nvSpPr>
        <p:spPr>
          <a:xfrm>
            <a:off x="6858000" y="4076700"/>
            <a:ext cx="4724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2000" dirty="0">
                <a:solidFill>
                  <a:srgbClr val="262626"/>
                </a:solidFill>
                <a:latin typeface="Calibri" pitchFamily="34" charset="0"/>
                <a:cs typeface="Calibri" pitchFamily="34" charset="0"/>
              </a:rPr>
              <a:t>Update local DB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r"/>
          <p:cNvSpPr/>
          <p:nvPr/>
        </p:nvSpPr>
        <p:spPr>
          <a:xfrm>
            <a:off x="0" y="0"/>
            <a:ext cx="12184380" cy="109728"/>
          </a:xfrm>
          <a:prstGeom prst="rect">
            <a:avLst/>
          </a:prstGeom>
          <a:solidFill>
            <a:srgbClr val="2D6B66"/>
          </a:solidFill>
          <a:ln/>
        </p:spPr>
        <p:txBody>
          <a:bodyPr wrap="square" lIns="0" tIns="0" rIns="0" bIns="0" rtlCol="0" anchor="t"/>
          <a:lstStyle/>
          <a:p>
            <a:endParaRPr lang="en-US"/>
          </a:p>
        </p:txBody>
      </p:sp>
      <p:sp>
        <p:nvSpPr>
          <p:cNvPr id="3" name="Text"/>
          <p:cNvSpPr/>
          <p:nvPr/>
        </p:nvSpPr>
        <p:spPr>
          <a:xfrm>
            <a:off x="457200" y="237744"/>
            <a:ext cx="10515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spc="200" dirty="0">
                <a:solidFill>
                  <a:srgbClr val="2D6B66"/>
                </a:solidFill>
                <a:latin typeface="Calibri" pitchFamily="34" charset="0"/>
                <a:cs typeface="Calibri" pitchFamily="34" charset="0"/>
              </a:rPr>
              <a:t>MOBILE APPLICATION DEVELOPMENT  ·  DATABASE CONNECTIVITY</a:t>
            </a:r>
          </a:p>
        </p:txBody>
      </p:sp>
      <p:sp>
        <p:nvSpPr>
          <p:cNvPr id="4" name="Text"/>
          <p:cNvSpPr/>
          <p:nvPr/>
        </p:nvSpPr>
        <p:spPr>
          <a:xfrm>
            <a:off x="457200" y="530352"/>
            <a:ext cx="1123950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3300" b="1" dirty="0">
                <a:solidFill>
                  <a:srgbClr val="262626"/>
                </a:solidFill>
                <a:latin typeface="Calibri Light" pitchFamily="34" charset="0"/>
                <a:cs typeface="Calibri Light" pitchFamily="34" charset="0"/>
              </a:rPr>
              <a:t>Handling Synchronization Conflicts</a:t>
            </a:r>
          </a:p>
        </p:txBody>
      </p:sp>
      <p:sp>
        <p:nvSpPr>
          <p:cNvPr id="5" name="Rule"/>
          <p:cNvSpPr/>
          <p:nvPr/>
        </p:nvSpPr>
        <p:spPr>
          <a:xfrm>
            <a:off x="457200" y="1243584"/>
            <a:ext cx="1005840" cy="0"/>
          </a:xfrm>
          <a:prstGeom prst="line">
            <a:avLst/>
          </a:prstGeom>
          <a:noFill/>
          <a:ln w="31750">
            <a:solidFill>
              <a:srgbClr val="660000"/>
            </a:solidFill>
            <a:prstDash val="solid"/>
          </a:ln>
        </p:spPr>
        <p:txBody>
          <a:bodyPr wrap="square" lIns="0" tIns="0" rIns="0" bIns="0" rtlCol="0" anchor="t"/>
          <a:lstStyle/>
          <a:p>
            <a:endParaRPr lang="en-US"/>
          </a:p>
        </p:txBody>
      </p:sp>
      <p:sp>
        <p:nvSpPr>
          <p:cNvPr id="6" name="Text"/>
          <p:cNvSpPr/>
          <p:nvPr/>
        </p:nvSpPr>
        <p:spPr>
          <a:xfrm>
            <a:off x="8778240" y="6337300"/>
            <a:ext cx="2954020" cy="2921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300" dirty="0">
                <a:solidFill>
                  <a:srgbClr val="595959"/>
                </a:solidFill>
                <a:latin typeface="Calibri" pitchFamily="34" charset="0"/>
                <a:cs typeface="Calibri" pitchFamily="34" charset="0"/>
              </a:rPr>
              <a:t>Mobile Application Development  ·  27 / 34</a:t>
            </a:r>
          </a:p>
        </p:txBody>
      </p:sp>
      <p:sp>
        <p:nvSpPr>
          <p:cNvPr id="7" name="Dot"/>
          <p:cNvSpPr/>
          <p:nvPr/>
        </p:nvSpPr>
        <p:spPr>
          <a:xfrm>
            <a:off x="482600" y="1600200"/>
            <a:ext cx="127000" cy="127000"/>
          </a:xfrm>
          <a:prstGeom prst="ellipse">
            <a:avLst/>
          </a:prstGeom>
          <a:solidFill>
            <a:srgbClr val="2D6B6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"/>
          <p:cNvSpPr/>
          <p:nvPr/>
        </p:nvSpPr>
        <p:spPr>
          <a:xfrm>
            <a:off x="838200" y="1473200"/>
            <a:ext cx="10871200" cy="660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2000" dirty="0">
                <a:solidFill>
                  <a:srgbClr val="262626"/>
                </a:solidFill>
                <a:latin typeface="Calibri" pitchFamily="34" charset="0"/>
                <a:cs typeface="Calibri" pitchFamily="34" charset="0"/>
              </a:rPr>
              <a:t>Conflicts occur when the same logical record is changed in different places before synchronization completes.</a:t>
            </a:r>
          </a:p>
        </p:txBody>
      </p:sp>
      <p:sp>
        <p:nvSpPr>
          <p:cNvPr id="9" name="Dot"/>
          <p:cNvSpPr/>
          <p:nvPr/>
        </p:nvSpPr>
        <p:spPr>
          <a:xfrm>
            <a:off x="482600" y="2260600"/>
            <a:ext cx="127000" cy="127000"/>
          </a:xfrm>
          <a:prstGeom prst="ellipse">
            <a:avLst/>
          </a:prstGeom>
          <a:solidFill>
            <a:srgbClr val="2D6B6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"/>
          <p:cNvSpPr/>
          <p:nvPr/>
        </p:nvSpPr>
        <p:spPr>
          <a:xfrm>
            <a:off x="838200" y="2133600"/>
            <a:ext cx="10871200" cy="660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2000" dirty="0">
                <a:solidFill>
                  <a:srgbClr val="262626"/>
                </a:solidFill>
                <a:latin typeface="Calibri" pitchFamily="34" charset="0"/>
                <a:cs typeface="Calibri" pitchFamily="34" charset="0"/>
              </a:rPr>
              <a:t>Last-write-wins is simple but can overwrite a meaningful change.</a:t>
            </a:r>
          </a:p>
        </p:txBody>
      </p:sp>
      <p:sp>
        <p:nvSpPr>
          <p:cNvPr id="11" name="Dot"/>
          <p:cNvSpPr/>
          <p:nvPr/>
        </p:nvSpPr>
        <p:spPr>
          <a:xfrm>
            <a:off x="482600" y="2921000"/>
            <a:ext cx="127000" cy="127000"/>
          </a:xfrm>
          <a:prstGeom prst="ellipse">
            <a:avLst/>
          </a:prstGeom>
          <a:solidFill>
            <a:srgbClr val="2D6B6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Text"/>
          <p:cNvSpPr/>
          <p:nvPr/>
        </p:nvSpPr>
        <p:spPr>
          <a:xfrm>
            <a:off x="838200" y="2794000"/>
            <a:ext cx="10871200" cy="660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2000" dirty="0">
                <a:solidFill>
                  <a:srgbClr val="262626"/>
                </a:solidFill>
                <a:latin typeface="Calibri" pitchFamily="34" charset="0"/>
                <a:cs typeface="Calibri" pitchFamily="34" charset="0"/>
              </a:rPr>
              <a:t>Timestamp/version-based rules can help identify newer or concurrent updates.</a:t>
            </a:r>
          </a:p>
        </p:txBody>
      </p:sp>
      <p:sp>
        <p:nvSpPr>
          <p:cNvPr id="13" name="Dot"/>
          <p:cNvSpPr/>
          <p:nvPr/>
        </p:nvSpPr>
        <p:spPr>
          <a:xfrm>
            <a:off x="482600" y="3581400"/>
            <a:ext cx="127000" cy="127000"/>
          </a:xfrm>
          <a:prstGeom prst="ellipse">
            <a:avLst/>
          </a:prstGeom>
          <a:solidFill>
            <a:srgbClr val="2D6B6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Text"/>
          <p:cNvSpPr/>
          <p:nvPr/>
        </p:nvSpPr>
        <p:spPr>
          <a:xfrm>
            <a:off x="838200" y="3454400"/>
            <a:ext cx="10871200" cy="660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2000" dirty="0">
                <a:solidFill>
                  <a:srgbClr val="262626"/>
                </a:solidFill>
                <a:latin typeface="Calibri" pitchFamily="34" charset="0"/>
                <a:cs typeface="Calibri" pitchFamily="34" charset="0"/>
              </a:rPr>
              <a:t>Field-level merging can preserve independent changes when the data model supports it.</a:t>
            </a:r>
          </a:p>
        </p:txBody>
      </p:sp>
      <p:sp>
        <p:nvSpPr>
          <p:cNvPr id="15" name="Dot"/>
          <p:cNvSpPr/>
          <p:nvPr/>
        </p:nvSpPr>
        <p:spPr>
          <a:xfrm>
            <a:off x="482600" y="4241800"/>
            <a:ext cx="127000" cy="127000"/>
          </a:xfrm>
          <a:prstGeom prst="ellipse">
            <a:avLst/>
          </a:prstGeom>
          <a:solidFill>
            <a:srgbClr val="2D6B6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Text"/>
          <p:cNvSpPr/>
          <p:nvPr/>
        </p:nvSpPr>
        <p:spPr>
          <a:xfrm>
            <a:off x="838200" y="4114800"/>
            <a:ext cx="10871200" cy="660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2000" dirty="0">
                <a:solidFill>
                  <a:srgbClr val="262626"/>
                </a:solidFill>
                <a:latin typeface="Calibri" pitchFamily="34" charset="0"/>
                <a:cs typeface="Calibri" pitchFamily="34" charset="0"/>
              </a:rPr>
              <a:t>For critical data, conflict resolution should be an explicit business rule—not an accidental side effect.</a:t>
            </a:r>
          </a:p>
        </p:txBody>
      </p:sp>
      <p:sp>
        <p:nvSpPr>
          <p:cNvPr id="17" name="Text"/>
          <p:cNvSpPr/>
          <p:nvPr/>
        </p:nvSpPr>
        <p:spPr>
          <a:xfrm>
            <a:off x="457200" y="4927600"/>
            <a:ext cx="11277600" cy="431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2000" b="1" dirty="0">
                <a:solidFill>
                  <a:srgbClr val="2D6B66"/>
                </a:solidFill>
                <a:latin typeface="Calibri" pitchFamily="34" charset="0"/>
                <a:cs typeface="Calibri" pitchFamily="34" charset="0"/>
              </a:rPr>
              <a:t>Example: two devices edit the same student’s phone number while offline. Which value should win when both devices reconnect?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r"/>
          <p:cNvSpPr/>
          <p:nvPr/>
        </p:nvSpPr>
        <p:spPr>
          <a:xfrm>
            <a:off x="0" y="0"/>
            <a:ext cx="12184380" cy="109728"/>
          </a:xfrm>
          <a:prstGeom prst="rect">
            <a:avLst/>
          </a:prstGeom>
          <a:solidFill>
            <a:srgbClr val="2D6B66"/>
          </a:solidFill>
          <a:ln/>
        </p:spPr>
        <p:txBody>
          <a:bodyPr wrap="square" lIns="0" tIns="0" rIns="0" bIns="0" rtlCol="0" anchor="t"/>
          <a:lstStyle/>
          <a:p>
            <a:endParaRPr lang="en-US"/>
          </a:p>
        </p:txBody>
      </p:sp>
      <p:sp>
        <p:nvSpPr>
          <p:cNvPr id="3" name="Text"/>
          <p:cNvSpPr/>
          <p:nvPr/>
        </p:nvSpPr>
        <p:spPr>
          <a:xfrm>
            <a:off x="457200" y="237744"/>
            <a:ext cx="10515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spc="200" dirty="0">
                <a:solidFill>
                  <a:srgbClr val="2D6B66"/>
                </a:solidFill>
                <a:latin typeface="Calibri" pitchFamily="34" charset="0"/>
                <a:cs typeface="Calibri" pitchFamily="34" charset="0"/>
              </a:rPr>
              <a:t>MOBILE APPLICATION DEVELOPMENT  ·  DATABASE CONNECTIVITY</a:t>
            </a:r>
          </a:p>
        </p:txBody>
      </p:sp>
      <p:sp>
        <p:nvSpPr>
          <p:cNvPr id="4" name="Text"/>
          <p:cNvSpPr/>
          <p:nvPr/>
        </p:nvSpPr>
        <p:spPr>
          <a:xfrm>
            <a:off x="457200" y="530352"/>
            <a:ext cx="1123950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3300" b="1" dirty="0">
                <a:solidFill>
                  <a:srgbClr val="262626"/>
                </a:solidFill>
                <a:latin typeface="Calibri Light" pitchFamily="34" charset="0"/>
                <a:cs typeface="Calibri Light" pitchFamily="34" charset="0"/>
              </a:rPr>
              <a:t>Validation, Security &amp; Reliability</a:t>
            </a:r>
          </a:p>
        </p:txBody>
      </p:sp>
      <p:sp>
        <p:nvSpPr>
          <p:cNvPr id="5" name="Rule"/>
          <p:cNvSpPr/>
          <p:nvPr/>
        </p:nvSpPr>
        <p:spPr>
          <a:xfrm>
            <a:off x="457200" y="1243584"/>
            <a:ext cx="1005840" cy="0"/>
          </a:xfrm>
          <a:prstGeom prst="line">
            <a:avLst/>
          </a:prstGeom>
          <a:noFill/>
          <a:ln w="31750">
            <a:solidFill>
              <a:srgbClr val="660000"/>
            </a:solidFill>
            <a:prstDash val="solid"/>
          </a:ln>
        </p:spPr>
        <p:txBody>
          <a:bodyPr wrap="square" lIns="0" tIns="0" rIns="0" bIns="0" rtlCol="0" anchor="t"/>
          <a:lstStyle/>
          <a:p>
            <a:endParaRPr lang="en-US"/>
          </a:p>
        </p:txBody>
      </p:sp>
      <p:sp>
        <p:nvSpPr>
          <p:cNvPr id="6" name="Text"/>
          <p:cNvSpPr/>
          <p:nvPr/>
        </p:nvSpPr>
        <p:spPr>
          <a:xfrm>
            <a:off x="8778240" y="6337300"/>
            <a:ext cx="2954020" cy="2921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300" dirty="0">
                <a:solidFill>
                  <a:srgbClr val="595959"/>
                </a:solidFill>
                <a:latin typeface="Calibri" pitchFamily="34" charset="0"/>
                <a:cs typeface="Calibri" pitchFamily="34" charset="0"/>
              </a:rPr>
              <a:t>Mobile Application Development  ·  28 / 34</a:t>
            </a:r>
          </a:p>
        </p:txBody>
      </p:sp>
      <p:sp>
        <p:nvSpPr>
          <p:cNvPr id="7" name="Dot"/>
          <p:cNvSpPr/>
          <p:nvPr/>
        </p:nvSpPr>
        <p:spPr>
          <a:xfrm>
            <a:off x="482600" y="1600200"/>
            <a:ext cx="127000" cy="127000"/>
          </a:xfrm>
          <a:prstGeom prst="ellipse">
            <a:avLst/>
          </a:prstGeom>
          <a:solidFill>
            <a:srgbClr val="2D6B6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"/>
          <p:cNvSpPr/>
          <p:nvPr/>
        </p:nvSpPr>
        <p:spPr>
          <a:xfrm>
            <a:off x="838200" y="1473200"/>
            <a:ext cx="10871200" cy="838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2000" dirty="0">
                <a:solidFill>
                  <a:srgbClr val="262626"/>
                </a:solidFill>
                <a:latin typeface="Calibri" pitchFamily="34" charset="0"/>
                <a:cs typeface="Calibri" pitchFamily="34" charset="0"/>
              </a:rPr>
              <a:t>Validate data before saving or synchronizing it.</a:t>
            </a:r>
          </a:p>
        </p:txBody>
      </p:sp>
      <p:sp>
        <p:nvSpPr>
          <p:cNvPr id="9" name="Dot"/>
          <p:cNvSpPr/>
          <p:nvPr/>
        </p:nvSpPr>
        <p:spPr>
          <a:xfrm>
            <a:off x="482600" y="2438400"/>
            <a:ext cx="127000" cy="127000"/>
          </a:xfrm>
          <a:prstGeom prst="ellipse">
            <a:avLst/>
          </a:prstGeom>
          <a:solidFill>
            <a:srgbClr val="2D6B6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"/>
          <p:cNvSpPr/>
          <p:nvPr/>
        </p:nvSpPr>
        <p:spPr>
          <a:xfrm>
            <a:off x="838200" y="2311400"/>
            <a:ext cx="10871200" cy="838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2000" dirty="0">
                <a:solidFill>
                  <a:srgbClr val="262626"/>
                </a:solidFill>
                <a:latin typeface="Calibri" pitchFamily="34" charset="0"/>
                <a:cs typeface="Calibri" pitchFamily="34" charset="0"/>
              </a:rPr>
              <a:t>Check required fields, email format, password rules, and duplicate records.</a:t>
            </a:r>
          </a:p>
        </p:txBody>
      </p:sp>
      <p:sp>
        <p:nvSpPr>
          <p:cNvPr id="11" name="Dot"/>
          <p:cNvSpPr/>
          <p:nvPr/>
        </p:nvSpPr>
        <p:spPr>
          <a:xfrm>
            <a:off x="482600" y="3276600"/>
            <a:ext cx="127000" cy="127000"/>
          </a:xfrm>
          <a:prstGeom prst="ellipse">
            <a:avLst/>
          </a:prstGeom>
          <a:solidFill>
            <a:srgbClr val="2D6B6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Text"/>
          <p:cNvSpPr/>
          <p:nvPr/>
        </p:nvSpPr>
        <p:spPr>
          <a:xfrm>
            <a:off x="838200" y="3149600"/>
            <a:ext cx="10871200" cy="838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2000" dirty="0">
                <a:solidFill>
                  <a:srgbClr val="262626"/>
                </a:solidFill>
                <a:latin typeface="Calibri" pitchFamily="34" charset="0"/>
                <a:cs typeface="Calibri" pitchFamily="34" charset="0"/>
              </a:rPr>
              <a:t>Never trust client-side validation alone for sensitive or authoritative data.</a:t>
            </a:r>
          </a:p>
        </p:txBody>
      </p:sp>
      <p:sp>
        <p:nvSpPr>
          <p:cNvPr id="13" name="Dot"/>
          <p:cNvSpPr/>
          <p:nvPr/>
        </p:nvSpPr>
        <p:spPr>
          <a:xfrm>
            <a:off x="482600" y="4114800"/>
            <a:ext cx="127000" cy="127000"/>
          </a:xfrm>
          <a:prstGeom prst="ellipse">
            <a:avLst/>
          </a:prstGeom>
          <a:solidFill>
            <a:srgbClr val="2D6B6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Text"/>
          <p:cNvSpPr/>
          <p:nvPr/>
        </p:nvSpPr>
        <p:spPr>
          <a:xfrm>
            <a:off x="838200" y="3987800"/>
            <a:ext cx="10871200" cy="838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2000" dirty="0">
                <a:solidFill>
                  <a:srgbClr val="262626"/>
                </a:solidFill>
                <a:latin typeface="Calibri" pitchFamily="34" charset="0"/>
                <a:cs typeface="Calibri" pitchFamily="34" charset="0"/>
              </a:rPr>
              <a:t>Use authenticated access and database security rules for cloud data.</a:t>
            </a:r>
          </a:p>
        </p:txBody>
      </p:sp>
      <p:sp>
        <p:nvSpPr>
          <p:cNvPr id="15" name="Dot"/>
          <p:cNvSpPr/>
          <p:nvPr/>
        </p:nvSpPr>
        <p:spPr>
          <a:xfrm>
            <a:off x="482600" y="4953000"/>
            <a:ext cx="127000" cy="127000"/>
          </a:xfrm>
          <a:prstGeom prst="ellipse">
            <a:avLst/>
          </a:prstGeom>
          <a:solidFill>
            <a:srgbClr val="2D6B6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Text"/>
          <p:cNvSpPr/>
          <p:nvPr/>
        </p:nvSpPr>
        <p:spPr>
          <a:xfrm>
            <a:off x="838200" y="4826000"/>
            <a:ext cx="10871200" cy="838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2000" dirty="0">
                <a:solidFill>
                  <a:srgbClr val="262626"/>
                </a:solidFill>
                <a:latin typeface="Calibri" pitchFamily="34" charset="0"/>
                <a:cs typeface="Calibri" pitchFamily="34" charset="0"/>
              </a:rPr>
              <a:t>Handle loading, success, empty, offline, permission-denied, and failure states.</a:t>
            </a:r>
          </a:p>
        </p:txBody>
      </p:sp>
      <p:sp>
        <p:nvSpPr>
          <p:cNvPr id="17" name="Dot"/>
          <p:cNvSpPr/>
          <p:nvPr/>
        </p:nvSpPr>
        <p:spPr>
          <a:xfrm>
            <a:off x="482600" y="5791200"/>
            <a:ext cx="127000" cy="127000"/>
          </a:xfrm>
          <a:prstGeom prst="ellipse">
            <a:avLst/>
          </a:prstGeom>
          <a:solidFill>
            <a:srgbClr val="2D6B6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Text"/>
          <p:cNvSpPr/>
          <p:nvPr/>
        </p:nvSpPr>
        <p:spPr>
          <a:xfrm>
            <a:off x="838200" y="5664200"/>
            <a:ext cx="10871200" cy="838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2000" dirty="0">
                <a:solidFill>
                  <a:srgbClr val="262626"/>
                </a:solidFill>
                <a:latin typeface="Calibri" pitchFamily="34" charset="0"/>
                <a:cs typeface="Calibri" pitchFamily="34" charset="0"/>
              </a:rPr>
              <a:t>Avoid storing plaintext passwords in production applications; use appropriate authentication mechanisms.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r"/>
          <p:cNvSpPr/>
          <p:nvPr/>
        </p:nvSpPr>
        <p:spPr>
          <a:xfrm>
            <a:off x="0" y="0"/>
            <a:ext cx="12184380" cy="109728"/>
          </a:xfrm>
          <a:prstGeom prst="rect">
            <a:avLst/>
          </a:prstGeom>
          <a:solidFill>
            <a:srgbClr val="2D6B66"/>
          </a:solidFill>
          <a:ln/>
        </p:spPr>
        <p:txBody>
          <a:bodyPr wrap="square" lIns="0" tIns="0" rIns="0" bIns="0" rtlCol="0" anchor="t"/>
          <a:lstStyle/>
          <a:p>
            <a:endParaRPr lang="en-US"/>
          </a:p>
        </p:txBody>
      </p:sp>
      <p:sp>
        <p:nvSpPr>
          <p:cNvPr id="3" name="Text"/>
          <p:cNvSpPr/>
          <p:nvPr/>
        </p:nvSpPr>
        <p:spPr>
          <a:xfrm>
            <a:off x="457200" y="237744"/>
            <a:ext cx="10515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spc="200" dirty="0">
                <a:solidFill>
                  <a:srgbClr val="2D6B66"/>
                </a:solidFill>
                <a:latin typeface="Calibri" pitchFamily="34" charset="0"/>
                <a:cs typeface="Calibri" pitchFamily="34" charset="0"/>
              </a:rPr>
              <a:t>MOBILE APPLICATION DEVELOPMENT  ·  DATABASE CONNECTIVITY</a:t>
            </a:r>
          </a:p>
        </p:txBody>
      </p:sp>
      <p:sp>
        <p:nvSpPr>
          <p:cNvPr id="4" name="Text"/>
          <p:cNvSpPr/>
          <p:nvPr/>
        </p:nvSpPr>
        <p:spPr>
          <a:xfrm>
            <a:off x="457200" y="530352"/>
            <a:ext cx="1123950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262626"/>
                </a:solidFill>
                <a:latin typeface="Calibri Light" pitchFamily="34" charset="0"/>
                <a:cs typeface="Calibri Light" pitchFamily="34" charset="0"/>
              </a:rPr>
              <a:t>Recommended Architecture for a Modern Android App</a:t>
            </a:r>
          </a:p>
        </p:txBody>
      </p:sp>
      <p:sp>
        <p:nvSpPr>
          <p:cNvPr id="5" name="Rule"/>
          <p:cNvSpPr/>
          <p:nvPr/>
        </p:nvSpPr>
        <p:spPr>
          <a:xfrm>
            <a:off x="457200" y="1243584"/>
            <a:ext cx="1005840" cy="0"/>
          </a:xfrm>
          <a:prstGeom prst="line">
            <a:avLst/>
          </a:prstGeom>
          <a:noFill/>
          <a:ln w="31750">
            <a:solidFill>
              <a:srgbClr val="660000"/>
            </a:solidFill>
            <a:prstDash val="solid"/>
          </a:ln>
        </p:spPr>
        <p:txBody>
          <a:bodyPr wrap="square" lIns="0" tIns="0" rIns="0" bIns="0" rtlCol="0" anchor="t"/>
          <a:lstStyle/>
          <a:p>
            <a:endParaRPr lang="en-US"/>
          </a:p>
        </p:txBody>
      </p:sp>
      <p:sp>
        <p:nvSpPr>
          <p:cNvPr id="6" name="Text"/>
          <p:cNvSpPr/>
          <p:nvPr/>
        </p:nvSpPr>
        <p:spPr>
          <a:xfrm>
            <a:off x="8778240" y="6337300"/>
            <a:ext cx="2954020" cy="2921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300" dirty="0">
                <a:solidFill>
                  <a:srgbClr val="595959"/>
                </a:solidFill>
                <a:latin typeface="Calibri" pitchFamily="34" charset="0"/>
                <a:cs typeface="Calibri" pitchFamily="34" charset="0"/>
              </a:rPr>
              <a:t>Mobile Application Development  ·  29 / 34</a:t>
            </a:r>
          </a:p>
        </p:txBody>
      </p:sp>
      <p:sp>
        <p:nvSpPr>
          <p:cNvPr id="7" name="Node"/>
          <p:cNvSpPr/>
          <p:nvPr/>
        </p:nvSpPr>
        <p:spPr>
          <a:xfrm>
            <a:off x="2794000" y="1473200"/>
            <a:ext cx="6604000" cy="685800"/>
          </a:xfrm>
          <a:prstGeom prst="roundRect">
            <a:avLst>
              <a:gd name="adj" fmla="val 4571"/>
            </a:avLst>
          </a:prstGeom>
          <a:solidFill>
            <a:srgbClr val="F1F6F5"/>
          </a:solidFill>
          <a:ln w="22225">
            <a:solidFill>
              <a:srgbClr val="2D6B66"/>
            </a:solidFill>
            <a:prstDash val="solid"/>
          </a:ln>
        </p:spPr>
        <p:txBody>
          <a:bodyPr wrap="square" lIns="0" tIns="0" rIns="0" bIns="0" rtlCol="0" anchor="t"/>
          <a:lstStyle/>
          <a:p>
            <a:endParaRPr lang="en-US" sz="2000"/>
          </a:p>
        </p:txBody>
      </p:sp>
      <p:sp>
        <p:nvSpPr>
          <p:cNvPr id="8" name="Text"/>
          <p:cNvSpPr/>
          <p:nvPr/>
        </p:nvSpPr>
        <p:spPr>
          <a:xfrm>
            <a:off x="2997200" y="1473200"/>
            <a:ext cx="6197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1900" b="1" dirty="0">
                <a:solidFill>
                  <a:srgbClr val="262626"/>
                </a:solidFill>
                <a:latin typeface="Calibri" pitchFamily="34" charset="0"/>
                <a:cs typeface="Calibri" pitchFamily="34" charset="0"/>
              </a:rPr>
              <a:t>UI / Compose or XML</a:t>
            </a:r>
          </a:p>
        </p:txBody>
      </p:sp>
      <p:sp>
        <p:nvSpPr>
          <p:cNvPr id="9" name="Arrow"/>
          <p:cNvSpPr/>
          <p:nvPr/>
        </p:nvSpPr>
        <p:spPr>
          <a:xfrm>
            <a:off x="5981700" y="2110740"/>
            <a:ext cx="228600" cy="248920"/>
          </a:xfrm>
          <a:prstGeom prst="downArrow">
            <a:avLst/>
          </a:prstGeom>
          <a:solidFill>
            <a:srgbClr val="2D6B66"/>
          </a:solidFill>
          <a:ln/>
        </p:spPr>
        <p:txBody>
          <a:bodyPr wrap="square" lIns="0" tIns="0" rIns="0" bIns="0" rtlCol="0" anchor="t"/>
          <a:lstStyle/>
          <a:p>
            <a:endParaRPr lang="en-US" sz="2000"/>
          </a:p>
        </p:txBody>
      </p:sp>
      <p:sp>
        <p:nvSpPr>
          <p:cNvPr id="10" name="Node"/>
          <p:cNvSpPr/>
          <p:nvPr/>
        </p:nvSpPr>
        <p:spPr>
          <a:xfrm>
            <a:off x="2794000" y="2311400"/>
            <a:ext cx="6604000" cy="685800"/>
          </a:xfrm>
          <a:prstGeom prst="roundRect">
            <a:avLst>
              <a:gd name="adj" fmla="val 4571"/>
            </a:avLst>
          </a:prstGeom>
          <a:solidFill>
            <a:srgbClr val="FFFFFF"/>
          </a:solidFill>
          <a:ln w="22225">
            <a:solidFill>
              <a:srgbClr val="2D6B66"/>
            </a:solidFill>
            <a:prstDash val="solid"/>
          </a:ln>
        </p:spPr>
        <p:txBody>
          <a:bodyPr wrap="square" lIns="0" tIns="0" rIns="0" bIns="0" rtlCol="0" anchor="t"/>
          <a:lstStyle/>
          <a:p>
            <a:endParaRPr lang="en-US" sz="2000"/>
          </a:p>
        </p:txBody>
      </p:sp>
      <p:sp>
        <p:nvSpPr>
          <p:cNvPr id="11" name="Text"/>
          <p:cNvSpPr/>
          <p:nvPr/>
        </p:nvSpPr>
        <p:spPr>
          <a:xfrm>
            <a:off x="2997200" y="2311400"/>
            <a:ext cx="6197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1900" b="1" dirty="0">
                <a:solidFill>
                  <a:srgbClr val="262626"/>
                </a:solidFill>
                <a:latin typeface="Calibri" pitchFamily="34" charset="0"/>
                <a:cs typeface="Calibri" pitchFamily="34" charset="0"/>
              </a:rPr>
              <a:t>ViewModel</a:t>
            </a:r>
          </a:p>
        </p:txBody>
      </p:sp>
      <p:sp>
        <p:nvSpPr>
          <p:cNvPr id="12" name="Arrow"/>
          <p:cNvSpPr/>
          <p:nvPr/>
        </p:nvSpPr>
        <p:spPr>
          <a:xfrm>
            <a:off x="5981700" y="2948940"/>
            <a:ext cx="228600" cy="248920"/>
          </a:xfrm>
          <a:prstGeom prst="downArrow">
            <a:avLst/>
          </a:prstGeom>
          <a:solidFill>
            <a:srgbClr val="2D6B66"/>
          </a:solidFill>
          <a:ln/>
        </p:spPr>
        <p:txBody>
          <a:bodyPr wrap="square" lIns="0" tIns="0" rIns="0" bIns="0" rtlCol="0" anchor="t"/>
          <a:lstStyle/>
          <a:p>
            <a:endParaRPr lang="en-US" sz="2000"/>
          </a:p>
        </p:txBody>
      </p:sp>
      <p:sp>
        <p:nvSpPr>
          <p:cNvPr id="13" name="Node"/>
          <p:cNvSpPr/>
          <p:nvPr/>
        </p:nvSpPr>
        <p:spPr>
          <a:xfrm>
            <a:off x="2794000" y="3149600"/>
            <a:ext cx="6604000" cy="685800"/>
          </a:xfrm>
          <a:prstGeom prst="roundRect">
            <a:avLst>
              <a:gd name="adj" fmla="val 4571"/>
            </a:avLst>
          </a:prstGeom>
          <a:solidFill>
            <a:srgbClr val="F1F6F5"/>
          </a:solidFill>
          <a:ln w="22225">
            <a:solidFill>
              <a:srgbClr val="2D6B66"/>
            </a:solidFill>
            <a:prstDash val="solid"/>
          </a:ln>
        </p:spPr>
        <p:txBody>
          <a:bodyPr wrap="square" lIns="0" tIns="0" rIns="0" bIns="0" rtlCol="0" anchor="t"/>
          <a:lstStyle/>
          <a:p>
            <a:endParaRPr lang="en-US" sz="2000"/>
          </a:p>
        </p:txBody>
      </p:sp>
      <p:sp>
        <p:nvSpPr>
          <p:cNvPr id="14" name="Text"/>
          <p:cNvSpPr/>
          <p:nvPr/>
        </p:nvSpPr>
        <p:spPr>
          <a:xfrm>
            <a:off x="2997200" y="3149600"/>
            <a:ext cx="6197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1900" b="1" dirty="0">
                <a:solidFill>
                  <a:srgbClr val="262626"/>
                </a:solidFill>
                <a:latin typeface="Calibri" pitchFamily="34" charset="0"/>
                <a:cs typeface="Calibri" pitchFamily="34" charset="0"/>
              </a:rPr>
              <a:t>Repository</a:t>
            </a:r>
          </a:p>
        </p:txBody>
      </p:sp>
      <p:sp>
        <p:nvSpPr>
          <p:cNvPr id="15" name="Arrow"/>
          <p:cNvSpPr/>
          <p:nvPr/>
        </p:nvSpPr>
        <p:spPr>
          <a:xfrm>
            <a:off x="4260850" y="3999540"/>
            <a:ext cx="228600" cy="152400"/>
          </a:xfrm>
          <a:prstGeom prst="downArrow">
            <a:avLst/>
          </a:prstGeom>
          <a:solidFill>
            <a:srgbClr val="2D6B66"/>
          </a:solidFill>
          <a:ln/>
        </p:spPr>
        <p:txBody>
          <a:bodyPr wrap="square" lIns="0" tIns="0" rIns="0" bIns="0" rtlCol="0" anchor="t"/>
          <a:lstStyle/>
          <a:p>
            <a:endParaRPr lang="en-US" sz="2000"/>
          </a:p>
        </p:txBody>
      </p:sp>
      <p:sp>
        <p:nvSpPr>
          <p:cNvPr id="16" name="Arrow"/>
          <p:cNvSpPr/>
          <p:nvPr/>
        </p:nvSpPr>
        <p:spPr>
          <a:xfrm>
            <a:off x="7702550" y="3999540"/>
            <a:ext cx="228600" cy="152400"/>
          </a:xfrm>
          <a:prstGeom prst="downArrow">
            <a:avLst/>
          </a:prstGeom>
          <a:solidFill>
            <a:srgbClr val="2D6B66"/>
          </a:solidFill>
          <a:ln/>
        </p:spPr>
        <p:txBody>
          <a:bodyPr wrap="square" lIns="0" tIns="0" rIns="0" bIns="0" rtlCol="0" anchor="t"/>
          <a:lstStyle/>
          <a:p>
            <a:endParaRPr lang="en-US" sz="2000"/>
          </a:p>
        </p:txBody>
      </p:sp>
      <p:sp>
        <p:nvSpPr>
          <p:cNvPr id="17" name="Node"/>
          <p:cNvSpPr/>
          <p:nvPr/>
        </p:nvSpPr>
        <p:spPr>
          <a:xfrm>
            <a:off x="2794000" y="4267200"/>
            <a:ext cx="3162300" cy="685800"/>
          </a:xfrm>
          <a:prstGeom prst="roundRect">
            <a:avLst>
              <a:gd name="adj" fmla="val 4571"/>
            </a:avLst>
          </a:prstGeom>
          <a:solidFill>
            <a:srgbClr val="F1F6F5"/>
          </a:solidFill>
          <a:ln w="22225">
            <a:solidFill>
              <a:srgbClr val="2D6B66"/>
            </a:solidFill>
            <a:prstDash val="solid"/>
          </a:ln>
        </p:spPr>
        <p:txBody>
          <a:bodyPr wrap="square" lIns="0" tIns="0" rIns="0" bIns="0" rtlCol="0" anchor="t"/>
          <a:lstStyle/>
          <a:p>
            <a:endParaRPr lang="en-US" sz="2000"/>
          </a:p>
        </p:txBody>
      </p:sp>
      <p:sp>
        <p:nvSpPr>
          <p:cNvPr id="18" name="Text"/>
          <p:cNvSpPr/>
          <p:nvPr/>
        </p:nvSpPr>
        <p:spPr>
          <a:xfrm>
            <a:off x="2946400" y="4267200"/>
            <a:ext cx="28575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262626"/>
                </a:solidFill>
                <a:latin typeface="Calibri" pitchFamily="34" charset="0"/>
                <a:cs typeface="Calibri" pitchFamily="34" charset="0"/>
              </a:rPr>
              <a:t>Room — Local DB</a:t>
            </a:r>
          </a:p>
        </p:txBody>
      </p:sp>
      <p:sp>
        <p:nvSpPr>
          <p:cNvPr id="19" name="Node"/>
          <p:cNvSpPr/>
          <p:nvPr/>
        </p:nvSpPr>
        <p:spPr>
          <a:xfrm>
            <a:off x="6235700" y="4267200"/>
            <a:ext cx="3162300" cy="685800"/>
          </a:xfrm>
          <a:prstGeom prst="roundRect">
            <a:avLst>
              <a:gd name="adj" fmla="val 4571"/>
            </a:avLst>
          </a:prstGeom>
          <a:solidFill>
            <a:srgbClr val="F1F6F5"/>
          </a:solidFill>
          <a:ln w="22225">
            <a:solidFill>
              <a:srgbClr val="2D6B66"/>
            </a:solidFill>
            <a:prstDash val="solid"/>
          </a:ln>
        </p:spPr>
        <p:txBody>
          <a:bodyPr wrap="square" lIns="0" tIns="0" rIns="0" bIns="0" rtlCol="0" anchor="t"/>
          <a:lstStyle/>
          <a:p>
            <a:endParaRPr lang="en-US" sz="2000"/>
          </a:p>
        </p:txBody>
      </p:sp>
      <p:sp>
        <p:nvSpPr>
          <p:cNvPr id="20" name="Text"/>
          <p:cNvSpPr/>
          <p:nvPr/>
        </p:nvSpPr>
        <p:spPr>
          <a:xfrm>
            <a:off x="6388100" y="4267200"/>
            <a:ext cx="28575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262626"/>
                </a:solidFill>
                <a:latin typeface="Calibri" pitchFamily="34" charset="0"/>
                <a:cs typeface="Calibri" pitchFamily="34" charset="0"/>
              </a:rPr>
              <a:t>Firebase — Cloud</a:t>
            </a:r>
          </a:p>
        </p:txBody>
      </p:sp>
      <p:sp>
        <p:nvSpPr>
          <p:cNvPr id="21" name="Text"/>
          <p:cNvSpPr/>
          <p:nvPr/>
        </p:nvSpPr>
        <p:spPr>
          <a:xfrm>
            <a:off x="457200" y="5130800"/>
            <a:ext cx="11277600" cy="431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2000" b="1" dirty="0">
                <a:solidFill>
                  <a:srgbClr val="2D6B66"/>
                </a:solidFill>
                <a:latin typeface="Calibri" pitchFamily="34" charset="0"/>
                <a:cs typeface="Calibri" pitchFamily="34" charset="0"/>
              </a:rPr>
              <a:t>The Repository can coordinate local and remote sources and expose a single data API to the ViewModel.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r"/>
          <p:cNvSpPr/>
          <p:nvPr/>
        </p:nvSpPr>
        <p:spPr>
          <a:xfrm>
            <a:off x="0" y="0"/>
            <a:ext cx="12184380" cy="109728"/>
          </a:xfrm>
          <a:prstGeom prst="rect">
            <a:avLst/>
          </a:prstGeom>
          <a:solidFill>
            <a:srgbClr val="2D6B66"/>
          </a:solidFill>
          <a:ln/>
        </p:spPr>
        <p:txBody>
          <a:bodyPr wrap="square" lIns="0" tIns="0" rIns="0" bIns="0" rtlCol="0" anchor="t"/>
          <a:lstStyle/>
          <a:p>
            <a:endParaRPr lang="en-US"/>
          </a:p>
        </p:txBody>
      </p:sp>
      <p:sp>
        <p:nvSpPr>
          <p:cNvPr id="3" name="Text"/>
          <p:cNvSpPr/>
          <p:nvPr/>
        </p:nvSpPr>
        <p:spPr>
          <a:xfrm>
            <a:off x="457200" y="237744"/>
            <a:ext cx="10515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spc="200" dirty="0">
                <a:solidFill>
                  <a:srgbClr val="2D6B66"/>
                </a:solidFill>
                <a:latin typeface="Calibri" pitchFamily="34" charset="0"/>
                <a:cs typeface="Calibri" pitchFamily="34" charset="0"/>
              </a:rPr>
              <a:t>MOBILE APPLICATION DEVELOPMENT  ·  DATABASE CONNECTIVITY</a:t>
            </a:r>
          </a:p>
        </p:txBody>
      </p:sp>
      <p:sp>
        <p:nvSpPr>
          <p:cNvPr id="4" name="Text"/>
          <p:cNvSpPr/>
          <p:nvPr/>
        </p:nvSpPr>
        <p:spPr>
          <a:xfrm>
            <a:off x="457200" y="530352"/>
            <a:ext cx="1123950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262626"/>
                </a:solidFill>
                <a:latin typeface="Calibri Light" pitchFamily="34" charset="0"/>
                <a:cs typeface="Calibri Light" pitchFamily="34" charset="0"/>
              </a:rPr>
              <a:t>Decision Guide: Which Database Should You Use?</a:t>
            </a:r>
          </a:p>
        </p:txBody>
      </p:sp>
      <p:sp>
        <p:nvSpPr>
          <p:cNvPr id="5" name="Rule"/>
          <p:cNvSpPr/>
          <p:nvPr/>
        </p:nvSpPr>
        <p:spPr>
          <a:xfrm>
            <a:off x="457200" y="1243584"/>
            <a:ext cx="1005840" cy="0"/>
          </a:xfrm>
          <a:prstGeom prst="line">
            <a:avLst/>
          </a:prstGeom>
          <a:noFill/>
          <a:ln w="31750">
            <a:solidFill>
              <a:srgbClr val="660000"/>
            </a:solidFill>
            <a:prstDash val="solid"/>
          </a:ln>
        </p:spPr>
        <p:txBody>
          <a:bodyPr wrap="square" lIns="0" tIns="0" rIns="0" bIns="0" rtlCol="0" anchor="t"/>
          <a:lstStyle/>
          <a:p>
            <a:endParaRPr lang="en-US"/>
          </a:p>
        </p:txBody>
      </p:sp>
      <p:sp>
        <p:nvSpPr>
          <p:cNvPr id="6" name="Text"/>
          <p:cNvSpPr/>
          <p:nvPr/>
        </p:nvSpPr>
        <p:spPr>
          <a:xfrm>
            <a:off x="8778240" y="6337300"/>
            <a:ext cx="2954020" cy="2921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300" dirty="0">
                <a:solidFill>
                  <a:srgbClr val="595959"/>
                </a:solidFill>
                <a:latin typeface="Calibri" pitchFamily="34" charset="0"/>
                <a:cs typeface="Calibri" pitchFamily="34" charset="0"/>
              </a:rPr>
              <a:t>Mobile Application Development  ·  30 / 34</a:t>
            </a:r>
          </a:p>
        </p:txBody>
      </p:sp>
      <p:sp>
        <p:nvSpPr>
          <p:cNvPr id="7" name="Card"/>
          <p:cNvSpPr/>
          <p:nvPr/>
        </p:nvSpPr>
        <p:spPr>
          <a:xfrm>
            <a:off x="457200" y="1473200"/>
            <a:ext cx="2680599" cy="1828800"/>
          </a:xfrm>
          <a:prstGeom prst="roundRect">
            <a:avLst>
              <a:gd name="adj" fmla="val 4571"/>
            </a:avLst>
          </a:prstGeom>
          <a:solidFill>
            <a:srgbClr val="FFFFFF"/>
          </a:solidFill>
          <a:ln w="22225">
            <a:solidFill>
              <a:srgbClr val="2D6B66"/>
            </a:solidFill>
            <a:prstDash val="solid"/>
          </a:ln>
        </p:spPr>
        <p:txBody>
          <a:bodyPr wrap="square" lIns="0" tIns="0" rIns="0" bIns="0" rtlCol="0" anchor="t"/>
          <a:lstStyle/>
          <a:p>
            <a:endParaRPr lang="en-US" sz="2000"/>
          </a:p>
        </p:txBody>
      </p:sp>
      <p:sp>
        <p:nvSpPr>
          <p:cNvPr id="8" name="Text"/>
          <p:cNvSpPr/>
          <p:nvPr/>
        </p:nvSpPr>
        <p:spPr>
          <a:xfrm>
            <a:off x="660400" y="1651000"/>
            <a:ext cx="2274199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2000" b="1" dirty="0">
                <a:solidFill>
                  <a:srgbClr val="262626"/>
                </a:solidFill>
                <a:latin typeface="Calibri" pitchFamily="34" charset="0"/>
                <a:cs typeface="Calibri" pitchFamily="34" charset="0"/>
              </a:rPr>
              <a:t>Small settings / flags</a:t>
            </a:r>
          </a:p>
        </p:txBody>
      </p:sp>
      <p:sp>
        <p:nvSpPr>
          <p:cNvPr id="9" name="Text"/>
          <p:cNvSpPr/>
          <p:nvPr/>
        </p:nvSpPr>
        <p:spPr>
          <a:xfrm>
            <a:off x="660400" y="2209800"/>
            <a:ext cx="2274199" cy="939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8000"/>
              </a:lnSpc>
              <a:buNone/>
            </a:pPr>
            <a:r>
              <a:rPr lang="en-US" sz="1900" dirty="0">
                <a:solidFill>
                  <a:srgbClr val="595959"/>
                </a:solidFill>
                <a:latin typeface="Calibri" pitchFamily="34" charset="0"/>
                <a:cs typeface="Calibri" pitchFamily="34" charset="0"/>
              </a:rPr>
              <a:t>SharedPreferences / appropriate key-value storage</a:t>
            </a:r>
          </a:p>
        </p:txBody>
      </p:sp>
      <p:sp>
        <p:nvSpPr>
          <p:cNvPr id="10" name="Card"/>
          <p:cNvSpPr/>
          <p:nvPr/>
        </p:nvSpPr>
        <p:spPr>
          <a:xfrm>
            <a:off x="3322866" y="1473200"/>
            <a:ext cx="2680599" cy="1828800"/>
          </a:xfrm>
          <a:prstGeom prst="roundRect">
            <a:avLst>
              <a:gd name="adj" fmla="val 4571"/>
            </a:avLst>
          </a:prstGeom>
          <a:solidFill>
            <a:srgbClr val="FFFFFF"/>
          </a:solidFill>
          <a:ln w="22225">
            <a:solidFill>
              <a:srgbClr val="2D6B66"/>
            </a:solidFill>
            <a:prstDash val="solid"/>
          </a:ln>
        </p:spPr>
        <p:txBody>
          <a:bodyPr wrap="square" lIns="0" tIns="0" rIns="0" bIns="0" rtlCol="0" anchor="t"/>
          <a:lstStyle/>
          <a:p>
            <a:endParaRPr lang="en-US" sz="2000"/>
          </a:p>
        </p:txBody>
      </p:sp>
      <p:sp>
        <p:nvSpPr>
          <p:cNvPr id="11" name="Text"/>
          <p:cNvSpPr/>
          <p:nvPr/>
        </p:nvSpPr>
        <p:spPr>
          <a:xfrm>
            <a:off x="3526066" y="1651000"/>
            <a:ext cx="2274199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2000" b="1" dirty="0">
                <a:solidFill>
                  <a:srgbClr val="262626"/>
                </a:solidFill>
                <a:latin typeface="Calibri" pitchFamily="34" charset="0"/>
                <a:cs typeface="Calibri" pitchFamily="34" charset="0"/>
              </a:rPr>
              <a:t>Structured local data</a:t>
            </a:r>
          </a:p>
        </p:txBody>
      </p:sp>
      <p:sp>
        <p:nvSpPr>
          <p:cNvPr id="12" name="Text"/>
          <p:cNvSpPr/>
          <p:nvPr/>
        </p:nvSpPr>
        <p:spPr>
          <a:xfrm>
            <a:off x="3526066" y="2209800"/>
            <a:ext cx="2274199" cy="939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8000"/>
              </a:lnSpc>
              <a:buNone/>
            </a:pPr>
            <a:r>
              <a:rPr lang="en-US" sz="1900" dirty="0">
                <a:solidFill>
                  <a:srgbClr val="595959"/>
                </a:solidFill>
                <a:latin typeface="Calibri" pitchFamily="34" charset="0"/>
                <a:cs typeface="Calibri" pitchFamily="34" charset="0"/>
              </a:rPr>
              <a:t>Room over SQLite</a:t>
            </a:r>
          </a:p>
        </p:txBody>
      </p:sp>
      <p:sp>
        <p:nvSpPr>
          <p:cNvPr id="13" name="Card"/>
          <p:cNvSpPr/>
          <p:nvPr/>
        </p:nvSpPr>
        <p:spPr>
          <a:xfrm>
            <a:off x="6188532" y="1473200"/>
            <a:ext cx="2680599" cy="1828800"/>
          </a:xfrm>
          <a:prstGeom prst="roundRect">
            <a:avLst>
              <a:gd name="adj" fmla="val 4571"/>
            </a:avLst>
          </a:prstGeom>
          <a:solidFill>
            <a:srgbClr val="FFFFFF"/>
          </a:solidFill>
          <a:ln w="22225">
            <a:solidFill>
              <a:srgbClr val="2D6B66"/>
            </a:solidFill>
            <a:prstDash val="solid"/>
          </a:ln>
        </p:spPr>
        <p:txBody>
          <a:bodyPr wrap="square" lIns="0" tIns="0" rIns="0" bIns="0" rtlCol="0" anchor="t"/>
          <a:lstStyle/>
          <a:p>
            <a:endParaRPr lang="en-US" sz="2000"/>
          </a:p>
        </p:txBody>
      </p:sp>
      <p:sp>
        <p:nvSpPr>
          <p:cNvPr id="14" name="Text"/>
          <p:cNvSpPr/>
          <p:nvPr/>
        </p:nvSpPr>
        <p:spPr>
          <a:xfrm>
            <a:off x="6391732" y="1651000"/>
            <a:ext cx="2274199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2000" b="1" dirty="0">
                <a:solidFill>
                  <a:srgbClr val="262626"/>
                </a:solidFill>
                <a:latin typeface="Calibri" pitchFamily="34" charset="0"/>
                <a:cs typeface="Calibri" pitchFamily="34" charset="0"/>
              </a:rPr>
              <a:t>Shared remote data</a:t>
            </a:r>
          </a:p>
        </p:txBody>
      </p:sp>
      <p:sp>
        <p:nvSpPr>
          <p:cNvPr id="15" name="Text"/>
          <p:cNvSpPr/>
          <p:nvPr/>
        </p:nvSpPr>
        <p:spPr>
          <a:xfrm>
            <a:off x="6391732" y="2209800"/>
            <a:ext cx="2274199" cy="939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8000"/>
              </a:lnSpc>
              <a:buNone/>
            </a:pPr>
            <a:r>
              <a:rPr lang="en-US" sz="1900" dirty="0">
                <a:solidFill>
                  <a:srgbClr val="595959"/>
                </a:solidFill>
                <a:latin typeface="Calibri" pitchFamily="34" charset="0"/>
                <a:cs typeface="Calibri" pitchFamily="34" charset="0"/>
              </a:rPr>
              <a:t>Firebase Firestore / Realtime Database</a:t>
            </a:r>
          </a:p>
        </p:txBody>
      </p:sp>
      <p:sp>
        <p:nvSpPr>
          <p:cNvPr id="16" name="Card"/>
          <p:cNvSpPr/>
          <p:nvPr/>
        </p:nvSpPr>
        <p:spPr>
          <a:xfrm>
            <a:off x="9054198" y="1473200"/>
            <a:ext cx="2680599" cy="1828800"/>
          </a:xfrm>
          <a:prstGeom prst="roundRect">
            <a:avLst>
              <a:gd name="adj" fmla="val 4571"/>
            </a:avLst>
          </a:prstGeom>
          <a:solidFill>
            <a:srgbClr val="FFFFFF"/>
          </a:solidFill>
          <a:ln w="22225">
            <a:solidFill>
              <a:srgbClr val="2D6B66"/>
            </a:solidFill>
            <a:prstDash val="solid"/>
          </a:ln>
        </p:spPr>
        <p:txBody>
          <a:bodyPr wrap="square" lIns="0" tIns="0" rIns="0" bIns="0" rtlCol="0" anchor="t"/>
          <a:lstStyle/>
          <a:p>
            <a:endParaRPr lang="en-US" sz="2000"/>
          </a:p>
        </p:txBody>
      </p:sp>
      <p:sp>
        <p:nvSpPr>
          <p:cNvPr id="17" name="Text"/>
          <p:cNvSpPr/>
          <p:nvPr/>
        </p:nvSpPr>
        <p:spPr>
          <a:xfrm>
            <a:off x="9257398" y="1651000"/>
            <a:ext cx="2274199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2000" b="1" dirty="0">
                <a:solidFill>
                  <a:srgbClr val="262626"/>
                </a:solidFill>
                <a:latin typeface="Calibri" pitchFamily="34" charset="0"/>
                <a:cs typeface="Calibri" pitchFamily="34" charset="0"/>
              </a:rPr>
              <a:t>Offline + cloud</a:t>
            </a:r>
          </a:p>
        </p:txBody>
      </p:sp>
      <p:sp>
        <p:nvSpPr>
          <p:cNvPr id="18" name="Text"/>
          <p:cNvSpPr/>
          <p:nvPr/>
        </p:nvSpPr>
        <p:spPr>
          <a:xfrm>
            <a:off x="9257398" y="2209800"/>
            <a:ext cx="2274199" cy="939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8000"/>
              </a:lnSpc>
              <a:buNone/>
            </a:pPr>
            <a:r>
              <a:rPr lang="en-US" sz="1900" dirty="0">
                <a:solidFill>
                  <a:srgbClr val="595959"/>
                </a:solidFill>
                <a:latin typeface="Calibri" pitchFamily="34" charset="0"/>
                <a:cs typeface="Calibri" pitchFamily="34" charset="0"/>
              </a:rPr>
              <a:t>Room local cache + Firebase + synchronization strategy</a:t>
            </a:r>
          </a:p>
        </p:txBody>
      </p:sp>
      <p:sp>
        <p:nvSpPr>
          <p:cNvPr id="19" name="Dot"/>
          <p:cNvSpPr/>
          <p:nvPr/>
        </p:nvSpPr>
        <p:spPr>
          <a:xfrm>
            <a:off x="482600" y="3632200"/>
            <a:ext cx="127000" cy="127000"/>
          </a:xfrm>
          <a:prstGeom prst="ellipse">
            <a:avLst/>
          </a:prstGeom>
          <a:solidFill>
            <a:srgbClr val="2D6B6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0" name="Text"/>
          <p:cNvSpPr/>
          <p:nvPr/>
        </p:nvSpPr>
        <p:spPr>
          <a:xfrm>
            <a:off x="838200" y="3505200"/>
            <a:ext cx="10871200" cy="482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2000" dirty="0">
                <a:solidFill>
                  <a:srgbClr val="262626"/>
                </a:solidFill>
                <a:latin typeface="Calibri" pitchFamily="34" charset="0"/>
                <a:cs typeface="Calibri" pitchFamily="34" charset="0"/>
              </a:rPr>
              <a:t>Ask: What is the data structure? Must the data work offline?</a:t>
            </a:r>
          </a:p>
        </p:txBody>
      </p:sp>
      <p:sp>
        <p:nvSpPr>
          <p:cNvPr id="21" name="Dot"/>
          <p:cNvSpPr/>
          <p:nvPr/>
        </p:nvSpPr>
        <p:spPr>
          <a:xfrm>
            <a:off x="482600" y="4114800"/>
            <a:ext cx="127000" cy="127000"/>
          </a:xfrm>
          <a:prstGeom prst="ellipse">
            <a:avLst/>
          </a:prstGeom>
          <a:solidFill>
            <a:srgbClr val="2D6B6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2" name="Text"/>
          <p:cNvSpPr/>
          <p:nvPr/>
        </p:nvSpPr>
        <p:spPr>
          <a:xfrm>
            <a:off x="838200" y="3987800"/>
            <a:ext cx="10871200" cy="482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2000" dirty="0">
                <a:solidFill>
                  <a:srgbClr val="262626"/>
                </a:solidFill>
                <a:latin typeface="Calibri" pitchFamily="34" charset="0"/>
                <a:cs typeface="Calibri" pitchFamily="34" charset="0"/>
              </a:rPr>
              <a:t>Ask: Must multiple devices/users see the same data? How frequently does the data change?</a:t>
            </a:r>
          </a:p>
        </p:txBody>
      </p:sp>
      <p:sp>
        <p:nvSpPr>
          <p:cNvPr id="23" name="Dot"/>
          <p:cNvSpPr/>
          <p:nvPr/>
        </p:nvSpPr>
        <p:spPr>
          <a:xfrm>
            <a:off x="482600" y="4597400"/>
            <a:ext cx="127000" cy="127000"/>
          </a:xfrm>
          <a:prstGeom prst="ellipse">
            <a:avLst/>
          </a:prstGeom>
          <a:solidFill>
            <a:srgbClr val="2D6B6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4" name="Text"/>
          <p:cNvSpPr/>
          <p:nvPr/>
        </p:nvSpPr>
        <p:spPr>
          <a:xfrm>
            <a:off x="838200" y="4470400"/>
            <a:ext cx="10871200" cy="482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2000" dirty="0">
                <a:solidFill>
                  <a:srgbClr val="262626"/>
                </a:solidFill>
                <a:latin typeface="Calibri" pitchFamily="34" charset="0"/>
                <a:cs typeface="Calibri" pitchFamily="34" charset="0"/>
              </a:rPr>
              <a:t>Ask: What happens when two changes conflict?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r"/>
          <p:cNvSpPr/>
          <p:nvPr/>
        </p:nvSpPr>
        <p:spPr>
          <a:xfrm>
            <a:off x="0" y="0"/>
            <a:ext cx="12184380" cy="109728"/>
          </a:xfrm>
          <a:prstGeom prst="rect">
            <a:avLst/>
          </a:prstGeom>
          <a:solidFill>
            <a:srgbClr val="2D6B66"/>
          </a:solidFill>
          <a:ln/>
        </p:spPr>
        <p:txBody>
          <a:bodyPr wrap="square" lIns="0" tIns="0" rIns="0" bIns="0" rtlCol="0" anchor="t"/>
          <a:lstStyle/>
          <a:p>
            <a:endParaRPr lang="en-US"/>
          </a:p>
        </p:txBody>
      </p:sp>
      <p:sp>
        <p:nvSpPr>
          <p:cNvPr id="3" name="Text"/>
          <p:cNvSpPr/>
          <p:nvPr/>
        </p:nvSpPr>
        <p:spPr>
          <a:xfrm>
            <a:off x="457200" y="237744"/>
            <a:ext cx="10515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spc="200" dirty="0">
                <a:solidFill>
                  <a:srgbClr val="2D6B66"/>
                </a:solidFill>
                <a:latin typeface="Calibri" pitchFamily="34" charset="0"/>
                <a:cs typeface="Calibri" pitchFamily="34" charset="0"/>
              </a:rPr>
              <a:t>MOBILE APPLICATION DEVELOPMENT  ·  DATABASE CONNECTIVITY</a:t>
            </a:r>
          </a:p>
        </p:txBody>
      </p:sp>
      <p:sp>
        <p:nvSpPr>
          <p:cNvPr id="4" name="Text"/>
          <p:cNvSpPr/>
          <p:nvPr/>
        </p:nvSpPr>
        <p:spPr>
          <a:xfrm>
            <a:off x="457200" y="530352"/>
            <a:ext cx="1123950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3300" b="1" dirty="0">
                <a:solidFill>
                  <a:srgbClr val="262626"/>
                </a:solidFill>
                <a:latin typeface="Calibri Light" pitchFamily="34" charset="0"/>
                <a:cs typeface="Calibri Light" pitchFamily="34" charset="0"/>
              </a:rPr>
              <a:t>Mini Case Study: Student Directory</a:t>
            </a:r>
          </a:p>
        </p:txBody>
      </p:sp>
      <p:sp>
        <p:nvSpPr>
          <p:cNvPr id="5" name="Rule"/>
          <p:cNvSpPr/>
          <p:nvPr/>
        </p:nvSpPr>
        <p:spPr>
          <a:xfrm>
            <a:off x="457200" y="1243584"/>
            <a:ext cx="1005840" cy="0"/>
          </a:xfrm>
          <a:prstGeom prst="line">
            <a:avLst/>
          </a:prstGeom>
          <a:noFill/>
          <a:ln w="31750">
            <a:solidFill>
              <a:srgbClr val="660000"/>
            </a:solidFill>
            <a:prstDash val="solid"/>
          </a:ln>
        </p:spPr>
        <p:txBody>
          <a:bodyPr wrap="square" lIns="0" tIns="0" rIns="0" bIns="0" rtlCol="0" anchor="t"/>
          <a:lstStyle/>
          <a:p>
            <a:endParaRPr lang="en-US"/>
          </a:p>
        </p:txBody>
      </p:sp>
      <p:sp>
        <p:nvSpPr>
          <p:cNvPr id="6" name="Text"/>
          <p:cNvSpPr/>
          <p:nvPr/>
        </p:nvSpPr>
        <p:spPr>
          <a:xfrm>
            <a:off x="8778240" y="6337300"/>
            <a:ext cx="2954020" cy="2921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300" dirty="0">
                <a:solidFill>
                  <a:srgbClr val="595959"/>
                </a:solidFill>
                <a:latin typeface="Calibri" pitchFamily="34" charset="0"/>
                <a:cs typeface="Calibri" pitchFamily="34" charset="0"/>
              </a:rPr>
              <a:t>Mobile Application Development  ·  31 / 34</a:t>
            </a:r>
          </a:p>
        </p:txBody>
      </p:sp>
      <p:sp>
        <p:nvSpPr>
          <p:cNvPr id="7" name="Dot"/>
          <p:cNvSpPr/>
          <p:nvPr/>
        </p:nvSpPr>
        <p:spPr>
          <a:xfrm>
            <a:off x="482600" y="1600200"/>
            <a:ext cx="127000" cy="127000"/>
          </a:xfrm>
          <a:prstGeom prst="ellipse">
            <a:avLst/>
          </a:prstGeom>
          <a:solidFill>
            <a:srgbClr val="2D6B6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"/>
          <p:cNvSpPr/>
          <p:nvPr/>
        </p:nvSpPr>
        <p:spPr>
          <a:xfrm>
            <a:off x="838200" y="1473200"/>
            <a:ext cx="10871200" cy="584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2000" dirty="0">
                <a:solidFill>
                  <a:srgbClr val="262626"/>
                </a:solidFill>
                <a:latin typeface="Calibri" pitchFamily="34" charset="0"/>
                <a:cs typeface="Calibri" pitchFamily="34" charset="0"/>
              </a:rPr>
              <a:t>Requirement: display at least 10 students with name, registration number, and department.</a:t>
            </a:r>
          </a:p>
        </p:txBody>
      </p:sp>
      <p:sp>
        <p:nvSpPr>
          <p:cNvPr id="9" name="Dot"/>
          <p:cNvSpPr/>
          <p:nvPr/>
        </p:nvSpPr>
        <p:spPr>
          <a:xfrm>
            <a:off x="482600" y="2184400"/>
            <a:ext cx="127000" cy="127000"/>
          </a:xfrm>
          <a:prstGeom prst="ellipse">
            <a:avLst/>
          </a:prstGeom>
          <a:solidFill>
            <a:srgbClr val="2D6B6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"/>
          <p:cNvSpPr/>
          <p:nvPr/>
        </p:nvSpPr>
        <p:spPr>
          <a:xfrm>
            <a:off x="838200" y="2057400"/>
            <a:ext cx="10871200" cy="584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2000" dirty="0">
                <a:solidFill>
                  <a:srgbClr val="262626"/>
                </a:solidFill>
                <a:latin typeface="Calibri" pitchFamily="34" charset="0"/>
                <a:cs typeface="Calibri" pitchFamily="34" charset="0"/>
              </a:rPr>
              <a:t>Local requirement: the directory should remain viewable without internet.</a:t>
            </a:r>
          </a:p>
        </p:txBody>
      </p:sp>
      <p:sp>
        <p:nvSpPr>
          <p:cNvPr id="11" name="Dot"/>
          <p:cNvSpPr/>
          <p:nvPr/>
        </p:nvSpPr>
        <p:spPr>
          <a:xfrm>
            <a:off x="482600" y="2768600"/>
            <a:ext cx="127000" cy="127000"/>
          </a:xfrm>
          <a:prstGeom prst="ellipse">
            <a:avLst/>
          </a:prstGeom>
          <a:solidFill>
            <a:srgbClr val="2D6B6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Text"/>
          <p:cNvSpPr/>
          <p:nvPr/>
        </p:nvSpPr>
        <p:spPr>
          <a:xfrm>
            <a:off x="838200" y="2641600"/>
            <a:ext cx="10871200" cy="584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2000" dirty="0">
                <a:solidFill>
                  <a:srgbClr val="262626"/>
                </a:solidFill>
                <a:latin typeface="Calibri" pitchFamily="34" charset="0"/>
                <a:cs typeface="Calibri" pitchFamily="34" charset="0"/>
              </a:rPr>
              <a:t>Cloud requirement: authorized staff can add or update student records.</a:t>
            </a:r>
          </a:p>
        </p:txBody>
      </p:sp>
      <p:sp>
        <p:nvSpPr>
          <p:cNvPr id="13" name="Dot"/>
          <p:cNvSpPr/>
          <p:nvPr/>
        </p:nvSpPr>
        <p:spPr>
          <a:xfrm>
            <a:off x="482600" y="3352800"/>
            <a:ext cx="127000" cy="127000"/>
          </a:xfrm>
          <a:prstGeom prst="ellipse">
            <a:avLst/>
          </a:prstGeom>
          <a:solidFill>
            <a:srgbClr val="2D6B6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Text"/>
          <p:cNvSpPr/>
          <p:nvPr/>
        </p:nvSpPr>
        <p:spPr>
          <a:xfrm>
            <a:off x="838200" y="3225800"/>
            <a:ext cx="10871200" cy="584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2000" dirty="0">
                <a:solidFill>
                  <a:srgbClr val="262626"/>
                </a:solidFill>
                <a:latin typeface="Calibri" pitchFamily="34" charset="0"/>
                <a:cs typeface="Calibri" pitchFamily="34" charset="0"/>
              </a:rPr>
              <a:t>Suggested design: Room stores the local copy; Firebase stores the shared cloud copy.</a:t>
            </a:r>
          </a:p>
        </p:txBody>
      </p:sp>
      <p:sp>
        <p:nvSpPr>
          <p:cNvPr id="15" name="Dot"/>
          <p:cNvSpPr/>
          <p:nvPr/>
        </p:nvSpPr>
        <p:spPr>
          <a:xfrm>
            <a:off x="482600" y="3937000"/>
            <a:ext cx="127000" cy="127000"/>
          </a:xfrm>
          <a:prstGeom prst="ellipse">
            <a:avLst/>
          </a:prstGeom>
          <a:solidFill>
            <a:srgbClr val="2D6B6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Text"/>
          <p:cNvSpPr/>
          <p:nvPr/>
        </p:nvSpPr>
        <p:spPr>
          <a:xfrm>
            <a:off x="838200" y="3810000"/>
            <a:ext cx="10871200" cy="584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2000" dirty="0">
                <a:solidFill>
                  <a:srgbClr val="262626"/>
                </a:solidFill>
                <a:latin typeface="Calibri" pitchFamily="34" charset="0"/>
                <a:cs typeface="Calibri" pitchFamily="34" charset="0"/>
              </a:rPr>
              <a:t>Synchronization: fetch remote changes when connected, update Room, and display the Room data in RecyclerView.</a:t>
            </a:r>
          </a:p>
        </p:txBody>
      </p:sp>
      <p:sp>
        <p:nvSpPr>
          <p:cNvPr id="17" name="Text"/>
          <p:cNvSpPr/>
          <p:nvPr/>
        </p:nvSpPr>
        <p:spPr>
          <a:xfrm>
            <a:off x="457200" y="4622800"/>
            <a:ext cx="11277600" cy="431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2000" b="1" dirty="0">
                <a:solidFill>
                  <a:srgbClr val="2D6B66"/>
                </a:solidFill>
                <a:latin typeface="Calibri" pitchFamily="34" charset="0"/>
                <a:cs typeface="Calibri" pitchFamily="34" charset="0"/>
              </a:rPr>
              <a:t>Student task: sketch the data flow and identify where validation, authentication, caching, and synchronization occur.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r"/>
          <p:cNvSpPr/>
          <p:nvPr/>
        </p:nvSpPr>
        <p:spPr>
          <a:xfrm>
            <a:off x="0" y="0"/>
            <a:ext cx="12184380" cy="109728"/>
          </a:xfrm>
          <a:prstGeom prst="rect">
            <a:avLst/>
          </a:prstGeom>
          <a:solidFill>
            <a:srgbClr val="2D6B66"/>
          </a:solidFill>
          <a:ln/>
        </p:spPr>
        <p:txBody>
          <a:bodyPr wrap="square" lIns="0" tIns="0" rIns="0" bIns="0" rtlCol="0" anchor="t"/>
          <a:lstStyle/>
          <a:p>
            <a:endParaRPr lang="en-US"/>
          </a:p>
        </p:txBody>
      </p:sp>
      <p:sp>
        <p:nvSpPr>
          <p:cNvPr id="3" name="Text"/>
          <p:cNvSpPr/>
          <p:nvPr/>
        </p:nvSpPr>
        <p:spPr>
          <a:xfrm>
            <a:off x="457200" y="237744"/>
            <a:ext cx="10515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spc="200" dirty="0">
                <a:solidFill>
                  <a:srgbClr val="2D6B66"/>
                </a:solidFill>
                <a:latin typeface="Calibri" pitchFamily="34" charset="0"/>
                <a:cs typeface="Calibri" pitchFamily="34" charset="0"/>
              </a:rPr>
              <a:t>MOBILE APPLICATION DEVELOPMENT  ·  DATABASE CONNECTIVITY</a:t>
            </a:r>
          </a:p>
        </p:txBody>
      </p:sp>
      <p:sp>
        <p:nvSpPr>
          <p:cNvPr id="4" name="Text"/>
          <p:cNvSpPr/>
          <p:nvPr/>
        </p:nvSpPr>
        <p:spPr>
          <a:xfrm>
            <a:off x="457200" y="530352"/>
            <a:ext cx="1123950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3300" b="1" dirty="0">
                <a:solidFill>
                  <a:srgbClr val="262626"/>
                </a:solidFill>
                <a:latin typeface="Calibri Light" pitchFamily="34" charset="0"/>
                <a:cs typeface="Calibri Light" pitchFamily="34" charset="0"/>
              </a:rPr>
              <a:t>Key Takeaways</a:t>
            </a:r>
          </a:p>
        </p:txBody>
      </p:sp>
      <p:sp>
        <p:nvSpPr>
          <p:cNvPr id="5" name="Rule"/>
          <p:cNvSpPr/>
          <p:nvPr/>
        </p:nvSpPr>
        <p:spPr>
          <a:xfrm>
            <a:off x="457200" y="1243584"/>
            <a:ext cx="1005840" cy="0"/>
          </a:xfrm>
          <a:prstGeom prst="line">
            <a:avLst/>
          </a:prstGeom>
          <a:noFill/>
          <a:ln w="31750">
            <a:solidFill>
              <a:srgbClr val="660000"/>
            </a:solidFill>
            <a:prstDash val="solid"/>
          </a:ln>
        </p:spPr>
        <p:txBody>
          <a:bodyPr wrap="square" lIns="0" tIns="0" rIns="0" bIns="0" rtlCol="0" anchor="t"/>
          <a:lstStyle/>
          <a:p>
            <a:endParaRPr lang="en-US"/>
          </a:p>
        </p:txBody>
      </p:sp>
      <p:sp>
        <p:nvSpPr>
          <p:cNvPr id="6" name="Text"/>
          <p:cNvSpPr/>
          <p:nvPr/>
        </p:nvSpPr>
        <p:spPr>
          <a:xfrm>
            <a:off x="8778240" y="6337300"/>
            <a:ext cx="2954020" cy="2921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300" dirty="0">
                <a:solidFill>
                  <a:srgbClr val="595959"/>
                </a:solidFill>
                <a:latin typeface="Calibri" pitchFamily="34" charset="0"/>
                <a:cs typeface="Calibri" pitchFamily="34" charset="0"/>
              </a:rPr>
              <a:t>Mobile Application Development  ·  32 / 34</a:t>
            </a:r>
          </a:p>
        </p:txBody>
      </p:sp>
      <p:sp>
        <p:nvSpPr>
          <p:cNvPr id="7" name="Badge"/>
          <p:cNvSpPr/>
          <p:nvPr/>
        </p:nvSpPr>
        <p:spPr>
          <a:xfrm>
            <a:off x="457200" y="1511300"/>
            <a:ext cx="419100" cy="419100"/>
          </a:xfrm>
          <a:prstGeom prst="ellipse">
            <a:avLst/>
          </a:prstGeom>
          <a:solidFill>
            <a:srgbClr val="2D6B6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BadgeTxt"/>
          <p:cNvSpPr/>
          <p:nvPr/>
        </p:nvSpPr>
        <p:spPr>
          <a:xfrm>
            <a:off x="457200" y="1511300"/>
            <a:ext cx="419100" cy="4191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cs typeface="Calibri" pitchFamily="34" charset="0"/>
              </a:rPr>
              <a:t>01</a:t>
            </a:r>
          </a:p>
        </p:txBody>
      </p:sp>
      <p:sp>
        <p:nvSpPr>
          <p:cNvPr id="9" name="Text"/>
          <p:cNvSpPr/>
          <p:nvPr/>
        </p:nvSpPr>
        <p:spPr>
          <a:xfrm>
            <a:off x="1066800" y="1435100"/>
            <a:ext cx="4724400" cy="838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900" dirty="0">
                <a:solidFill>
                  <a:srgbClr val="262626"/>
                </a:solidFill>
                <a:latin typeface="Calibri" pitchFamily="34" charset="0"/>
                <a:cs typeface="Calibri" pitchFamily="34" charset="0"/>
              </a:rPr>
              <a:t>Persistence allows Android applications to retain data beyond the current screen/process lifetime.</a:t>
            </a:r>
          </a:p>
        </p:txBody>
      </p:sp>
      <p:sp>
        <p:nvSpPr>
          <p:cNvPr id="10" name="Badge"/>
          <p:cNvSpPr/>
          <p:nvPr/>
        </p:nvSpPr>
        <p:spPr>
          <a:xfrm>
            <a:off x="457200" y="2501900"/>
            <a:ext cx="419100" cy="419100"/>
          </a:xfrm>
          <a:prstGeom prst="ellipse">
            <a:avLst/>
          </a:prstGeom>
          <a:solidFill>
            <a:srgbClr val="2D6B6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BadgeTxt"/>
          <p:cNvSpPr/>
          <p:nvPr/>
        </p:nvSpPr>
        <p:spPr>
          <a:xfrm>
            <a:off x="457200" y="2501900"/>
            <a:ext cx="419100" cy="4191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cs typeface="Calibri" pitchFamily="34" charset="0"/>
              </a:rPr>
              <a:t>02</a:t>
            </a:r>
          </a:p>
        </p:txBody>
      </p:sp>
      <p:sp>
        <p:nvSpPr>
          <p:cNvPr id="12" name="Text"/>
          <p:cNvSpPr/>
          <p:nvPr/>
        </p:nvSpPr>
        <p:spPr>
          <a:xfrm>
            <a:off x="1066800" y="2425700"/>
            <a:ext cx="4724400" cy="838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900" dirty="0">
                <a:solidFill>
                  <a:srgbClr val="262626"/>
                </a:solidFill>
                <a:latin typeface="Calibri" pitchFamily="34" charset="0"/>
                <a:cs typeface="Calibri" pitchFamily="34" charset="0"/>
              </a:rPr>
              <a:t>SQLite provides local relational storage and SQL operations.</a:t>
            </a:r>
          </a:p>
        </p:txBody>
      </p:sp>
      <p:sp>
        <p:nvSpPr>
          <p:cNvPr id="13" name="Badge"/>
          <p:cNvSpPr/>
          <p:nvPr/>
        </p:nvSpPr>
        <p:spPr>
          <a:xfrm>
            <a:off x="457200" y="3492500"/>
            <a:ext cx="419100" cy="419100"/>
          </a:xfrm>
          <a:prstGeom prst="ellipse">
            <a:avLst/>
          </a:prstGeom>
          <a:solidFill>
            <a:srgbClr val="2D6B6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BadgeTxt"/>
          <p:cNvSpPr/>
          <p:nvPr/>
        </p:nvSpPr>
        <p:spPr>
          <a:xfrm>
            <a:off x="457200" y="3492500"/>
            <a:ext cx="419100" cy="4191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cs typeface="Calibri" pitchFamily="34" charset="0"/>
              </a:rPr>
              <a:t>03</a:t>
            </a:r>
          </a:p>
        </p:txBody>
      </p:sp>
      <p:sp>
        <p:nvSpPr>
          <p:cNvPr id="15" name="Text"/>
          <p:cNvSpPr/>
          <p:nvPr/>
        </p:nvSpPr>
        <p:spPr>
          <a:xfrm>
            <a:off x="1066800" y="3416300"/>
            <a:ext cx="4724400" cy="838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900" dirty="0">
                <a:solidFill>
                  <a:srgbClr val="262626"/>
                </a:solidFill>
                <a:latin typeface="Calibri" pitchFamily="34" charset="0"/>
                <a:cs typeface="Calibri" pitchFamily="34" charset="0"/>
              </a:rPr>
              <a:t>Room provides a cleaner, type-safe abstraction over SQLite using Entity, DAO, and Database components.</a:t>
            </a:r>
          </a:p>
        </p:txBody>
      </p:sp>
      <p:sp>
        <p:nvSpPr>
          <p:cNvPr id="16" name="Badge"/>
          <p:cNvSpPr/>
          <p:nvPr/>
        </p:nvSpPr>
        <p:spPr>
          <a:xfrm>
            <a:off x="6248400" y="1511300"/>
            <a:ext cx="419100" cy="419100"/>
          </a:xfrm>
          <a:prstGeom prst="ellipse">
            <a:avLst/>
          </a:prstGeom>
          <a:solidFill>
            <a:srgbClr val="2D6B6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BadgeTxt"/>
          <p:cNvSpPr/>
          <p:nvPr/>
        </p:nvSpPr>
        <p:spPr>
          <a:xfrm>
            <a:off x="6248400" y="1511300"/>
            <a:ext cx="419100" cy="4191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cs typeface="Calibri" pitchFamily="34" charset="0"/>
              </a:rPr>
              <a:t>04</a:t>
            </a:r>
          </a:p>
        </p:txBody>
      </p:sp>
      <p:sp>
        <p:nvSpPr>
          <p:cNvPr id="18" name="Text"/>
          <p:cNvSpPr/>
          <p:nvPr/>
        </p:nvSpPr>
        <p:spPr>
          <a:xfrm>
            <a:off x="6858000" y="1435100"/>
            <a:ext cx="4724400" cy="838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900" dirty="0">
                <a:solidFill>
                  <a:srgbClr val="262626"/>
                </a:solidFill>
                <a:latin typeface="Calibri" pitchFamily="34" charset="0"/>
                <a:cs typeface="Calibri" pitchFamily="34" charset="0"/>
              </a:rPr>
              <a:t>Firebase provides cloud-backed storage for applications that need shared remote data.</a:t>
            </a:r>
          </a:p>
        </p:txBody>
      </p:sp>
      <p:sp>
        <p:nvSpPr>
          <p:cNvPr id="19" name="Badge"/>
          <p:cNvSpPr/>
          <p:nvPr/>
        </p:nvSpPr>
        <p:spPr>
          <a:xfrm>
            <a:off x="6248400" y="2501900"/>
            <a:ext cx="419100" cy="419100"/>
          </a:xfrm>
          <a:prstGeom prst="ellipse">
            <a:avLst/>
          </a:prstGeom>
          <a:solidFill>
            <a:srgbClr val="2D6B6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0" name="BadgeTxt"/>
          <p:cNvSpPr/>
          <p:nvPr/>
        </p:nvSpPr>
        <p:spPr>
          <a:xfrm>
            <a:off x="6248400" y="2501900"/>
            <a:ext cx="419100" cy="4191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cs typeface="Calibri" pitchFamily="34" charset="0"/>
              </a:rPr>
              <a:t>05</a:t>
            </a:r>
          </a:p>
        </p:txBody>
      </p:sp>
      <p:sp>
        <p:nvSpPr>
          <p:cNvPr id="21" name="Text"/>
          <p:cNvSpPr/>
          <p:nvPr/>
        </p:nvSpPr>
        <p:spPr>
          <a:xfrm>
            <a:off x="6858000" y="2425700"/>
            <a:ext cx="4724400" cy="838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900" dirty="0">
                <a:solidFill>
                  <a:srgbClr val="262626"/>
                </a:solidFill>
                <a:latin typeface="Calibri" pitchFamily="34" charset="0"/>
                <a:cs typeface="Calibri" pitchFamily="34" charset="0"/>
              </a:rPr>
              <a:t>Real-world applications often combine Room + cloud storage to support offline use and synchronization.</a:t>
            </a:r>
          </a:p>
        </p:txBody>
      </p:sp>
      <p:sp>
        <p:nvSpPr>
          <p:cNvPr id="22" name="Badge"/>
          <p:cNvSpPr/>
          <p:nvPr/>
        </p:nvSpPr>
        <p:spPr>
          <a:xfrm>
            <a:off x="6248400" y="3492500"/>
            <a:ext cx="419100" cy="419100"/>
          </a:xfrm>
          <a:prstGeom prst="ellipse">
            <a:avLst/>
          </a:prstGeom>
          <a:solidFill>
            <a:srgbClr val="2D6B6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3" name="BadgeTxt"/>
          <p:cNvSpPr/>
          <p:nvPr/>
        </p:nvSpPr>
        <p:spPr>
          <a:xfrm>
            <a:off x="6248400" y="3492500"/>
            <a:ext cx="419100" cy="4191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cs typeface="Calibri" pitchFamily="34" charset="0"/>
              </a:rPr>
              <a:t>06</a:t>
            </a:r>
          </a:p>
        </p:txBody>
      </p:sp>
      <p:sp>
        <p:nvSpPr>
          <p:cNvPr id="24" name="Text"/>
          <p:cNvSpPr/>
          <p:nvPr/>
        </p:nvSpPr>
        <p:spPr>
          <a:xfrm>
            <a:off x="6858000" y="3416300"/>
            <a:ext cx="4724400" cy="838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900" dirty="0">
                <a:solidFill>
                  <a:srgbClr val="262626"/>
                </a:solidFill>
                <a:latin typeface="Calibri" pitchFamily="34" charset="0"/>
                <a:cs typeface="Calibri" pitchFamily="34" charset="0"/>
              </a:rPr>
              <a:t>Synchronization requires explicit rules for connectivity, retries, ordering, and conflicts.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r"/>
          <p:cNvSpPr/>
          <p:nvPr/>
        </p:nvSpPr>
        <p:spPr>
          <a:xfrm>
            <a:off x="0" y="0"/>
            <a:ext cx="12184380" cy="109728"/>
          </a:xfrm>
          <a:prstGeom prst="rect">
            <a:avLst/>
          </a:prstGeom>
          <a:solidFill>
            <a:srgbClr val="2D6B66"/>
          </a:solidFill>
          <a:ln/>
        </p:spPr>
        <p:txBody>
          <a:bodyPr wrap="square" lIns="0" tIns="0" rIns="0" bIns="0" rtlCol="0" anchor="t"/>
          <a:lstStyle/>
          <a:p>
            <a:endParaRPr lang="en-US"/>
          </a:p>
        </p:txBody>
      </p:sp>
      <p:sp>
        <p:nvSpPr>
          <p:cNvPr id="3" name="Text"/>
          <p:cNvSpPr/>
          <p:nvPr/>
        </p:nvSpPr>
        <p:spPr>
          <a:xfrm>
            <a:off x="457200" y="237744"/>
            <a:ext cx="10515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spc="200" dirty="0">
                <a:solidFill>
                  <a:srgbClr val="2D6B66"/>
                </a:solidFill>
                <a:latin typeface="Calibri" pitchFamily="34" charset="0"/>
                <a:cs typeface="Calibri" pitchFamily="34" charset="0"/>
              </a:rPr>
              <a:t>MOBILE APPLICATION DEVELOPMENT  ·  DATABASE CONNECTIVITY</a:t>
            </a:r>
          </a:p>
        </p:txBody>
      </p:sp>
      <p:sp>
        <p:nvSpPr>
          <p:cNvPr id="4" name="Text"/>
          <p:cNvSpPr/>
          <p:nvPr/>
        </p:nvSpPr>
        <p:spPr>
          <a:xfrm>
            <a:off x="457200" y="530352"/>
            <a:ext cx="1123950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3300" b="1" dirty="0">
                <a:solidFill>
                  <a:srgbClr val="262626"/>
                </a:solidFill>
                <a:latin typeface="Calibri Light" pitchFamily="34" charset="0"/>
                <a:cs typeface="Calibri Light" pitchFamily="34" charset="0"/>
              </a:rPr>
              <a:t>Discussion / Quick Check</a:t>
            </a:r>
          </a:p>
        </p:txBody>
      </p:sp>
      <p:sp>
        <p:nvSpPr>
          <p:cNvPr id="5" name="Rule"/>
          <p:cNvSpPr/>
          <p:nvPr/>
        </p:nvSpPr>
        <p:spPr>
          <a:xfrm>
            <a:off x="457200" y="1243584"/>
            <a:ext cx="1005840" cy="0"/>
          </a:xfrm>
          <a:prstGeom prst="line">
            <a:avLst/>
          </a:prstGeom>
          <a:noFill/>
          <a:ln w="31750">
            <a:solidFill>
              <a:srgbClr val="660000"/>
            </a:solidFill>
            <a:prstDash val="solid"/>
          </a:ln>
        </p:spPr>
        <p:txBody>
          <a:bodyPr wrap="square" lIns="0" tIns="0" rIns="0" bIns="0" rtlCol="0" anchor="t"/>
          <a:lstStyle/>
          <a:p>
            <a:endParaRPr lang="en-US"/>
          </a:p>
        </p:txBody>
      </p:sp>
      <p:sp>
        <p:nvSpPr>
          <p:cNvPr id="6" name="Text"/>
          <p:cNvSpPr/>
          <p:nvPr/>
        </p:nvSpPr>
        <p:spPr>
          <a:xfrm>
            <a:off x="8778240" y="6337300"/>
            <a:ext cx="2954020" cy="2921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300" dirty="0">
                <a:solidFill>
                  <a:srgbClr val="595959"/>
                </a:solidFill>
                <a:latin typeface="Calibri" pitchFamily="34" charset="0"/>
                <a:cs typeface="Calibri" pitchFamily="34" charset="0"/>
              </a:rPr>
              <a:t>Mobile Application Development  ·  33 / 34</a:t>
            </a:r>
          </a:p>
        </p:txBody>
      </p:sp>
      <p:sp>
        <p:nvSpPr>
          <p:cNvPr id="7" name="Badge"/>
          <p:cNvSpPr/>
          <p:nvPr/>
        </p:nvSpPr>
        <p:spPr>
          <a:xfrm>
            <a:off x="457200" y="1473200"/>
            <a:ext cx="419100" cy="419100"/>
          </a:xfrm>
          <a:prstGeom prst="ellipse">
            <a:avLst/>
          </a:prstGeom>
          <a:solidFill>
            <a:srgbClr val="2D6B6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BadgeTxt"/>
          <p:cNvSpPr/>
          <p:nvPr/>
        </p:nvSpPr>
        <p:spPr>
          <a:xfrm>
            <a:off x="457200" y="1473200"/>
            <a:ext cx="419100" cy="4191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cs typeface="Calibri" pitchFamily="34" charset="0"/>
              </a:rPr>
              <a:t>01</a:t>
            </a:r>
          </a:p>
        </p:txBody>
      </p:sp>
      <p:sp>
        <p:nvSpPr>
          <p:cNvPr id="9" name="Text"/>
          <p:cNvSpPr/>
          <p:nvPr/>
        </p:nvSpPr>
        <p:spPr>
          <a:xfrm>
            <a:off x="1066800" y="1435100"/>
            <a:ext cx="106680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2000" dirty="0">
                <a:solidFill>
                  <a:srgbClr val="262626"/>
                </a:solidFill>
                <a:latin typeface="Calibri" pitchFamily="34" charset="0"/>
                <a:cs typeface="Calibri" pitchFamily="34" charset="0"/>
              </a:rPr>
              <a:t>Why is SharedPreferences unsuitable for a large list of students?</a:t>
            </a:r>
          </a:p>
        </p:txBody>
      </p:sp>
      <p:sp>
        <p:nvSpPr>
          <p:cNvPr id="10" name="Badge"/>
          <p:cNvSpPr/>
          <p:nvPr/>
        </p:nvSpPr>
        <p:spPr>
          <a:xfrm>
            <a:off x="457200" y="2164080"/>
            <a:ext cx="419100" cy="419100"/>
          </a:xfrm>
          <a:prstGeom prst="ellipse">
            <a:avLst/>
          </a:prstGeom>
          <a:solidFill>
            <a:srgbClr val="2D6B6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BadgeTxt"/>
          <p:cNvSpPr/>
          <p:nvPr/>
        </p:nvSpPr>
        <p:spPr>
          <a:xfrm>
            <a:off x="457200" y="2164080"/>
            <a:ext cx="419100" cy="4191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cs typeface="Calibri" pitchFamily="34" charset="0"/>
              </a:rPr>
              <a:t>02</a:t>
            </a:r>
          </a:p>
        </p:txBody>
      </p:sp>
      <p:sp>
        <p:nvSpPr>
          <p:cNvPr id="12" name="Text"/>
          <p:cNvSpPr/>
          <p:nvPr/>
        </p:nvSpPr>
        <p:spPr>
          <a:xfrm>
            <a:off x="1066800" y="2125980"/>
            <a:ext cx="106680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2000" dirty="0">
                <a:solidFill>
                  <a:srgbClr val="262626"/>
                </a:solidFill>
                <a:latin typeface="Calibri" pitchFamily="34" charset="0"/>
                <a:cs typeface="Calibri" pitchFamily="34" charset="0"/>
              </a:rPr>
              <a:t>What is the role of SQLiteOpenHelper?</a:t>
            </a:r>
          </a:p>
        </p:txBody>
      </p:sp>
      <p:sp>
        <p:nvSpPr>
          <p:cNvPr id="13" name="Badge"/>
          <p:cNvSpPr/>
          <p:nvPr/>
        </p:nvSpPr>
        <p:spPr>
          <a:xfrm>
            <a:off x="457200" y="2854960"/>
            <a:ext cx="419100" cy="419100"/>
          </a:xfrm>
          <a:prstGeom prst="ellipse">
            <a:avLst/>
          </a:prstGeom>
          <a:solidFill>
            <a:srgbClr val="2D6B6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BadgeTxt"/>
          <p:cNvSpPr/>
          <p:nvPr/>
        </p:nvSpPr>
        <p:spPr>
          <a:xfrm>
            <a:off x="457200" y="2854960"/>
            <a:ext cx="419100" cy="4191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cs typeface="Calibri" pitchFamily="34" charset="0"/>
              </a:rPr>
              <a:t>03</a:t>
            </a:r>
          </a:p>
        </p:txBody>
      </p:sp>
      <p:sp>
        <p:nvSpPr>
          <p:cNvPr id="15" name="Text"/>
          <p:cNvSpPr/>
          <p:nvPr/>
        </p:nvSpPr>
        <p:spPr>
          <a:xfrm>
            <a:off x="1066800" y="2816860"/>
            <a:ext cx="106680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2000" dirty="0">
                <a:solidFill>
                  <a:srgbClr val="262626"/>
                </a:solidFill>
                <a:latin typeface="Calibri" pitchFamily="34" charset="0"/>
                <a:cs typeface="Calibri" pitchFamily="34" charset="0"/>
              </a:rPr>
              <a:t>How are Entity, DAO, and Database related in Room?</a:t>
            </a:r>
          </a:p>
        </p:txBody>
      </p:sp>
      <p:sp>
        <p:nvSpPr>
          <p:cNvPr id="16" name="Badge"/>
          <p:cNvSpPr/>
          <p:nvPr/>
        </p:nvSpPr>
        <p:spPr>
          <a:xfrm>
            <a:off x="457200" y="3545840"/>
            <a:ext cx="419100" cy="419100"/>
          </a:xfrm>
          <a:prstGeom prst="ellipse">
            <a:avLst/>
          </a:prstGeom>
          <a:solidFill>
            <a:srgbClr val="2D6B6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BadgeTxt"/>
          <p:cNvSpPr/>
          <p:nvPr/>
        </p:nvSpPr>
        <p:spPr>
          <a:xfrm>
            <a:off x="457200" y="3545840"/>
            <a:ext cx="419100" cy="4191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cs typeface="Calibri" pitchFamily="34" charset="0"/>
              </a:rPr>
              <a:t>04</a:t>
            </a:r>
          </a:p>
        </p:txBody>
      </p:sp>
      <p:sp>
        <p:nvSpPr>
          <p:cNvPr id="18" name="Text"/>
          <p:cNvSpPr/>
          <p:nvPr/>
        </p:nvSpPr>
        <p:spPr>
          <a:xfrm>
            <a:off x="1066800" y="3507740"/>
            <a:ext cx="106680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2000" dirty="0">
                <a:solidFill>
                  <a:srgbClr val="262626"/>
                </a:solidFill>
                <a:latin typeface="Calibri" pitchFamily="34" charset="0"/>
                <a:cs typeface="Calibri" pitchFamily="34" charset="0"/>
              </a:rPr>
              <a:t>Why is Room generally preferred over raw SQLite for modern Android applications?</a:t>
            </a:r>
          </a:p>
        </p:txBody>
      </p:sp>
      <p:sp>
        <p:nvSpPr>
          <p:cNvPr id="19" name="Badge"/>
          <p:cNvSpPr/>
          <p:nvPr/>
        </p:nvSpPr>
        <p:spPr>
          <a:xfrm>
            <a:off x="457200" y="4236720"/>
            <a:ext cx="419100" cy="419100"/>
          </a:xfrm>
          <a:prstGeom prst="ellipse">
            <a:avLst/>
          </a:prstGeom>
          <a:solidFill>
            <a:srgbClr val="2D6B6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0" name="BadgeTxt"/>
          <p:cNvSpPr/>
          <p:nvPr/>
        </p:nvSpPr>
        <p:spPr>
          <a:xfrm>
            <a:off x="457200" y="4236720"/>
            <a:ext cx="419100" cy="4191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cs typeface="Calibri" pitchFamily="34" charset="0"/>
              </a:rPr>
              <a:t>05</a:t>
            </a:r>
          </a:p>
        </p:txBody>
      </p:sp>
      <p:sp>
        <p:nvSpPr>
          <p:cNvPr id="21" name="Text"/>
          <p:cNvSpPr/>
          <p:nvPr/>
        </p:nvSpPr>
        <p:spPr>
          <a:xfrm>
            <a:off x="1066800" y="4198620"/>
            <a:ext cx="106680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2000" dirty="0">
                <a:solidFill>
                  <a:srgbClr val="262626"/>
                </a:solidFill>
                <a:latin typeface="Calibri" pitchFamily="34" charset="0"/>
                <a:cs typeface="Calibri" pitchFamily="34" charset="0"/>
              </a:rPr>
              <a:t>What is the difference between local and cloud data storage?</a:t>
            </a:r>
          </a:p>
        </p:txBody>
      </p:sp>
      <p:sp>
        <p:nvSpPr>
          <p:cNvPr id="22" name="Badge"/>
          <p:cNvSpPr/>
          <p:nvPr/>
        </p:nvSpPr>
        <p:spPr>
          <a:xfrm>
            <a:off x="457200" y="4927600"/>
            <a:ext cx="419100" cy="419100"/>
          </a:xfrm>
          <a:prstGeom prst="ellipse">
            <a:avLst/>
          </a:prstGeom>
          <a:solidFill>
            <a:srgbClr val="2D6B6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3" name="BadgeTxt"/>
          <p:cNvSpPr/>
          <p:nvPr/>
        </p:nvSpPr>
        <p:spPr>
          <a:xfrm>
            <a:off x="457200" y="4927600"/>
            <a:ext cx="419100" cy="4191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cs typeface="Calibri" pitchFamily="34" charset="0"/>
              </a:rPr>
              <a:t>06</a:t>
            </a:r>
          </a:p>
        </p:txBody>
      </p:sp>
      <p:sp>
        <p:nvSpPr>
          <p:cNvPr id="24" name="Text"/>
          <p:cNvSpPr/>
          <p:nvPr/>
        </p:nvSpPr>
        <p:spPr>
          <a:xfrm>
            <a:off x="1066800" y="4889500"/>
            <a:ext cx="106680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2000" dirty="0">
                <a:solidFill>
                  <a:srgbClr val="262626"/>
                </a:solidFill>
                <a:latin typeface="Calibri" pitchFamily="34" charset="0"/>
                <a:cs typeface="Calibri" pitchFamily="34" charset="0"/>
              </a:rPr>
              <a:t>Why can synchronization create conflicts?</a:t>
            </a:r>
          </a:p>
        </p:txBody>
      </p:sp>
      <p:sp>
        <p:nvSpPr>
          <p:cNvPr id="25" name="Badge"/>
          <p:cNvSpPr/>
          <p:nvPr/>
        </p:nvSpPr>
        <p:spPr>
          <a:xfrm>
            <a:off x="457200" y="5618480"/>
            <a:ext cx="419100" cy="419100"/>
          </a:xfrm>
          <a:prstGeom prst="ellipse">
            <a:avLst/>
          </a:prstGeom>
          <a:solidFill>
            <a:srgbClr val="2D6B6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6" name="BadgeTxt"/>
          <p:cNvSpPr/>
          <p:nvPr/>
        </p:nvSpPr>
        <p:spPr>
          <a:xfrm>
            <a:off x="457200" y="5618480"/>
            <a:ext cx="419100" cy="4191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cs typeface="Calibri" pitchFamily="34" charset="0"/>
              </a:rPr>
              <a:t>07</a:t>
            </a:r>
          </a:p>
        </p:txBody>
      </p:sp>
      <p:sp>
        <p:nvSpPr>
          <p:cNvPr id="27" name="Text"/>
          <p:cNvSpPr/>
          <p:nvPr/>
        </p:nvSpPr>
        <p:spPr>
          <a:xfrm>
            <a:off x="1066800" y="5580380"/>
            <a:ext cx="106680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2000" dirty="0">
                <a:solidFill>
                  <a:srgbClr val="262626"/>
                </a:solidFill>
                <a:latin typeface="Calibri" pitchFamily="34" charset="0"/>
                <a:cs typeface="Calibri" pitchFamily="34" charset="0"/>
              </a:rPr>
              <a:t>Give one situation where offline-first design is valuable.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bg>
      <p:bgPr>
        <a:solidFill>
          <a:srgbClr val="2D6B6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097280" y="-1097280"/>
            <a:ext cx="3291840" cy="3291840"/>
          </a:xfrm>
          <a:prstGeom prst="ellipse">
            <a:avLst/>
          </a:prstGeom>
          <a:solidFill>
            <a:srgbClr val="50B5AD">
              <a:alpha val="4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10058400" y="4754880"/>
            <a:ext cx="3291840" cy="3291840"/>
          </a:xfrm>
          <a:prstGeom prst="ellipse">
            <a:avLst/>
          </a:prstGeom>
          <a:solidFill>
            <a:srgbClr val="50B5AD">
              <a:alpha val="4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0" y="2788920"/>
            <a:ext cx="1218895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cs typeface="Calibri" pitchFamily="34" charset="0"/>
              </a:rPr>
              <a:t>Thank You</a:t>
            </a:r>
          </a:p>
        </p:txBody>
      </p:sp>
      <p:sp>
        <p:nvSpPr>
          <p:cNvPr id="5" name="Text 3"/>
          <p:cNvSpPr/>
          <p:nvPr/>
        </p:nvSpPr>
        <p:spPr>
          <a:xfrm>
            <a:off x="0" y="3566160"/>
            <a:ext cx="1218895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CFEDE3"/>
                </a:solidFill>
                <a:latin typeface="Calibri" pitchFamily="34" charset="0"/>
                <a:cs typeface="Calibri" pitchFamily="34" charset="0"/>
              </a:rPr>
              <a:t>Questions &amp; Discussion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webextensions/_rels/taskpanes.xml.rels><?xml version="1.0" encoding="UTF-8" standalone="yes"?>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1" width="438" row="0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d28ebace-4356-4858-9b58-046c0f41da08}">
  <we:reference id="WA200010001" version="1.0.0.1" store="en-US" storeType="OMEX"/>
  <we:alternateReferences/>
  <we:properties>
    <we:property name="Microsoft.Office.CampaignId" value="&quot;none&quot;"/>
    <we:property name="claude.fileId" value="&quot;3aa80a3d-1a60-4a43-be77-541cb19c4916&quot;"/>
  </we:properties>
  <we:bindings/>
  <we:snapshot xmlns:r="http://schemas.openxmlformats.org/officeDocument/2006/relationships"/>
</we:webextension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CD401524DC532D42A0E0ED886331A72B" ma:contentTypeVersion="13" ma:contentTypeDescription="Create a new document." ma:contentTypeScope="" ma:versionID="d936d863d335d354da51eb78ca1ae338">
  <xsd:schema xmlns:xsd="http://www.w3.org/2001/XMLSchema" xmlns:xs="http://www.w3.org/2001/XMLSchema" xmlns:p="http://schemas.microsoft.com/office/2006/metadata/properties" xmlns:ns2="f577acbf-5b0b-4b4f-9948-268e97f8d3a4" xmlns:ns3="b1e4d6ee-9f6f-43f8-a618-24f3d84da28f" targetNamespace="http://schemas.microsoft.com/office/2006/metadata/properties" ma:root="true" ma:fieldsID="5fbac08d56b1b04aa33acbc31e882ce9" ns2:_="" ns3:_="">
    <xsd:import namespace="f577acbf-5b0b-4b4f-9948-268e97f8d3a4"/>
    <xsd:import namespace="b1e4d6ee-9f6f-43f8-a618-24f3d84da28f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3:SharedWithUsers" minOccurs="0"/>
                <xsd:element ref="ns3:SharedWithDetails" minOccurs="0"/>
                <xsd:element ref="ns3:LastSharedByUser" minOccurs="0"/>
                <xsd:element ref="ns3:LastSharedByTime" minOccurs="0"/>
                <xsd:element ref="ns2:Document_x0020_Purpose" minOccurs="0"/>
                <xsd:element ref="ns2:Initiatives" minOccurs="0"/>
                <xsd:element ref="ns2:MediaServiceDateTaken" minOccurs="0"/>
                <xsd:element ref="ns2:MediaServiceAutoTags" minOccurs="0"/>
                <xsd:element ref="ns2:MediaServiceOCR" minOccurs="0"/>
                <xsd:element ref="ns2:MediaServiceLocation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f577acbf-5b0b-4b4f-9948-268e97f8d3a4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Document_x0020_Purpose" ma:index="14" nillable="true" ma:displayName="Document Purpose" ma:default="Informational" ma:format="Dropdown" ma:internalName="Document_x0020_Purpose">
      <xsd:simpleType>
        <xsd:restriction base="dms:Choice">
          <xsd:enumeration value="Informational"/>
          <xsd:enumeration value="Feature Spec"/>
          <xsd:enumeration value="Engineering Design"/>
          <xsd:enumeration value="Planning"/>
        </xsd:restriction>
      </xsd:simpleType>
    </xsd:element>
    <xsd:element name="Initiatives" ma:index="15" nillable="true" ma:displayName="Initiatives" ma:description="List of initiatives related to this document" ma:internalName="Initiatives">
      <xsd:complexType>
        <xsd:complexContent>
          <xsd:extension base="dms:MultiChoice">
            <xsd:sequence>
              <xsd:element name="Value" maxOccurs="unbounded" minOccurs="0" nillable="true">
                <xsd:simpleType>
                  <xsd:restriction base="dms:Choice">
                    <xsd:enumeration value="Add-in MAU"/>
                    <xsd:enumeration value="Custom Functions"/>
                    <xsd:enumeration value="Data &amp; Analytics"/>
                    <xsd:enumeration value="DevEx: Portals &amp; Programs"/>
                    <xsd:enumeration value="DevEx: Tools &amp; Libraries"/>
                    <xsd:enumeration value="Engineering"/>
                    <xsd:enumeration value="Excel API"/>
                    <xsd:enumeration value="In-Market Support"/>
                    <xsd:enumeration value="Maker Access"/>
                    <xsd:enumeration value="SDX Runtime &amp; Partners"/>
                    <xsd:enumeration value="SDX Service Delivery"/>
                    <xsd:enumeration value="SDX API &amp; Pipeline"/>
                    <xsd:enumeration value="Shield &amp; OCE"/>
                  </xsd:restriction>
                </xsd:simpleType>
              </xsd:element>
            </xsd:sequence>
          </xsd:extension>
        </xsd:complexContent>
      </xsd:complexType>
    </xsd:element>
    <xsd:element name="MediaServiceDateTaken" ma:index="16" nillable="true" ma:displayName="MediaServiceDateTaken" ma:hidden="true" ma:internalName="MediaServiceDateTaken" ma:readOnly="true">
      <xsd:simpleType>
        <xsd:restriction base="dms:Text"/>
      </xsd:simpleType>
    </xsd:element>
    <xsd:element name="MediaServiceAutoTags" ma:index="17" nillable="true" ma:displayName="MediaServiceAutoTags" ma:internalName="MediaServiceAutoTags" ma:readOnly="true">
      <xsd:simpleType>
        <xsd:restriction base="dms:Text"/>
      </xsd:simpleType>
    </xsd:element>
    <xsd:element name="MediaServiceOCR" ma:index="18" nillable="true" ma:displayName="MediaServiceOCR" ma:internalName="MediaServiceOCR" ma:readOnly="true">
      <xsd:simpleType>
        <xsd:restriction base="dms:Note">
          <xsd:maxLength value="255"/>
        </xsd:restriction>
      </xsd:simpleType>
    </xsd:element>
    <xsd:element name="MediaServiceLocation" ma:index="19" nillable="true" ma:displayName="MediaServiceLocation" ma:internalName="MediaServiceLocation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b1e4d6ee-9f6f-43f8-a618-24f3d84da28f" elementFormDefault="qualified">
    <xsd:import namespace="http://schemas.microsoft.com/office/2006/documentManagement/types"/>
    <xsd:import namespace="http://schemas.microsoft.com/office/infopath/2007/PartnerControls"/>
    <xsd:element name="SharedWithUsers" ma:index="10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1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LastSharedByUser" ma:index="12" nillable="true" ma:displayName="Last Shared By User" ma:hidden="true" ma:internalName="LastSharedByUser" ma:readOnly="true">
      <xsd:simpleType>
        <xsd:restriction base="dms:Note"/>
      </xsd:simpleType>
    </xsd:element>
    <xsd:element name="LastSharedByTime" ma:index="13" nillable="true" ma:displayName="Last Shared By Time" ma:hidden="true" ma:internalName="LastSharedByTime" ma:readOnly="true">
      <xsd:simpleType>
        <xsd:restriction base="dms:DateTim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Document_x0020_Purpose xmlns="f577acbf-5b0b-4b4f-9948-268e97f8d3a4">Informational</Document_x0020_Purpose>
    <Initiatives xmlns="f577acbf-5b0b-4b4f-9948-268e97f8d3a4"/>
  </documentManagement>
</p:properties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A79EAE08-AAD0-49B9-BF66-164C225CC523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f577acbf-5b0b-4b4f-9948-268e97f8d3a4"/>
    <ds:schemaRef ds:uri="b1e4d6ee-9f6f-43f8-a618-24f3d84da28f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617AB1FA-2F28-4684-9230-02ACEB6C0B0A}">
  <ds:schemaRefs>
    <ds:schemaRef ds:uri="b1e4d6ee-9f6f-43f8-a618-24f3d84da28f"/>
    <ds:schemaRef ds:uri="http://purl.org/dc/terms/"/>
    <ds:schemaRef ds:uri="http://schemas.openxmlformats.org/package/2006/metadata/core-properties"/>
    <ds:schemaRef ds:uri="f577acbf-5b0b-4b4f-9948-268e97f8d3a4"/>
    <ds:schemaRef ds:uri="http://schemas.microsoft.com/office/2006/documentManagement/types"/>
    <ds:schemaRef ds:uri="http://schemas.microsoft.com/office/infopath/2007/PartnerControls"/>
    <ds:schemaRef ds:uri="http://purl.org/dc/elements/1.1/"/>
    <ds:schemaRef ds:uri="http://schemas.microsoft.com/office/2006/metadata/properties"/>
    <ds:schemaRef ds:uri="http://www.w3.org/XML/1998/namespace"/>
    <ds:schemaRef ds:uri="http://purl.org/dc/dcmitype/"/>
  </ds:schemaRefs>
</ds:datastoreItem>
</file>

<file path=customXml/itemProps3.xml><?xml version="1.0" encoding="utf-8"?>
<ds:datastoreItem xmlns:ds="http://schemas.openxmlformats.org/officeDocument/2006/customXml" ds:itemID="{E21AFCC0-734A-4A90-A597-A1CB34860DCD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1731</TotalTime>
  <Words>2810</Words>
  <Application>Microsoft Office PowerPoint</Application>
  <PresentationFormat>Widescreen</PresentationFormat>
  <Paragraphs>439</Paragraphs>
  <Slides>34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34</vt:i4>
      </vt:variant>
    </vt:vector>
  </HeadingPairs>
  <TitlesOfParts>
    <vt:vector size="39" baseType="lpstr">
      <vt:lpstr>Arial</vt:lpstr>
      <vt:lpstr>Calibri</vt:lpstr>
      <vt:lpstr>Calibri Light</vt:lpstr>
      <vt:lpstr>Consolas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Microsoft</dc:creator>
  <cp:lastModifiedBy>Kaveesha Sammani</cp:lastModifiedBy>
  <cp:revision>7</cp:revision>
  <dcterms:created xsi:type="dcterms:W3CDTF">2018-06-07T21:39:02Z</dcterms:created>
  <dcterms:modified xsi:type="dcterms:W3CDTF">2026-08-18T05:32:10Z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0x010100CD401524DC532D42A0E0ED886331A72B</vt:lpwstr>
  </property>
  <property fmtid="{D5CDD505-2E9C-101B-9397-08002B2CF9AE}" pid="3" name="MSIP_Label_f42aa342-8706-4288-bd11-ebb85995028c_Enabled">
    <vt:lpwstr>True</vt:lpwstr>
  </property>
  <property fmtid="{D5CDD505-2E9C-101B-9397-08002B2CF9AE}" pid="4" name="MSIP_Label_f42aa342-8706-4288-bd11-ebb85995028c_SiteId">
    <vt:lpwstr>72f988bf-86f1-41af-91ab-2d7cd011db47</vt:lpwstr>
  </property>
  <property fmtid="{D5CDD505-2E9C-101B-9397-08002B2CF9AE}" pid="5" name="MSIP_Label_f42aa342-8706-4288-bd11-ebb85995028c_Owner">
    <vt:lpwstr>t-dahop@microsoft.com</vt:lpwstr>
  </property>
  <property fmtid="{D5CDD505-2E9C-101B-9397-08002B2CF9AE}" pid="6" name="MSIP_Label_f42aa342-8706-4288-bd11-ebb85995028c_SetDate">
    <vt:lpwstr>2018-06-18T13:45:27.3782680Z</vt:lpwstr>
  </property>
  <property fmtid="{D5CDD505-2E9C-101B-9397-08002B2CF9AE}" pid="7" name="MSIP_Label_f42aa342-8706-4288-bd11-ebb85995028c_Name">
    <vt:lpwstr>General</vt:lpwstr>
  </property>
  <property fmtid="{D5CDD505-2E9C-101B-9397-08002B2CF9AE}" pid="8" name="MSIP_Label_f42aa342-8706-4288-bd11-ebb85995028c_Application">
    <vt:lpwstr>Microsoft Azure Information Protection</vt:lpwstr>
  </property>
  <property fmtid="{D5CDD505-2E9C-101B-9397-08002B2CF9AE}" pid="9" name="MSIP_Label_f42aa342-8706-4288-bd11-ebb85995028c_Extended_MSFT_Method">
    <vt:lpwstr>Automatic</vt:lpwstr>
  </property>
  <property fmtid="{D5CDD505-2E9C-101B-9397-08002B2CF9AE}" pid="10" name="Sensitivity">
    <vt:lpwstr>General</vt:lpwstr>
  </property>
</Properties>
</file>