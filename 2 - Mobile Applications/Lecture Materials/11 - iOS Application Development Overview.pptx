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300" r:id="rId5"/>
    <p:sldId id="301" r:id="rId6"/>
    <p:sldId id="302" r:id="rId7"/>
    <p:sldId id="338" r:id="rId8"/>
    <p:sldId id="303" r:id="rId9"/>
    <p:sldId id="324" r:id="rId10"/>
    <p:sldId id="334" r:id="rId11"/>
    <p:sldId id="309" r:id="rId12"/>
    <p:sldId id="311" r:id="rId13"/>
    <p:sldId id="335" r:id="rId14"/>
    <p:sldId id="305" r:id="rId15"/>
    <p:sldId id="313" r:id="rId16"/>
    <p:sldId id="339" r:id="rId17"/>
    <p:sldId id="340" r:id="rId18"/>
    <p:sldId id="307" r:id="rId19"/>
    <p:sldId id="319" r:id="rId20"/>
    <p:sldId id="336" r:id="rId21"/>
    <p:sldId id="320" r:id="rId22"/>
    <p:sldId id="337" r:id="rId23"/>
    <p:sldId id="331" r:id="rId24"/>
    <p:sldId id="332" r:id="rId25"/>
    <p:sldId id="33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914400"/>
            <a:ext cx="2926080" cy="2926080"/>
          </a:xfrm>
          <a:prstGeom prst="ellipse">
            <a:avLst/>
          </a:prstGeom>
          <a:solidFill>
            <a:srgbClr val="50B5A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5120640"/>
            <a:ext cx="2377440" cy="2377440"/>
          </a:xfrm>
          <a:prstGeom prst="ellipse">
            <a:avLst/>
          </a:prstGeom>
          <a:solidFill>
            <a:srgbClr val="50B5A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54696" y="0"/>
            <a:ext cx="128016" cy="6858000"/>
          </a:xfrm>
          <a:prstGeom prst="rect">
            <a:avLst/>
          </a:prstGeom>
          <a:solidFill>
            <a:srgbClr val="F6DD2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82712" y="0"/>
            <a:ext cx="18288" cy="6858000"/>
          </a:xfrm>
          <a:prstGeom prst="rect">
            <a:avLst/>
          </a:prstGeom>
          <a:solidFill>
            <a:srgbClr val="660000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BSC (HONS) IN INFORMATION TECHNOLOGY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1706880"/>
            <a:ext cx="7223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iOS Application Development Overview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iOS Architecture, Swift &amp; SwiftUI, the App Store Ecosystem &amp; a Comparison with Android</a:t>
            </a:r>
          </a:p>
        </p:txBody>
      </p:sp>
      <p:pic>
        <p:nvPicPr>
          <p:cNvPr id="11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743200"/>
            <a:ext cx="141732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Learning Outcomes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 / 22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511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4732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Describe the iOS ecosystem and the control Apple holds over hardware, software, and distribution.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349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349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3114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Explain the four layers of the iOS architecture and what each layer provides.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31877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31877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31496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Read basic Swift syntax: variables, constants, optionals, functions, and classes.</a:t>
            </a:r>
          </a:p>
        </p:txBody>
      </p:sp>
      <p:sp>
        <p:nvSpPr>
          <p:cNvPr id="16" name="Badge"/>
          <p:cNvSpPr/>
          <p:nvPr/>
        </p:nvSpPr>
        <p:spPr>
          <a:xfrm>
            <a:off x="457200" y="40259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457200" y="40259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1066800" y="39878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Distinguish UIKit with Storyboards from the declarative SwiftUI approach.</a:t>
            </a:r>
          </a:p>
        </p:txBody>
      </p:sp>
      <p:sp>
        <p:nvSpPr>
          <p:cNvPr id="19" name="Badge"/>
          <p:cNvSpPr/>
          <p:nvPr/>
        </p:nvSpPr>
        <p:spPr>
          <a:xfrm>
            <a:off x="457200" y="48641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457200" y="48641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1066800" y="48260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Outline how an iOS app reaches users through the App Store review process.</a:t>
            </a:r>
          </a:p>
        </p:txBody>
      </p:sp>
      <p:sp>
        <p:nvSpPr>
          <p:cNvPr id="22" name="Badge"/>
          <p:cNvSpPr/>
          <p:nvPr/>
        </p:nvSpPr>
        <p:spPr>
          <a:xfrm>
            <a:off x="457200" y="5702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457200" y="5702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1066800" y="56642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Compare iOS and Android across language, tooling, UI framework, and distribution.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What Is the iOS Ecosystem?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3 / 22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iOS is a closed, tightly controlled ecosystem owned and managed end to end by Apple.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3368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209800"/>
            <a:ext cx="10871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Apple supplies the hardware, the operating system, the tools, the language, and the store.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3073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946400"/>
            <a:ext cx="10871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This topic is covered in theory only, since iOS development requires macOS hardware.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835400"/>
            <a:ext cx="3635822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60400" y="40132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Apple controls</a:t>
            </a:r>
          </a:p>
        </p:txBody>
      </p:sp>
      <p:sp>
        <p:nvSpPr>
          <p:cNvPr id="15" name="Text"/>
          <p:cNvSpPr/>
          <p:nvPr/>
        </p:nvSpPr>
        <p:spPr>
          <a:xfrm>
            <a:off x="660400" y="4572000"/>
            <a:ext cx="322942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Devices, iOS itself, Xcode, Swift, the UI frameworks, and the App Store.</a:t>
            </a:r>
          </a:p>
        </p:txBody>
      </p:sp>
      <p:sp>
        <p:nvSpPr>
          <p:cNvPr id="16" name="Card"/>
          <p:cNvSpPr/>
          <p:nvPr/>
        </p:nvSpPr>
        <p:spPr>
          <a:xfrm>
            <a:off x="4278089" y="3835400"/>
            <a:ext cx="3635822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4481289" y="40132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Android differs</a:t>
            </a:r>
          </a:p>
        </p:txBody>
      </p:sp>
      <p:sp>
        <p:nvSpPr>
          <p:cNvPr id="18" name="Text"/>
          <p:cNvSpPr/>
          <p:nvPr/>
        </p:nvSpPr>
        <p:spPr>
          <a:xfrm>
            <a:off x="4481289" y="4572000"/>
            <a:ext cx="322942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Many manufacturers, an open-source OS, and several competing app stores.</a:t>
            </a:r>
          </a:p>
        </p:txBody>
      </p:sp>
      <p:sp>
        <p:nvSpPr>
          <p:cNvPr id="19" name="Card"/>
          <p:cNvSpPr/>
          <p:nvPr/>
        </p:nvSpPr>
        <p:spPr>
          <a:xfrm>
            <a:off x="8098978" y="3835400"/>
            <a:ext cx="3635822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8302178" y="40132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Consequence</a:t>
            </a:r>
          </a:p>
        </p:txBody>
      </p:sp>
      <p:sp>
        <p:nvSpPr>
          <p:cNvPr id="21" name="Text"/>
          <p:cNvSpPr/>
          <p:nvPr/>
        </p:nvSpPr>
        <p:spPr>
          <a:xfrm>
            <a:off x="8302178" y="4572000"/>
            <a:ext cx="322942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Far fewer variations to support, but much less freedom for the developer.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Apple Hardware and Devices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4 / 22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iOS apps run only on Apple hardware: iPhone, iPad, and iPod Touch.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184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0574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Apple designs both the silicon and the operating system, so the two are tightly optimised.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768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6416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Screen sizes, chipsets, and OS versions form a small and predictable set.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378200"/>
            <a:ext cx="5546266" cy="1727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60400" y="3556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iOS</a:t>
            </a:r>
          </a:p>
        </p:txBody>
      </p:sp>
      <p:sp>
        <p:nvSpPr>
          <p:cNvPr id="15" name="Text"/>
          <p:cNvSpPr/>
          <p:nvPr/>
        </p:nvSpPr>
        <p:spPr>
          <a:xfrm>
            <a:off x="660400" y="4114800"/>
            <a:ext cx="513986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 short list of current devices, most of them running a recent iOS version.</a:t>
            </a:r>
          </a:p>
        </p:txBody>
      </p:sp>
      <p:sp>
        <p:nvSpPr>
          <p:cNvPr id="16" name="Card"/>
          <p:cNvSpPr/>
          <p:nvPr/>
        </p:nvSpPr>
        <p:spPr>
          <a:xfrm>
            <a:off x="6188533" y="3378200"/>
            <a:ext cx="5546266" cy="1727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6391733" y="3556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Android</a:t>
            </a:r>
          </a:p>
        </p:txBody>
      </p:sp>
      <p:sp>
        <p:nvSpPr>
          <p:cNvPr id="18" name="Text"/>
          <p:cNvSpPr/>
          <p:nvPr/>
        </p:nvSpPr>
        <p:spPr>
          <a:xfrm>
            <a:off x="6391733" y="4114800"/>
            <a:ext cx="513986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Thousands of models from many vendors, spread across many OS versions.</a:t>
            </a:r>
          </a:p>
        </p:txBody>
      </p:sp>
      <p:sp>
        <p:nvSpPr>
          <p:cNvPr id="19" name="Text"/>
          <p:cNvSpPr/>
          <p:nvPr/>
        </p:nvSpPr>
        <p:spPr>
          <a:xfrm>
            <a:off x="457200" y="53214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Less fragmentation means simpler testing and more consistent UI, but no low-cost device tier.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iOS Layered Architecture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5 / 22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454403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Cocoa Touch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1967367"/>
            <a:ext cx="22741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The top layer, where developers work: UIKit, SwiftUI, gestures, and notifications.</a:t>
            </a:r>
          </a:p>
        </p:txBody>
      </p:sp>
      <p:sp>
        <p:nvSpPr>
          <p:cNvPr id="10" name="Card"/>
          <p:cNvSpPr/>
          <p:nvPr/>
        </p:nvSpPr>
        <p:spPr>
          <a:xfrm>
            <a:off x="3322866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3526066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Media</a:t>
            </a:r>
          </a:p>
        </p:txBody>
      </p:sp>
      <p:sp>
        <p:nvSpPr>
          <p:cNvPr id="12" name="Text"/>
          <p:cNvSpPr/>
          <p:nvPr/>
        </p:nvSpPr>
        <p:spPr>
          <a:xfrm>
            <a:off x="3526066" y="2209800"/>
            <a:ext cx="22741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Graphics, audio, video, and animation, via Core Animation.</a:t>
            </a:r>
          </a:p>
        </p:txBody>
      </p:sp>
      <p:sp>
        <p:nvSpPr>
          <p:cNvPr id="13" name="Card"/>
          <p:cNvSpPr/>
          <p:nvPr/>
        </p:nvSpPr>
        <p:spPr>
          <a:xfrm>
            <a:off x="6188532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391732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Core Services</a:t>
            </a:r>
          </a:p>
        </p:txBody>
      </p:sp>
      <p:sp>
        <p:nvSpPr>
          <p:cNvPr id="15" name="Text"/>
          <p:cNvSpPr/>
          <p:nvPr/>
        </p:nvSpPr>
        <p:spPr>
          <a:xfrm>
            <a:off x="6391732" y="2209800"/>
            <a:ext cx="24773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Foundation types, networking, location, and persistence such as Core Data.</a:t>
            </a:r>
          </a:p>
        </p:txBody>
      </p:sp>
      <p:sp>
        <p:nvSpPr>
          <p:cNvPr id="16" name="Card"/>
          <p:cNvSpPr/>
          <p:nvPr/>
        </p:nvSpPr>
        <p:spPr>
          <a:xfrm>
            <a:off x="9054198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9257398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Core OS</a:t>
            </a:r>
          </a:p>
        </p:txBody>
      </p:sp>
      <p:sp>
        <p:nvSpPr>
          <p:cNvPr id="18" name="Text"/>
          <p:cNvSpPr/>
          <p:nvPr/>
        </p:nvSpPr>
        <p:spPr>
          <a:xfrm>
            <a:off x="9257398" y="2159000"/>
            <a:ext cx="2274199" cy="144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The lowest layer: memory, security, threading, and file system access.</a:t>
            </a:r>
          </a:p>
        </p:txBody>
      </p:sp>
      <p:sp>
        <p:nvSpPr>
          <p:cNvPr id="19" name="Dot"/>
          <p:cNvSpPr/>
          <p:nvPr/>
        </p:nvSpPr>
        <p:spPr>
          <a:xfrm>
            <a:off x="660400" y="4556266"/>
            <a:ext cx="127000" cy="171946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"/>
          <p:cNvSpPr/>
          <p:nvPr/>
        </p:nvSpPr>
        <p:spPr>
          <a:xfrm>
            <a:off x="1016000" y="4348364"/>
            <a:ext cx="10871200" cy="79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Each layer builds on the one below it and hides that complexity from the layer above.</a:t>
            </a:r>
          </a:p>
        </p:txBody>
      </p:sp>
      <p:sp>
        <p:nvSpPr>
          <p:cNvPr id="21" name="Dot"/>
          <p:cNvSpPr/>
          <p:nvPr/>
        </p:nvSpPr>
        <p:spPr>
          <a:xfrm>
            <a:off x="660400" y="5140466"/>
            <a:ext cx="127000" cy="171946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"/>
          <p:cNvSpPr/>
          <p:nvPr/>
        </p:nvSpPr>
        <p:spPr>
          <a:xfrm>
            <a:off x="1016000" y="4932564"/>
            <a:ext cx="10871200" cy="79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Application developers spend nearly all of their time in the Cocoa Touch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Xcode and the Developer Toolchain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6 / 22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200"/>
            <a:ext cx="2680599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Xcode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227419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Apple’s official IDE for iOS, iPadOS, macOS, watchOS, and tvOS. Runs only on macOS.</a:t>
            </a:r>
          </a:p>
        </p:txBody>
      </p:sp>
      <p:sp>
        <p:nvSpPr>
          <p:cNvPr id="10" name="Card"/>
          <p:cNvSpPr/>
          <p:nvPr/>
        </p:nvSpPr>
        <p:spPr>
          <a:xfrm>
            <a:off x="3322866" y="1473200"/>
            <a:ext cx="2680599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3526066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Interface Builder</a:t>
            </a:r>
          </a:p>
        </p:txBody>
      </p:sp>
      <p:sp>
        <p:nvSpPr>
          <p:cNvPr id="12" name="Text"/>
          <p:cNvSpPr/>
          <p:nvPr/>
        </p:nvSpPr>
        <p:spPr>
          <a:xfrm>
            <a:off x="3526066" y="2209800"/>
            <a:ext cx="227419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Visual editor for Storyboards, and the live preview canvas for SwiftUI.</a:t>
            </a:r>
          </a:p>
        </p:txBody>
      </p:sp>
      <p:sp>
        <p:nvSpPr>
          <p:cNvPr id="13" name="Card"/>
          <p:cNvSpPr/>
          <p:nvPr/>
        </p:nvSpPr>
        <p:spPr>
          <a:xfrm>
            <a:off x="6188532" y="1473200"/>
            <a:ext cx="2680599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391732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iOS Simulator</a:t>
            </a:r>
          </a:p>
        </p:txBody>
      </p:sp>
      <p:sp>
        <p:nvSpPr>
          <p:cNvPr id="15" name="Text"/>
          <p:cNvSpPr/>
          <p:nvPr/>
        </p:nvSpPr>
        <p:spPr>
          <a:xfrm>
            <a:off x="6391732" y="2209800"/>
            <a:ext cx="227419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Runs apps on a simulated iPhone or iPad, without any physical device.</a:t>
            </a:r>
          </a:p>
        </p:txBody>
      </p:sp>
      <p:sp>
        <p:nvSpPr>
          <p:cNvPr id="16" name="Card"/>
          <p:cNvSpPr/>
          <p:nvPr/>
        </p:nvSpPr>
        <p:spPr>
          <a:xfrm>
            <a:off x="9054198" y="1473200"/>
            <a:ext cx="2680599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9257398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Instruments and LLDB</a:t>
            </a:r>
          </a:p>
        </p:txBody>
      </p:sp>
      <p:sp>
        <p:nvSpPr>
          <p:cNvPr id="18" name="Text"/>
          <p:cNvSpPr/>
          <p:nvPr/>
        </p:nvSpPr>
        <p:spPr>
          <a:xfrm>
            <a:off x="9257398" y="2209800"/>
            <a:ext cx="227419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The profiler and the debugger: memory, performance, and breakpoints.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Inside an iOS Project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7 / 22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511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4732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AppDelegate.swift — handles application-level events such as launch and termination.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349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349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3114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SceneDelegate.swift — manages UI scenes and multi-window support.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31877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31877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31496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ViewController.swift — the code that controls one screen.</a:t>
            </a:r>
          </a:p>
        </p:txBody>
      </p:sp>
      <p:sp>
        <p:nvSpPr>
          <p:cNvPr id="16" name="Badge"/>
          <p:cNvSpPr/>
          <p:nvPr/>
        </p:nvSpPr>
        <p:spPr>
          <a:xfrm>
            <a:off x="457200" y="40259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457200" y="40259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1066800" y="39878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Main.storyboard — the visual layout of screens and the navigation between them.</a:t>
            </a:r>
          </a:p>
        </p:txBody>
      </p:sp>
      <p:sp>
        <p:nvSpPr>
          <p:cNvPr id="19" name="Badge"/>
          <p:cNvSpPr/>
          <p:nvPr/>
        </p:nvSpPr>
        <p:spPr>
          <a:xfrm>
            <a:off x="457200" y="48641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457200" y="48641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1066800" y="48260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Assets.xcassets — images, icons, and colour sets used by the app.</a:t>
            </a:r>
          </a:p>
        </p:txBody>
      </p:sp>
      <p:sp>
        <p:nvSpPr>
          <p:cNvPr id="22" name="Badge"/>
          <p:cNvSpPr/>
          <p:nvPr/>
        </p:nvSpPr>
        <p:spPr>
          <a:xfrm>
            <a:off x="457200" y="5702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457200" y="5702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1066800" y="56642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Info.plist — app configuration: name, version, permissions, and capabilities.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AppDelegate and SceneDelegate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8 / 22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397376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34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import UIKit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4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@main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class AppDelegate: UIResponder,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       UIApplicationDelegate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4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endParaRPr lang="en-US" sz="14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class SceneDelegate: UIResponder,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         UIWindowSceneDelegate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var window: UIWindow?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567556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5548560"/>
            <a:ext cx="108712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AppDelegate handles app launch and termination — much like Android’s Application class.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609556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5968560"/>
            <a:ext cx="108712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SceneDelegate controls the lifecycle of one window and decides which ViewController is shown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ViewControllers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9 / 22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 ViewController is the object that controls a single screen of the app.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184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0574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It holds the UI logic for that screen and responds to the user’s interaction.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768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6416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It is the iOS equivalent of an Android Activity.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378200"/>
            <a:ext cx="363582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60400" y="3556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Owns a screen</a:t>
            </a:r>
          </a:p>
        </p:txBody>
      </p:sp>
      <p:sp>
        <p:nvSpPr>
          <p:cNvPr id="15" name="Text"/>
          <p:cNvSpPr/>
          <p:nvPr/>
        </p:nvSpPr>
        <p:spPr>
          <a:xfrm>
            <a:off x="660400" y="4114800"/>
            <a:ext cx="32294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One ViewController manages one view hierarchy.</a:t>
            </a:r>
          </a:p>
        </p:txBody>
      </p:sp>
      <p:sp>
        <p:nvSpPr>
          <p:cNvPr id="16" name="Card"/>
          <p:cNvSpPr/>
          <p:nvPr/>
        </p:nvSpPr>
        <p:spPr>
          <a:xfrm>
            <a:off x="4278089" y="3378200"/>
            <a:ext cx="363582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4481289" y="3556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Handles input</a:t>
            </a:r>
          </a:p>
        </p:txBody>
      </p:sp>
      <p:sp>
        <p:nvSpPr>
          <p:cNvPr id="18" name="Text"/>
          <p:cNvSpPr/>
          <p:nvPr/>
        </p:nvSpPr>
        <p:spPr>
          <a:xfrm>
            <a:off x="4481289" y="4114800"/>
            <a:ext cx="32294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Button taps and text entry arrive here as actions.</a:t>
            </a:r>
          </a:p>
        </p:txBody>
      </p:sp>
      <p:sp>
        <p:nvSpPr>
          <p:cNvPr id="19" name="Card"/>
          <p:cNvSpPr/>
          <p:nvPr/>
        </p:nvSpPr>
        <p:spPr>
          <a:xfrm>
            <a:off x="8098978" y="3378200"/>
            <a:ext cx="363582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8302178" y="3556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Has a lifecycle</a:t>
            </a:r>
          </a:p>
        </p:txBody>
      </p:sp>
      <p:sp>
        <p:nvSpPr>
          <p:cNvPr id="21" name="Text"/>
          <p:cNvSpPr/>
          <p:nvPr/>
        </p:nvSpPr>
        <p:spPr>
          <a:xfrm>
            <a:off x="8302178" y="4114800"/>
            <a:ext cx="32294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The system calls methods as the screen appears and disappears.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ViewController Lifecycle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10 / 22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511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4732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viewDidLoad() — called once, after the view loads into memory. Do your setup here.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349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349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3114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viewWillAppear() — called every time, just before the screen becomes visible.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31877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31877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31496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viewDidAppear() — called once the screen is fully visible and animations have finished.</a:t>
            </a:r>
          </a:p>
        </p:txBody>
      </p:sp>
      <p:sp>
        <p:nvSpPr>
          <p:cNvPr id="16" name="Badge"/>
          <p:cNvSpPr/>
          <p:nvPr/>
        </p:nvSpPr>
        <p:spPr>
          <a:xfrm>
            <a:off x="457200" y="40259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457200" y="40259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1066800" y="39878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viewWillDisappear() — called just before the screen is removed from view.</a:t>
            </a:r>
          </a:p>
        </p:txBody>
      </p:sp>
      <p:sp>
        <p:nvSpPr>
          <p:cNvPr id="19" name="Badge"/>
          <p:cNvSpPr/>
          <p:nvPr/>
        </p:nvSpPr>
        <p:spPr>
          <a:xfrm>
            <a:off x="457200" y="48641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457200" y="48641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1066800" y="48260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viewDidDisappear() — called after the screen has gone. Stop timers and observers here.</a:t>
            </a:r>
          </a:p>
        </p:txBody>
      </p:sp>
      <p:sp>
        <p:nvSpPr>
          <p:cNvPr id="22" name="Badge"/>
          <p:cNvSpPr/>
          <p:nvPr/>
        </p:nvSpPr>
        <p:spPr>
          <a:xfrm>
            <a:off x="457200" y="5702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457200" y="5702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1066800" y="56642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Roughly parallel to the Android Activity lifecycle: onCreate, onStart, onResume, onPause, onStop.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Why Swift?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11 / 22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Swift is Apple’s modern language for all its platforms, and has replaced Objective-C for new work.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184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0574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It is designed to be safe, fast, and readable, with strict checking at compile time.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768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6416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Whole classes of runtime crash are prevented by the language itself.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378200"/>
            <a:ext cx="5546266" cy="1727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60400" y="3556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Safety</a:t>
            </a:r>
          </a:p>
        </p:txBody>
      </p:sp>
      <p:sp>
        <p:nvSpPr>
          <p:cNvPr id="15" name="Text"/>
          <p:cNvSpPr/>
          <p:nvPr/>
        </p:nvSpPr>
        <p:spPr>
          <a:xfrm>
            <a:off x="660400" y="4114800"/>
            <a:ext cx="513986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Optionals and strict typing catch missing or wrong values before the app runs.</a:t>
            </a:r>
          </a:p>
        </p:txBody>
      </p:sp>
      <p:sp>
        <p:nvSpPr>
          <p:cNvPr id="16" name="Card"/>
          <p:cNvSpPr/>
          <p:nvPr/>
        </p:nvSpPr>
        <p:spPr>
          <a:xfrm>
            <a:off x="6188533" y="3378200"/>
            <a:ext cx="5546266" cy="1727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6391733" y="3556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Clarity</a:t>
            </a:r>
          </a:p>
        </p:txBody>
      </p:sp>
      <p:sp>
        <p:nvSpPr>
          <p:cNvPr id="18" name="Text"/>
          <p:cNvSpPr/>
          <p:nvPr/>
        </p:nvSpPr>
        <p:spPr>
          <a:xfrm>
            <a:off x="6391733" y="4114800"/>
            <a:ext cx="513986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Type inference keeps code short without giving up any type safety.</a:t>
            </a:r>
          </a:p>
        </p:txBody>
      </p:sp>
      <p:sp>
        <p:nvSpPr>
          <p:cNvPr id="19" name="Text"/>
          <p:cNvSpPr/>
          <p:nvPr/>
        </p:nvSpPr>
        <p:spPr>
          <a:xfrm>
            <a:off x="457200" y="53214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Kotlin plays the same role on Android: a modern, safer replacement for an older language.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Swift Basics: Variables, Constants, and Types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12 / 22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299840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249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var score = 90              // this value can change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let maxScore = 100          // this value is fixed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5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let name = "Kamal"          // type inferred as String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let age: Int = 21           // type stated explicitly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5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func sum(a: Int, b: Int) -&gt; Int { a + b }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5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</p:txBody>
      </p:sp>
      <p:sp>
        <p:nvSpPr>
          <p:cNvPr id="9" name="Card"/>
          <p:cNvSpPr/>
          <p:nvPr/>
        </p:nvSpPr>
        <p:spPr>
          <a:xfrm>
            <a:off x="457200" y="4649400"/>
            <a:ext cx="3635822" cy="1041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0" name="Text"/>
          <p:cNvSpPr/>
          <p:nvPr/>
        </p:nvSpPr>
        <p:spPr>
          <a:xfrm>
            <a:off x="609600" y="4751000"/>
            <a:ext cx="33310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var</a:t>
            </a:r>
          </a:p>
        </p:txBody>
      </p:sp>
      <p:sp>
        <p:nvSpPr>
          <p:cNvPr id="11" name="Text"/>
          <p:cNvSpPr/>
          <p:nvPr/>
        </p:nvSpPr>
        <p:spPr>
          <a:xfrm>
            <a:off x="609600" y="5106600"/>
            <a:ext cx="33310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Declares a variable whose value may change later.</a:t>
            </a:r>
          </a:p>
        </p:txBody>
      </p:sp>
      <p:sp>
        <p:nvSpPr>
          <p:cNvPr id="12" name="Card"/>
          <p:cNvSpPr/>
          <p:nvPr/>
        </p:nvSpPr>
        <p:spPr>
          <a:xfrm>
            <a:off x="4278089" y="4649400"/>
            <a:ext cx="3635822" cy="1041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" name="Text"/>
          <p:cNvSpPr/>
          <p:nvPr/>
        </p:nvSpPr>
        <p:spPr>
          <a:xfrm>
            <a:off x="4430489" y="4751000"/>
            <a:ext cx="33310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let</a:t>
            </a:r>
          </a:p>
        </p:txBody>
      </p:sp>
      <p:sp>
        <p:nvSpPr>
          <p:cNvPr id="14" name="Text"/>
          <p:cNvSpPr/>
          <p:nvPr/>
        </p:nvSpPr>
        <p:spPr>
          <a:xfrm>
            <a:off x="4430489" y="5106600"/>
            <a:ext cx="33310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Declares a constant; the value is fixed once assigned.</a:t>
            </a:r>
          </a:p>
        </p:txBody>
      </p:sp>
      <p:sp>
        <p:nvSpPr>
          <p:cNvPr id="15" name="Card"/>
          <p:cNvSpPr/>
          <p:nvPr/>
        </p:nvSpPr>
        <p:spPr>
          <a:xfrm>
            <a:off x="8098978" y="4649400"/>
            <a:ext cx="3635822" cy="1041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" name="Text"/>
          <p:cNvSpPr/>
          <p:nvPr/>
        </p:nvSpPr>
        <p:spPr>
          <a:xfrm>
            <a:off x="8251378" y="4751000"/>
            <a:ext cx="33310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Type safety</a:t>
            </a:r>
          </a:p>
        </p:txBody>
      </p:sp>
      <p:sp>
        <p:nvSpPr>
          <p:cNvPr id="17" name="Text"/>
          <p:cNvSpPr/>
          <p:nvPr/>
        </p:nvSpPr>
        <p:spPr>
          <a:xfrm>
            <a:off x="8251378" y="5106600"/>
            <a:ext cx="33310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Swift infers the type where it can, but still checks it strictly.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Optionals: Swift’s Answer to Null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13 / 22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397376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34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var email: String?          // may hold a value, or nil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4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// Optional binding — the safe way to unwrap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if let userEmail = email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print(userEmail)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// userEmail exists only inside those braces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4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// Nil-coalescing — supply a default value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let shown = email ?? "guest@site.com"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4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// Avoid force unwrapping (email!) — it crashes when nil.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567556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5548560"/>
            <a:ext cx="108712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An optional may hold a value or nil, and the compiler forces you to handle both cases.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609556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5968560"/>
            <a:ext cx="108712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Swift’s defence against the null pointer exception, much like Kotlin’s nullable types.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Storyboards and UIKit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14 / 22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 Storyboard is a visual file in which screens are drawn and navigation is designed.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184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0574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UI elements such as UILabel, UITextField, and UIButton are dragged onto the canvas.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768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6416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Each element is then connected to code so it can be read from or reacted to.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378200"/>
            <a:ext cx="363582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60400" y="3556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IBOutlet</a:t>
            </a:r>
          </a:p>
        </p:txBody>
      </p:sp>
      <p:sp>
        <p:nvSpPr>
          <p:cNvPr id="15" name="Text"/>
          <p:cNvSpPr/>
          <p:nvPr/>
        </p:nvSpPr>
        <p:spPr>
          <a:xfrm>
            <a:off x="660400" y="4114800"/>
            <a:ext cx="32294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Connects a UI element to a property in code.</a:t>
            </a:r>
          </a:p>
        </p:txBody>
      </p:sp>
      <p:sp>
        <p:nvSpPr>
          <p:cNvPr id="16" name="Card"/>
          <p:cNvSpPr/>
          <p:nvPr/>
        </p:nvSpPr>
        <p:spPr>
          <a:xfrm>
            <a:off x="4278089" y="3378200"/>
            <a:ext cx="363582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4481289" y="3556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IBAction</a:t>
            </a:r>
          </a:p>
        </p:txBody>
      </p:sp>
      <p:sp>
        <p:nvSpPr>
          <p:cNvPr id="18" name="Text"/>
          <p:cNvSpPr/>
          <p:nvPr/>
        </p:nvSpPr>
        <p:spPr>
          <a:xfrm>
            <a:off x="4481289" y="4114800"/>
            <a:ext cx="32294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Connects a user action, such as a tap, to a method.</a:t>
            </a:r>
          </a:p>
        </p:txBody>
      </p:sp>
      <p:sp>
        <p:nvSpPr>
          <p:cNvPr id="19" name="Card"/>
          <p:cNvSpPr/>
          <p:nvPr/>
        </p:nvSpPr>
        <p:spPr>
          <a:xfrm>
            <a:off x="8098978" y="3378200"/>
            <a:ext cx="363582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8302178" y="3556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Segue</a:t>
            </a:r>
          </a:p>
        </p:txBody>
      </p:sp>
      <p:sp>
        <p:nvSpPr>
          <p:cNvPr id="21" name="Text"/>
          <p:cNvSpPr/>
          <p:nvPr/>
        </p:nvSpPr>
        <p:spPr>
          <a:xfrm>
            <a:off x="8302178" y="4114800"/>
            <a:ext cx="32294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 visual link that moves the app from one screen to the next.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SwiftUI: Building UI in Code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15 / 22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458336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40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import SwiftUI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struct LoginView: View {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1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@State private var username = ""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1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var body: some View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VStack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TextField("Username", text: $username)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    .textFieldStyle(.roundedBorder)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1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Button("Login") { print(username) }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}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1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.padding()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}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1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// The view redraws automatically whenever @State changes.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UIKit vs SwiftUI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16 / 22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200"/>
            <a:ext cx="5546266" cy="2794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UIKit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513986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UI built visually in Storyboards.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State is updated by hand in code.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Mature, with years of examples.</a:t>
            </a:r>
          </a:p>
        </p:txBody>
      </p:sp>
      <p:sp>
        <p:nvSpPr>
          <p:cNvPr id="10" name="Card"/>
          <p:cNvSpPr/>
          <p:nvPr/>
        </p:nvSpPr>
        <p:spPr>
          <a:xfrm>
            <a:off x="6188533" y="1473200"/>
            <a:ext cx="5546266" cy="2794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6391733" y="1651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SwiftUI</a:t>
            </a:r>
          </a:p>
        </p:txBody>
      </p:sp>
      <p:sp>
        <p:nvSpPr>
          <p:cNvPr id="12" name="Text"/>
          <p:cNvSpPr/>
          <p:nvPr/>
        </p:nvSpPr>
        <p:spPr>
          <a:xfrm>
            <a:off x="6391733" y="2209800"/>
            <a:ext cx="513986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UI written declaratively in Swift.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State changes redraw the UI automatically.</a:t>
            </a:r>
          </a:p>
        </p:txBody>
      </p:sp>
      <p:sp>
        <p:nvSpPr>
          <p:cNvPr id="13" name="Text"/>
          <p:cNvSpPr/>
          <p:nvPr/>
        </p:nvSpPr>
        <p:spPr>
          <a:xfrm>
            <a:off x="457200" y="44450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UIKit still runs most shipping apps; SwiftUI is Apple’s direction for new development.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The App Store Ecosystem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17 / 22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Apps reach users through one channel only: the Apple App Store.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3368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209800"/>
            <a:ext cx="10871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Publishing requires a paid Apple Developer Account and a digitally signed build.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3073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946400"/>
            <a:ext cx="10871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Every submission passes an automated and human review before it can be released.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835400"/>
            <a:ext cx="3635822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60400" y="40132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Security</a:t>
            </a:r>
          </a:p>
        </p:txBody>
      </p:sp>
      <p:sp>
        <p:nvSpPr>
          <p:cNvPr id="15" name="Text"/>
          <p:cNvSpPr/>
          <p:nvPr/>
        </p:nvSpPr>
        <p:spPr>
          <a:xfrm>
            <a:off x="660400" y="4572000"/>
            <a:ext cx="322942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Apps are sandboxed and signed, and are vetted before they reach users.</a:t>
            </a:r>
          </a:p>
        </p:txBody>
      </p:sp>
      <p:sp>
        <p:nvSpPr>
          <p:cNvPr id="16" name="Card"/>
          <p:cNvSpPr/>
          <p:nvPr/>
        </p:nvSpPr>
        <p:spPr>
          <a:xfrm>
            <a:off x="4278089" y="3835400"/>
            <a:ext cx="3635822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4481289" y="40132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Privacy</a:t>
            </a:r>
          </a:p>
        </p:txBody>
      </p:sp>
      <p:sp>
        <p:nvSpPr>
          <p:cNvPr id="18" name="Text"/>
          <p:cNvSpPr/>
          <p:nvPr/>
        </p:nvSpPr>
        <p:spPr>
          <a:xfrm>
            <a:off x="4481289" y="4572000"/>
            <a:ext cx="322942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Data use must be declared, and the user grants permission at runtime.</a:t>
            </a:r>
          </a:p>
        </p:txBody>
      </p:sp>
      <p:sp>
        <p:nvSpPr>
          <p:cNvPr id="19" name="Card"/>
          <p:cNvSpPr/>
          <p:nvPr/>
        </p:nvSpPr>
        <p:spPr>
          <a:xfrm>
            <a:off x="8098978" y="3835400"/>
            <a:ext cx="3635822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8302178" y="40132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Consistency</a:t>
            </a:r>
          </a:p>
        </p:txBody>
      </p:sp>
      <p:sp>
        <p:nvSpPr>
          <p:cNvPr id="21" name="Text"/>
          <p:cNvSpPr/>
          <p:nvPr/>
        </p:nvSpPr>
        <p:spPr>
          <a:xfrm>
            <a:off x="8302178" y="4572000"/>
            <a:ext cx="322942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Apple’s Human Interface Guidelines are enforced during review.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From Code to the App Store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18 / 22</a:t>
            </a:r>
          </a:p>
        </p:txBody>
      </p:sp>
      <p:sp>
        <p:nvSpPr>
          <p:cNvPr id="7" name="Node"/>
          <p:cNvSpPr/>
          <p:nvPr/>
        </p:nvSpPr>
        <p:spPr>
          <a:xfrm>
            <a:off x="2794000" y="14732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2997200" y="14732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Developer Account</a:t>
            </a:r>
          </a:p>
        </p:txBody>
      </p:sp>
      <p:sp>
        <p:nvSpPr>
          <p:cNvPr id="9" name="Arrow"/>
          <p:cNvSpPr/>
          <p:nvPr/>
        </p:nvSpPr>
        <p:spPr>
          <a:xfrm>
            <a:off x="5981700" y="21107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0" name="Node"/>
          <p:cNvSpPr/>
          <p:nvPr/>
        </p:nvSpPr>
        <p:spPr>
          <a:xfrm>
            <a:off x="2794000" y="23114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2997200" y="23114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Signed Build</a:t>
            </a:r>
          </a:p>
        </p:txBody>
      </p:sp>
      <p:sp>
        <p:nvSpPr>
          <p:cNvPr id="12" name="Arrow"/>
          <p:cNvSpPr/>
          <p:nvPr/>
        </p:nvSpPr>
        <p:spPr>
          <a:xfrm>
            <a:off x="5981700" y="29489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" name="Node"/>
          <p:cNvSpPr/>
          <p:nvPr/>
        </p:nvSpPr>
        <p:spPr>
          <a:xfrm>
            <a:off x="2794000" y="31496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2997200" y="31496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 Review</a:t>
            </a:r>
          </a:p>
        </p:txBody>
      </p:sp>
      <p:sp>
        <p:nvSpPr>
          <p:cNvPr id="15" name="Card"/>
          <p:cNvSpPr/>
          <p:nvPr/>
        </p:nvSpPr>
        <p:spPr>
          <a:xfrm>
            <a:off x="457200" y="4165600"/>
            <a:ext cx="3635822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" name="Text"/>
          <p:cNvSpPr/>
          <p:nvPr/>
        </p:nvSpPr>
        <p:spPr>
          <a:xfrm>
            <a:off x="609600" y="4165600"/>
            <a:ext cx="33310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Account cost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“USD 99 / year”</a:t>
            </a:r>
          </a:p>
        </p:txBody>
      </p:sp>
      <p:sp>
        <p:nvSpPr>
          <p:cNvPr id="17" name="Card"/>
          <p:cNvSpPr/>
          <p:nvPr/>
        </p:nvSpPr>
        <p:spPr>
          <a:xfrm>
            <a:off x="4278089" y="4165600"/>
            <a:ext cx="3635822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8" name="Text"/>
          <p:cNvSpPr/>
          <p:nvPr/>
        </p:nvSpPr>
        <p:spPr>
          <a:xfrm>
            <a:off x="4430489" y="4165600"/>
            <a:ext cx="33310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Typical review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“1–3 days”</a:t>
            </a:r>
          </a:p>
        </p:txBody>
      </p:sp>
      <p:sp>
        <p:nvSpPr>
          <p:cNvPr id="19" name="Card"/>
          <p:cNvSpPr/>
          <p:nvPr/>
        </p:nvSpPr>
        <p:spPr>
          <a:xfrm>
            <a:off x="8098978" y="4165600"/>
            <a:ext cx="3635822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8251378" y="4165600"/>
            <a:ext cx="33310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Outcome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“Approved or rejected”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iOS vs Android: A Comparison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19 / 22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Language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22741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iOS uses Swift; Android uses Kotlin. Both are modern, safe, statically typed languages.</a:t>
            </a:r>
          </a:p>
        </p:txBody>
      </p:sp>
      <p:sp>
        <p:nvSpPr>
          <p:cNvPr id="10" name="Card"/>
          <p:cNvSpPr/>
          <p:nvPr/>
        </p:nvSpPr>
        <p:spPr>
          <a:xfrm>
            <a:off x="3322866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3526066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UI framework</a:t>
            </a:r>
          </a:p>
        </p:txBody>
      </p:sp>
      <p:sp>
        <p:nvSpPr>
          <p:cNvPr id="12" name="Text"/>
          <p:cNvSpPr/>
          <p:nvPr/>
        </p:nvSpPr>
        <p:spPr>
          <a:xfrm>
            <a:off x="3526066" y="2209800"/>
            <a:ext cx="22741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iOS uses UIKit or SwiftUI; Android uses XML layouts or Jetpack Compose.</a:t>
            </a:r>
          </a:p>
        </p:txBody>
      </p:sp>
      <p:sp>
        <p:nvSpPr>
          <p:cNvPr id="13" name="Card"/>
          <p:cNvSpPr/>
          <p:nvPr/>
        </p:nvSpPr>
        <p:spPr>
          <a:xfrm>
            <a:off x="6188532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391732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Tooling</a:t>
            </a:r>
          </a:p>
        </p:txBody>
      </p:sp>
      <p:sp>
        <p:nvSpPr>
          <p:cNvPr id="15" name="Text"/>
          <p:cNvSpPr/>
          <p:nvPr/>
        </p:nvSpPr>
        <p:spPr>
          <a:xfrm>
            <a:off x="6391732" y="2209800"/>
            <a:ext cx="24773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Xcode runs on macOS only; Android Studio runs on Windows, macOS, and Linux.</a:t>
            </a:r>
          </a:p>
        </p:txBody>
      </p:sp>
      <p:sp>
        <p:nvSpPr>
          <p:cNvPr id="16" name="Card"/>
          <p:cNvSpPr/>
          <p:nvPr/>
        </p:nvSpPr>
        <p:spPr>
          <a:xfrm>
            <a:off x="9054198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9257398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Distribution</a:t>
            </a:r>
          </a:p>
        </p:txBody>
      </p:sp>
      <p:sp>
        <p:nvSpPr>
          <p:cNvPr id="18" name="Text"/>
          <p:cNvSpPr/>
          <p:nvPr/>
        </p:nvSpPr>
        <p:spPr>
          <a:xfrm>
            <a:off x="9257398" y="2159000"/>
            <a:ext cx="2274199" cy="144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iOS ships only through the App Store; Android allows other stores and sideloading.</a:t>
            </a:r>
          </a:p>
        </p:txBody>
      </p:sp>
      <p:sp>
        <p:nvSpPr>
          <p:cNvPr id="19" name="Dot"/>
          <p:cNvSpPr/>
          <p:nvPr/>
        </p:nvSpPr>
        <p:spPr>
          <a:xfrm>
            <a:off x="660400" y="4556266"/>
            <a:ext cx="127000" cy="171946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"/>
          <p:cNvSpPr/>
          <p:nvPr/>
        </p:nvSpPr>
        <p:spPr>
          <a:xfrm>
            <a:off x="1016000" y="4348364"/>
            <a:ext cx="10871200" cy="79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Screen unit: iOS uses a ViewController, Android an Activity or Fragment — the same idea, different name.</a:t>
            </a:r>
          </a:p>
        </p:txBody>
      </p:sp>
      <p:sp>
        <p:nvSpPr>
          <p:cNvPr id="21" name="Dot"/>
          <p:cNvSpPr/>
          <p:nvPr/>
        </p:nvSpPr>
        <p:spPr>
          <a:xfrm>
            <a:off x="660400" y="5140466"/>
            <a:ext cx="127000" cy="171946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"/>
          <p:cNvSpPr/>
          <p:nvPr/>
        </p:nvSpPr>
        <p:spPr>
          <a:xfrm>
            <a:off x="1016000" y="4932564"/>
            <a:ext cx="10871200" cy="79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The concepts transfer well; what changes is the syntax, the tools, and the level of control.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Key Takeaways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20 / 22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511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4351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iOS is a closed ecosystem: Apple controls the hardware, the OS, the tools, and the only store.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5019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5019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4257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The OS is layered — Cocoa Touch, Media, Core Services, Core OS — and you work at the top.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3492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3492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34163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Swift is safe and modern; optionals force you to handle missing values explicitly.</a:t>
            </a:r>
          </a:p>
        </p:txBody>
      </p:sp>
      <p:sp>
        <p:nvSpPr>
          <p:cNvPr id="16" name="Badge"/>
          <p:cNvSpPr/>
          <p:nvPr/>
        </p:nvSpPr>
        <p:spPr>
          <a:xfrm>
            <a:off x="62484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6248400" y="1511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6858000" y="14351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UIKit builds UI visually with Storyboards; SwiftUI builds it declaratively in code.</a:t>
            </a:r>
          </a:p>
        </p:txBody>
      </p:sp>
      <p:sp>
        <p:nvSpPr>
          <p:cNvPr id="19" name="Badge"/>
          <p:cNvSpPr/>
          <p:nvPr/>
        </p:nvSpPr>
        <p:spPr>
          <a:xfrm>
            <a:off x="6248400" y="25019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6248400" y="25019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6858000" y="24257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Publishing needs a developer account and must pass Apple’s review before release.</a:t>
            </a:r>
          </a:p>
        </p:txBody>
      </p:sp>
      <p:sp>
        <p:nvSpPr>
          <p:cNvPr id="22" name="Badge"/>
          <p:cNvSpPr/>
          <p:nvPr/>
        </p:nvSpPr>
        <p:spPr>
          <a:xfrm>
            <a:off x="6248400" y="3492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6248400" y="3492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6858000" y="34163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iOS and Android solve the same problems with different tools — the concepts carry across.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iOS OVERVIEW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Discussion / Quick Check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21 / 22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4732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4732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4351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Why is iOS called a closed ecosystem, and what does that mean for a developer?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16408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16408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12598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Name the four layers of the iOS architecture. Which one would you work in?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285496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285496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281686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What problem do Swift optionals solve, and what is the Android equivalent?</a:t>
            </a:r>
          </a:p>
        </p:txBody>
      </p:sp>
      <p:sp>
        <p:nvSpPr>
          <p:cNvPr id="16" name="Badge"/>
          <p:cNvSpPr/>
          <p:nvPr/>
        </p:nvSpPr>
        <p:spPr>
          <a:xfrm>
            <a:off x="457200" y="354584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457200" y="354584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1066800" y="350774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Give one difference between building a screen with a Storyboard and with SwiftUI.</a:t>
            </a:r>
          </a:p>
        </p:txBody>
      </p:sp>
      <p:sp>
        <p:nvSpPr>
          <p:cNvPr id="19" name="Badge"/>
          <p:cNvSpPr/>
          <p:nvPr/>
        </p:nvSpPr>
        <p:spPr>
          <a:xfrm>
            <a:off x="457200" y="423672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457200" y="423672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1066800" y="419862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What is a ViewController, and which Android component matches it?</a:t>
            </a:r>
          </a:p>
        </p:txBody>
      </p:sp>
      <p:sp>
        <p:nvSpPr>
          <p:cNvPr id="22" name="Badge"/>
          <p:cNvSpPr/>
          <p:nvPr/>
        </p:nvSpPr>
        <p:spPr>
          <a:xfrm>
            <a:off x="457200" y="49276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457200" y="49276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1066800" y="48895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Name two ways distributing an iOS app differs from distributing an Android app.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D6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50B5A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4754880"/>
            <a:ext cx="3291840" cy="3291840"/>
          </a:xfrm>
          <a:prstGeom prst="ellipse">
            <a:avLst/>
          </a:prstGeom>
          <a:solidFill>
            <a:srgbClr val="50B5A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78892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Thank You</a:t>
            </a:r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DE3"/>
                </a:solidFill>
                <a:latin typeface="Calibri" pitchFamily="34" charset="0"/>
                <a:cs typeface="Calibri" pitchFamily="34" charset="0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28ebace-4356-4858-9b58-046c0f41da08}">
  <we:reference id="WA200010001" version="1.0.0.1" store="en-US" storeType="OMEX"/>
  <we:alternateReferences/>
  <we:properties>
    <we:property name="Microsoft.Office.CampaignId" value="&quot;none&quot;"/>
    <we:property name="claude.fileId" value="&quot;3aa80a3d-1a60-4a43-be77-541cb19c491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2075</Words>
  <Application>Microsoft Office PowerPoint</Application>
  <PresentationFormat>Widescreen</PresentationFormat>
  <Paragraphs>282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Kaveesha Sammani</cp:lastModifiedBy>
  <cp:revision>8</cp:revision>
  <dcterms:created xsi:type="dcterms:W3CDTF">2018-06-07T21:39:02Z</dcterms:created>
  <dcterms:modified xsi:type="dcterms:W3CDTF">2026-09-11T09:07:40Z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