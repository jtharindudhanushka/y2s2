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300" r:id="rId5"/>
    <p:sldId id="301" r:id="rId6"/>
    <p:sldId id="302" r:id="rId7"/>
    <p:sldId id="303" r:id="rId8"/>
    <p:sldId id="304" r:id="rId9"/>
    <p:sldId id="305" r:id="rId10"/>
    <p:sldId id="307" r:id="rId12"/>
    <p:sldId id="308" r:id="rId13"/>
    <p:sldId id="309" r:id="rId14"/>
    <p:sldId id="311" r:id="rId16"/>
    <p:sldId id="313" r:id="rId18"/>
    <p:sldId id="319" r:id="rId24"/>
    <p:sldId id="320" r:id="rId25"/>
    <p:sldId id="322" r:id="rId27"/>
    <p:sldId id="323" r:id="rId28"/>
    <p:sldId id="324" r:id="rId29"/>
    <p:sldId id="325" r:id="rId30"/>
    <p:sldId id="331" r:id="rId36"/>
    <p:sldId id="332" r:id="rId37"/>
    <p:sldId id="33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slide" Target="slides/slide20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25" Type="http://schemas.openxmlformats.org/officeDocument/2006/relationships/slide" Target="slides/slide21.xml"/><Relationship Id="rId38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914400"/>
            <a:ext cx="2926080" cy="292608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5120640"/>
            <a:ext cx="2377440" cy="237744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54696" y="0"/>
            <a:ext cx="128016" cy="6858000"/>
          </a:xfrm>
          <a:prstGeom prst="rect">
            <a:avLst/>
          </a:prstGeom>
          <a:solidFill>
            <a:srgbClr val="F6DD2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82712" y="0"/>
            <a:ext cx="18288" cy="6858000"/>
          </a:xfrm>
          <a:prstGeom prst="rect">
            <a:avLst/>
          </a:prstGeom>
          <a:solidFill>
            <a:srgbClr val="660000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BSC (HONS) IN INFORMATION TECHNOLOGY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1706880"/>
            <a:ext cx="7223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Mobile Application Testing &amp; Debugging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Unit Testing, UI Testing, Emulators vs Real Devices &amp; Debugging Tools</a:t>
            </a:r>
          </a:p>
        </p:txBody>
      </p:sp>
      <p:pic>
        <p:nvPicPr>
          <p:cNvPr id="11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0"/>
            <a:ext cx="14173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Learning Outcomes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 / 20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73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Explain why testing and debugging are essential to Android app quality.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349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349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3114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Distinguish unit tests, UI tests, and instrumented tests.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1877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1877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1496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Write basic unit tests using JUnit and Mockito.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4025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4025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39878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Write UI tests for screens using Espresso.</a:t>
            </a:r>
          </a:p>
        </p:txBody>
      </p:sp>
      <p:sp>
        <p:nvSpPr>
          <p:cNvPr id="19" name="Badge"/>
          <p:cNvSpPr/>
          <p:nvPr/>
        </p:nvSpPr>
        <p:spPr>
          <a:xfrm>
            <a:off x="457200" y="48641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457200" y="48641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1066800" y="48260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Compare emulators and real devices for testing.</a:t>
            </a:r>
          </a:p>
        </p:txBody>
      </p:sp>
      <p:sp>
        <p:nvSpPr>
          <p:cNvPr id="22" name="Badge"/>
          <p:cNvSpPr/>
          <p:nvPr/>
        </p:nvSpPr>
        <p:spPr>
          <a:xfrm>
            <a:off x="457200" y="5702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457200" y="5702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1066800" y="5664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 Android Studio’s debugging tools: Logcat, Debugger, Layout Inspector, and Profiler.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Why Are Testing &amp; Debugging Required?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3 / 20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Mobile apps run across many device models, OS versions, and screen sizes.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336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2098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Bugs found after release are costly and damage user trust.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307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9464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Testing and debugging build confidence that the app behaves correctly before shipping.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Without testing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Bugs surface in production, discovered by real users.</a:t>
            </a:r>
          </a:p>
        </p:txBody>
      </p:sp>
      <p:sp>
        <p:nvSpPr>
          <p:cNvPr id="16" name="Card"/>
          <p:cNvSpPr/>
          <p:nvPr/>
        </p:nvSpPr>
        <p:spPr>
          <a:xfrm>
            <a:off x="4278089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4481289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With testing</a:t>
            </a:r>
          </a:p>
        </p:txBody>
      </p:sp>
      <p:sp>
        <p:nvSpPr>
          <p:cNvPr id="18" name="Text"/>
          <p:cNvSpPr/>
          <p:nvPr/>
        </p:nvSpPr>
        <p:spPr>
          <a:xfrm>
            <a:off x="4481289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Bugs are caught early, before release, with repeatable checks.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302178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Design goal</a:t>
            </a:r>
          </a:p>
        </p:txBody>
      </p:sp>
      <p:sp>
        <p:nvSpPr>
          <p:cNvPr id="21" name="Text"/>
          <p:cNvSpPr/>
          <p:nvPr/>
        </p:nvSpPr>
        <p:spPr>
          <a:xfrm>
            <a:off x="8302178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Test early, test often, and at the right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Types of Android Tests: Choosing the Right Layer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4 / 20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Unit Tests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Verify a single function or class, in isolation from the Android framework.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UI Tests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Verify user-facing behavior by simulating taps, scrolls, and input on screens.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Integration Tests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4773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Verify that multiple components work together correctly, e.g. DAO + database.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Manual Tests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159000"/>
            <a:ext cx="2274199" cy="144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Human testers exploring the app; useful, but not repeatable or scalable.</a:t>
            </a:r>
          </a:p>
        </p:txBody>
      </p:sp>
      <p:sp>
        <p:nvSpPr>
          <p:cNvPr id="19" name="Dot"/>
          <p:cNvSpPr/>
          <p:nvPr/>
        </p:nvSpPr>
        <p:spPr>
          <a:xfrm>
            <a:off x="660400" y="4556266"/>
            <a:ext cx="127000" cy="17194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"/>
          <p:cNvSpPr/>
          <p:nvPr/>
        </p:nvSpPr>
        <p:spPr>
          <a:xfrm>
            <a:off x="1016000" y="4348364"/>
            <a:ext cx="10871200" cy="79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Key decision: does the check need instant JVM feedback, or a real/emulated Android device?</a:t>
            </a:r>
          </a:p>
        </p:txBody>
      </p:sp>
      <p:sp>
        <p:nvSpPr>
          <p:cNvPr id="21" name="Dot"/>
          <p:cNvSpPr/>
          <p:nvPr/>
        </p:nvSpPr>
        <p:spPr>
          <a:xfrm>
            <a:off x="660400" y="5140466"/>
            <a:ext cx="127000" cy="17194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"/>
          <p:cNvSpPr/>
          <p:nvPr/>
        </p:nvSpPr>
        <p:spPr>
          <a:xfrm>
            <a:off x="1016000" y="4932564"/>
            <a:ext cx="10871200" cy="79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For fast feedback during development, unit tests are preferred; UI tests validate the full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Local (Unit) Tests vs Instrumented Tests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5 / 20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3635822" cy="3352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Local Tests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3229422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Run on the JVM on your machine.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Fast to execute, no device needed.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No access to real Android framework APIs.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Best for pure logic and calculations.</a:t>
            </a:r>
          </a:p>
        </p:txBody>
      </p:sp>
      <p:sp>
        <p:nvSpPr>
          <p:cNvPr id="10" name="Card"/>
          <p:cNvSpPr/>
          <p:nvPr/>
        </p:nvSpPr>
        <p:spPr>
          <a:xfrm>
            <a:off x="4278089" y="1473200"/>
            <a:ext cx="3635822" cy="3352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4481289" y="1651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Instrumented Tests</a:t>
            </a:r>
          </a:p>
        </p:txBody>
      </p:sp>
      <p:sp>
        <p:nvSpPr>
          <p:cNvPr id="12" name="Text"/>
          <p:cNvSpPr/>
          <p:nvPr/>
        </p:nvSpPr>
        <p:spPr>
          <a:xfrm>
            <a:off x="4481289" y="2209800"/>
            <a:ext cx="3229422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Run on an emulator or a real device.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Access real Android framework and UI.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Closer to real app behavior.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Slower to set up and execute.</a:t>
            </a:r>
          </a:p>
        </p:txBody>
      </p:sp>
      <p:sp>
        <p:nvSpPr>
          <p:cNvPr id="13" name="Card"/>
          <p:cNvSpPr/>
          <p:nvPr/>
        </p:nvSpPr>
        <p:spPr>
          <a:xfrm>
            <a:off x="8098978" y="1473200"/>
            <a:ext cx="3635822" cy="3352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8302178" y="1651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Hybrid Approach</a:t>
            </a:r>
          </a:p>
        </p:txBody>
      </p:sp>
      <p:sp>
        <p:nvSpPr>
          <p:cNvPr id="15" name="Text"/>
          <p:cNvSpPr/>
          <p:nvPr/>
        </p:nvSpPr>
        <p:spPr>
          <a:xfrm>
            <a:off x="8302178" y="2209800"/>
            <a:ext cx="3229422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Unit tests cover logic.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Instrumented tests cover UI and integration.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Balances speed and confidence.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Matches the shape of the testing pyramid.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What Is Unit Testing?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6 / 20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 unit test checks that a single method or class produces the expected output for a given input.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Unit tests run on the JVM, without needing an emulator or a physical device.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JUnit is the standard framework used to write and run unit tests in Android.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378200"/>
            <a:ext cx="5546266" cy="1727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3556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Without unit tests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114800"/>
            <a:ext cx="513986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Bugs in logic surface only during manual testing, or in production.</a:t>
            </a:r>
          </a:p>
        </p:txBody>
      </p:sp>
      <p:sp>
        <p:nvSpPr>
          <p:cNvPr id="16" name="Card"/>
          <p:cNvSpPr/>
          <p:nvPr/>
        </p:nvSpPr>
        <p:spPr>
          <a:xfrm>
            <a:off x="6188533" y="3378200"/>
            <a:ext cx="5546266" cy="1727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6391733" y="3556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With unit tests</a:t>
            </a:r>
          </a:p>
        </p:txBody>
      </p:sp>
      <p:sp>
        <p:nvSpPr>
          <p:cNvPr id="18" name="Text"/>
          <p:cNvSpPr/>
          <p:nvPr/>
        </p:nvSpPr>
        <p:spPr>
          <a:xfrm>
            <a:off x="6391733" y="4114800"/>
            <a:ext cx="513986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Logic errors are caught immediately, with fast, repeatable feedback.</a:t>
            </a:r>
          </a:p>
        </p:txBody>
      </p:sp>
      <p:sp>
        <p:nvSpPr>
          <p:cNvPr id="19" name="Text"/>
          <p:cNvSpPr/>
          <p:nvPr/>
        </p:nvSpPr>
        <p:spPr>
          <a:xfrm>
            <a:off x="457200" y="53214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Unit tests are appropriate whenever behavior can be checked without the Android UI or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Writing a Basic JUnit Test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7 / 20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458336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40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class CalculatorTest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/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1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@Test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fun addition_isCorrect()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val calculator = Calculator()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val result = calculator.add(2, 3)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assertEquals(5, result)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/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@Test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fun divide_byZero_throwsException() {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1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assertThrows(ArithmeticException::class.java)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calculator.divide(10, 0)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Common JUnit Assertions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8 / 20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199"/>
            <a:ext cx="2680599" cy="195579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assertEquals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93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Checks that two values are equal.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473199"/>
            <a:ext cx="2680599" cy="195579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assertTrue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93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Checks that a condition is true.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473199"/>
            <a:ext cx="2680599" cy="195579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assertNull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274199" cy="93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Checks that a value is null.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473199"/>
            <a:ext cx="2680599" cy="195579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assertThrows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209800"/>
            <a:ext cx="2274199" cy="93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Checks that an exception is thrown.</a:t>
            </a:r>
          </a:p>
        </p:txBody>
      </p:sp>
      <p:sp>
        <p:nvSpPr>
          <p:cNvPr id="19" name="CodePanel"/>
          <p:cNvSpPr/>
          <p:nvPr/>
        </p:nvSpPr>
        <p:spPr>
          <a:xfrm>
            <a:off x="457200" y="3724936"/>
            <a:ext cx="11277600" cy="238880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736600" y="3902736"/>
            <a:ext cx="10718800" cy="203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@Test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fun login_withValidCredentials_succeeds()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val result = authManager.login("user@test.com", "pass123")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assertTrue(result.isSuccess)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assertEquals("user@test.com", result.user?.email)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Mocking Dependencies with Mockito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9 / 20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397376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34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val mockRepository = mock(UserRepository::class.java)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`when`(mockRepository.getUser(1))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.thenReturn(User(1, "Nimal"))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/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val viewModel = UserViewModel(mockRepository)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viewModel.loadUser(1)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/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4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verify(mockRepository).getUser(1)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assertEquals(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"Nimal", viewModel.userName.value)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/>
            </a:r>
          </a:p>
        </p:txBody>
      </p:sp>
      <p:sp>
        <p:nvSpPr>
          <p:cNvPr id="9" name="Dot"/>
          <p:cNvSpPr/>
          <p:nvPr/>
        </p:nvSpPr>
        <p:spPr>
          <a:xfrm>
            <a:off x="482600" y="567556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5548560"/>
            <a:ext cx="108712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Mocks replace real dependencies, such as network or database calls, with controlled fake behavior.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609556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5968560"/>
            <a:ext cx="108712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Mocking isolates the class under test from external systems it depends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What Is UI Testing?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10 / 20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UI tests verify what the user actually sees and interacts with on screen.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UI tests run on an emulator or a real device, not just the JVM.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Espresso is Android’s standard framework for writing UI tests.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Find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Locates a view on screen, e.g. by ID or text.</a:t>
            </a:r>
          </a:p>
        </p:txBody>
      </p:sp>
      <p:sp>
        <p:nvSpPr>
          <p:cNvPr id="16" name="Card"/>
          <p:cNvSpPr/>
          <p:nvPr/>
        </p:nvSpPr>
        <p:spPr>
          <a:xfrm>
            <a:off x="4278089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4481289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Act</a:t>
            </a:r>
          </a:p>
        </p:txBody>
      </p:sp>
      <p:sp>
        <p:nvSpPr>
          <p:cNvPr id="18" name="Text"/>
          <p:cNvSpPr/>
          <p:nvPr/>
        </p:nvSpPr>
        <p:spPr>
          <a:xfrm>
            <a:off x="4481289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Performs an action, e.g. click, type, or scroll.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302178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Assert</a:t>
            </a:r>
          </a:p>
        </p:txBody>
      </p:sp>
      <p:sp>
        <p:nvSpPr>
          <p:cNvPr id="21" name="Text"/>
          <p:cNvSpPr/>
          <p:nvPr/>
        </p:nvSpPr>
        <p:spPr>
          <a:xfrm>
            <a:off x="8302178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Checks the view’s resulting state.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Writing an Espresso Test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11 / 20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299840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249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@Test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fun login_withValidCredentials_navigatesHome()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onView(withId(R.id.emailInput))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.perform(typeText("user@test.com"))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onView(withId(R.id.passwordInput))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.perform(typeText("password123"))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onView(withId(R.id.loginButton)).perform(click())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/>
            </a:r>
          </a:p>
        </p:txBody>
      </p:sp>
      <p:sp>
        <p:nvSpPr>
          <p:cNvPr id="9" name="Card"/>
          <p:cNvSpPr/>
          <p:nvPr/>
        </p:nvSpPr>
        <p:spPr>
          <a:xfrm>
            <a:off x="457200" y="46494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Text"/>
          <p:cNvSpPr/>
          <p:nvPr/>
        </p:nvSpPr>
        <p:spPr>
          <a:xfrm>
            <a:off x="609600" y="47510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@Test</a:t>
            </a:r>
          </a:p>
        </p:txBody>
      </p:sp>
      <p:sp>
        <p:nvSpPr>
          <p:cNvPr id="11" name="Text"/>
          <p:cNvSpPr/>
          <p:nvPr/>
        </p:nvSpPr>
        <p:spPr>
          <a:xfrm>
            <a:off x="609600" y="51066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Marks the method as a runnable test case.</a:t>
            </a:r>
          </a:p>
        </p:txBody>
      </p:sp>
      <p:sp>
        <p:nvSpPr>
          <p:cNvPr id="12" name="Card"/>
          <p:cNvSpPr/>
          <p:nvPr/>
        </p:nvSpPr>
        <p:spPr>
          <a:xfrm>
            <a:off x="4278089" y="46494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" name="Text"/>
          <p:cNvSpPr/>
          <p:nvPr/>
        </p:nvSpPr>
        <p:spPr>
          <a:xfrm>
            <a:off x="4430489" y="47510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onView</a:t>
            </a:r>
          </a:p>
        </p:txBody>
      </p:sp>
      <p:sp>
        <p:nvSpPr>
          <p:cNvPr id="14" name="Text"/>
          <p:cNvSpPr/>
          <p:nvPr/>
        </p:nvSpPr>
        <p:spPr>
          <a:xfrm>
            <a:off x="4430489" y="51066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Locates the target UI element.</a:t>
            </a:r>
          </a:p>
        </p:txBody>
      </p:sp>
      <p:sp>
        <p:nvSpPr>
          <p:cNvPr id="15" name="Card"/>
          <p:cNvSpPr/>
          <p:nvPr/>
        </p:nvSpPr>
        <p:spPr>
          <a:xfrm>
            <a:off x="8098978" y="46494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Text"/>
          <p:cNvSpPr/>
          <p:nvPr/>
        </p:nvSpPr>
        <p:spPr>
          <a:xfrm>
            <a:off x="8251378" y="47510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matches</a:t>
            </a:r>
          </a:p>
        </p:txBody>
      </p:sp>
      <p:sp>
        <p:nvSpPr>
          <p:cNvPr id="17" name="Text"/>
          <p:cNvSpPr/>
          <p:nvPr/>
        </p:nvSpPr>
        <p:spPr>
          <a:xfrm>
            <a:off x="8251378" y="51066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Confirms the expected UI state.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Emulators vs Real Devices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12 / 20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5546266" cy="279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Emulator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513986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Runs on your development machine.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Fast to create multiple configurations.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No physical hardware needed.</a:t>
            </a:r>
          </a:p>
        </p:txBody>
      </p:sp>
      <p:sp>
        <p:nvSpPr>
          <p:cNvPr id="10" name="Card"/>
          <p:cNvSpPr/>
          <p:nvPr/>
        </p:nvSpPr>
        <p:spPr>
          <a:xfrm>
            <a:off x="6188533" y="1473200"/>
            <a:ext cx="5546266" cy="279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6391733" y="1651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Real Device</a:t>
            </a:r>
          </a:p>
        </p:txBody>
      </p:sp>
      <p:sp>
        <p:nvSpPr>
          <p:cNvPr id="12" name="Text"/>
          <p:cNvSpPr/>
          <p:nvPr/>
        </p:nvSpPr>
        <p:spPr>
          <a:xfrm>
            <a:off x="6391733" y="2209800"/>
            <a:ext cx="513986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Genuine hardware and OS behavior.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Accurate performance and battery testing.</a:t>
            </a:r>
          </a:p>
        </p:txBody>
      </p:sp>
      <p:sp>
        <p:nvSpPr>
          <p:cNvPr id="13" name="Text"/>
          <p:cNvSpPr/>
          <p:nvPr/>
        </p:nvSpPr>
        <p:spPr>
          <a:xfrm>
            <a:off x="457200" y="44450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Use emulators for daily development and quick iteration; validate on a real device before release.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Android Virtual Device (AVD) Configuration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13 / 20</a:t>
            </a:r>
          </a:p>
        </p:txBody>
      </p:sp>
      <p:sp>
        <p:nvSpPr>
          <p:cNvPr id="7" name="Node"/>
          <p:cNvSpPr/>
          <p:nvPr/>
        </p:nvSpPr>
        <p:spPr>
          <a:xfrm>
            <a:off x="2794000" y="14732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2997200" y="14732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AVD Definition</a:t>
            </a:r>
          </a:p>
        </p:txBody>
      </p:sp>
      <p:sp>
        <p:nvSpPr>
          <p:cNvPr id="9" name="Arrow"/>
          <p:cNvSpPr/>
          <p:nvPr/>
        </p:nvSpPr>
        <p:spPr>
          <a:xfrm>
            <a:off x="5981700" y="21107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Node"/>
          <p:cNvSpPr/>
          <p:nvPr/>
        </p:nvSpPr>
        <p:spPr>
          <a:xfrm>
            <a:off x="2794000" y="23114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2997200" y="23114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System Image</a:t>
            </a:r>
          </a:p>
        </p:txBody>
      </p:sp>
      <p:sp>
        <p:nvSpPr>
          <p:cNvPr id="12" name="Arrow"/>
          <p:cNvSpPr/>
          <p:nvPr/>
        </p:nvSpPr>
        <p:spPr>
          <a:xfrm>
            <a:off x="5981700" y="29489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" name="Node"/>
          <p:cNvSpPr/>
          <p:nvPr/>
        </p:nvSpPr>
        <p:spPr>
          <a:xfrm>
            <a:off x="2794000" y="31496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2997200" y="31496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Virtual Hardware Profile</a:t>
            </a:r>
          </a:p>
        </p:txBody>
      </p:sp>
      <p:sp>
        <p:nvSpPr>
          <p:cNvPr id="15" name="Card"/>
          <p:cNvSpPr/>
          <p:nvPr/>
        </p:nvSpPr>
        <p:spPr>
          <a:xfrm>
            <a:off x="457200" y="4165600"/>
            <a:ext cx="3635822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Text"/>
          <p:cNvSpPr/>
          <p:nvPr/>
        </p:nvSpPr>
        <p:spPr>
          <a:xfrm>
            <a:off x="609600" y="4165600"/>
            <a:ext cx="3331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API Level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“34”</a:t>
            </a:r>
          </a:p>
        </p:txBody>
      </p:sp>
      <p:sp>
        <p:nvSpPr>
          <p:cNvPr id="17" name="Card"/>
          <p:cNvSpPr/>
          <p:nvPr/>
        </p:nvSpPr>
        <p:spPr>
          <a:xfrm>
            <a:off x="4278089" y="4165600"/>
            <a:ext cx="3635822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8" name="Text"/>
          <p:cNvSpPr/>
          <p:nvPr/>
        </p:nvSpPr>
        <p:spPr>
          <a:xfrm>
            <a:off x="4430489" y="4165600"/>
            <a:ext cx="3331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Screen Size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“6.1-inch”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4165600"/>
            <a:ext cx="3635822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251378" y="4165600"/>
            <a:ext cx="3331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RAM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“2 GB”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Reading Logcat Output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14 / 20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425824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375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class LoginActivity : AppCompatActivity() {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3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/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private fun login(email: String, password: String)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Log.d("LoginActivity", "Attempting login for $email")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/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authManager.login(email, password) { result -&gt;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if (result.isSuccess)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    Log.i("LoginActivity", "Login succeeded")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} else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    Log.e("LoginActivity", "Login failed", result.error)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}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596004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5833040"/>
            <a:ext cx="108712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 meaningful tags and the correct log level — Verbose, Debug, Info, Warn, Error — to filter Logcat output quickly.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What Is the Android Studio Debugger?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15 / 20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The debugger lets you pause app execution at a specific line, called a breakpoint.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260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1336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While paused, you can inspect variable values, the call stack, and object state.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921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7940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Step Over, Step Into, and Step Out control how execution resumes, line by line.</a:t>
            </a:r>
          </a:p>
        </p:txBody>
      </p:sp>
      <p:sp>
        <p:nvSpPr>
          <p:cNvPr id="13" name="Dot"/>
          <p:cNvSpPr/>
          <p:nvPr/>
        </p:nvSpPr>
        <p:spPr>
          <a:xfrm>
            <a:off x="482600" y="3581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838200" y="34544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Conditional breakpoints pause execution only when a specified expression is true.</a:t>
            </a:r>
          </a:p>
        </p:txBody>
      </p:sp>
      <p:sp>
        <p:nvSpPr>
          <p:cNvPr id="15" name="Text"/>
          <p:cNvSpPr/>
          <p:nvPr/>
        </p:nvSpPr>
        <p:spPr>
          <a:xfrm>
            <a:off x="457200" y="43942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The debugger works on both emulators and real devices connected via USB.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Core Debugging Tools in Android Studio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16 / 20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Logcat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Streams system and app log messages in real time.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Debugger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Pauses execution to inspect variables and call stacks.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Layout Inspector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Examines the live view hierarchy and layout properties.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Profiler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Measures CPU, memory, and network usage over time.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Typical Debugging Workflow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17 / 20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6002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6002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5621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Reproduce the bug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4384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4384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4003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Add a breakpoint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2766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2766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2385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Run in debug mode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41148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41148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40767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Hit breakpoint, pause</a:t>
            </a:r>
          </a:p>
        </p:txBody>
      </p:sp>
      <p:sp>
        <p:nvSpPr>
          <p:cNvPr id="19" name="Badge"/>
          <p:cNvSpPr/>
          <p:nvPr/>
        </p:nvSpPr>
        <p:spPr>
          <a:xfrm>
            <a:off x="6248400" y="16002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6248400" y="16002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6858000" y="15621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Inspect variables</a:t>
            </a:r>
          </a:p>
        </p:txBody>
      </p:sp>
      <p:sp>
        <p:nvSpPr>
          <p:cNvPr id="22" name="Badge"/>
          <p:cNvSpPr/>
          <p:nvPr/>
        </p:nvSpPr>
        <p:spPr>
          <a:xfrm>
            <a:off x="6248400" y="24384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6248400" y="24384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6858000" y="24003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Form a hypothesis</a:t>
            </a:r>
          </a:p>
        </p:txBody>
      </p:sp>
      <p:sp>
        <p:nvSpPr>
          <p:cNvPr id="25" name="Badge"/>
          <p:cNvSpPr/>
          <p:nvPr/>
        </p:nvSpPr>
        <p:spPr>
          <a:xfrm>
            <a:off x="6248400" y="32766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BadgeTxt"/>
          <p:cNvSpPr/>
          <p:nvPr/>
        </p:nvSpPr>
        <p:spPr>
          <a:xfrm>
            <a:off x="6248400" y="32766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07</a:t>
            </a:r>
          </a:p>
        </p:txBody>
      </p:sp>
      <p:sp>
        <p:nvSpPr>
          <p:cNvPr id="27" name="Text"/>
          <p:cNvSpPr/>
          <p:nvPr/>
        </p:nvSpPr>
        <p:spPr>
          <a:xfrm>
            <a:off x="6858000" y="32385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Apply a fix</a:t>
            </a:r>
          </a:p>
        </p:txBody>
      </p:sp>
      <p:sp>
        <p:nvSpPr>
          <p:cNvPr id="28" name="Badge"/>
          <p:cNvSpPr/>
          <p:nvPr/>
        </p:nvSpPr>
        <p:spPr>
          <a:xfrm>
            <a:off x="6248400" y="41148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BadgeTxt"/>
          <p:cNvSpPr/>
          <p:nvPr/>
        </p:nvSpPr>
        <p:spPr>
          <a:xfrm>
            <a:off x="6248400" y="41148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08</a:t>
            </a:r>
          </a:p>
        </p:txBody>
      </p:sp>
      <p:sp>
        <p:nvSpPr>
          <p:cNvPr id="30" name="Text"/>
          <p:cNvSpPr/>
          <p:nvPr/>
        </p:nvSpPr>
        <p:spPr>
          <a:xfrm>
            <a:off x="6858000" y="40767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Re-run tests to confirm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Key Takeaways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18 / 20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351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Testing and debugging build confidence that an app behaves correctly before release.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501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501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4257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Unit tests (JUnit, Mockito) check logic quickly, in isolation, on the JVM.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492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492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4163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UI tests (Espresso) verify the real user experience on an emulator or device.</a:t>
            </a:r>
          </a:p>
        </p:txBody>
      </p:sp>
      <p:sp>
        <p:nvSpPr>
          <p:cNvPr id="16" name="Badge"/>
          <p:cNvSpPr/>
          <p:nvPr/>
        </p:nvSpPr>
        <p:spPr>
          <a:xfrm>
            <a:off x="62484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62484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6858000" y="14351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Emulators support fast iteration; real devices confirm true behavior before release.</a:t>
            </a:r>
          </a:p>
        </p:txBody>
      </p:sp>
      <p:sp>
        <p:nvSpPr>
          <p:cNvPr id="19" name="Badge"/>
          <p:cNvSpPr/>
          <p:nvPr/>
        </p:nvSpPr>
        <p:spPr>
          <a:xfrm>
            <a:off x="6248400" y="2501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6248400" y="2501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6858000" y="24257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Logcat, Debugger, Layout Inspector, and Profiler each answer a different question.</a:t>
            </a:r>
          </a:p>
        </p:txBody>
      </p:sp>
      <p:sp>
        <p:nvSpPr>
          <p:cNvPr id="22" name="Badge"/>
          <p:cNvSpPr/>
          <p:nvPr/>
        </p:nvSpPr>
        <p:spPr>
          <a:xfrm>
            <a:off x="6248400" y="3492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6248400" y="3492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6858000" y="34163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Debugging is a loop: reproduce, inspect, fix, then re-test.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TESTING &amp; DEBUGGING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Discussion / Quick Check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19 / 20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4732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4732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351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What is the difference between a unit test and a UI test?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16408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16408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12598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Why do unit tests run faster than UI tests?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285496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285496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281686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What role does Mockito play in a unit test?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354584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354584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350774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What are the three parts of an Espresso test (onView, perform, check)?</a:t>
            </a:r>
          </a:p>
        </p:txBody>
      </p:sp>
      <p:sp>
        <p:nvSpPr>
          <p:cNvPr id="19" name="Badge"/>
          <p:cNvSpPr/>
          <p:nvPr/>
        </p:nvSpPr>
        <p:spPr>
          <a:xfrm>
            <a:off x="457200" y="423672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457200" y="423672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1066800" y="419862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Give one reason to test on a real device instead of only an emulator.</a:t>
            </a:r>
          </a:p>
        </p:txBody>
      </p:sp>
      <p:sp>
        <p:nvSpPr>
          <p:cNvPr id="22" name="Badge"/>
          <p:cNvSpPr/>
          <p:nvPr/>
        </p:nvSpPr>
        <p:spPr>
          <a:xfrm>
            <a:off x="457200" y="49276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457200" y="49276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1066800" y="48895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Name two tools you would use to diagnose a slow screen.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7548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7889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Thank You</a:t>
            </a:r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DE3"/>
                </a:solidFill>
                <a:latin typeface="Calibri" pitchFamily="34" charset="0"/>
                <a:cs typeface="Calibri" pitchFamily="34" charset="0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8ebace-4356-4858-9b58-046c0f41da08}">
  <we:reference id="WA200010001" version="1.0.0.1" store="en-US" storeType="OMEX"/>
  <we:alternateReferences/>
  <we:properties>
    <we:property name="Microsoft.Office.CampaignId" value="&quot;none&quot;"/>
    <we:property name="claude.fileId" value="&quot;3aa80a3d-1a60-4a43-be77-541cb19c491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2810</Words>
  <Application>Microsoft Office PowerPoint</Application>
  <PresentationFormat>Widescreen</PresentationFormat>
  <Paragraphs>439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Kaveesha Sammani</cp:lastModifiedBy>
  <cp:revision>7</cp:revision>
  <dcterms:created xsi:type="dcterms:W3CDTF">2018-06-07T21:39:02Z</dcterms:created>
  <dcterms:modified xsi:type="dcterms:W3CDTF">2026-08-18T05:32:10Z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